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drawings/drawing1.xml" ContentType="application/vnd.openxmlformats-officedocument.drawingml.chartshapes+xml"/>
  <Override PartName="/ppt/fonts/font1.fntdata" ContentType="application/x-fontdata"/>
  <Override PartName="/ppt/fonts/font2.fntdata" ContentType="application/x-fontdata"/>
  <Override PartName="/ppt/media/image11.svg" ContentType="image/svg+xml"/>
  <Override PartName="/ppt/media/image18.svg" ContentType="image/svg+xml"/>
  <Override PartName="/ppt/media/image20.svg" ContentType="image/svg+xml"/>
  <Override PartName="/ppt/media/image22.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5"/>
  </p:notesMasterIdLst>
  <p:sldIdLst>
    <p:sldId id="256" r:id="rId3"/>
    <p:sldId id="260" r:id="rId4"/>
    <p:sldId id="261" r:id="rId5"/>
    <p:sldId id="272" r:id="rId6"/>
    <p:sldId id="266" r:id="rId7"/>
    <p:sldId id="16671262" r:id="rId8"/>
    <p:sldId id="16671266" r:id="rId9"/>
    <p:sldId id="16671269" r:id="rId10"/>
    <p:sldId id="16671267" r:id="rId11"/>
    <p:sldId id="16671271" r:id="rId12"/>
    <p:sldId id="16671268" r:id="rId13"/>
    <p:sldId id="16671270" r:id="rId14"/>
    <p:sldId id="530" r:id="rId15"/>
    <p:sldId id="533" r:id="rId16"/>
    <p:sldId id="325" r:id="rId17"/>
    <p:sldId id="326" r:id="rId18"/>
    <p:sldId id="536" r:id="rId19"/>
    <p:sldId id="537" r:id="rId20"/>
    <p:sldId id="538" r:id="rId21"/>
    <p:sldId id="539" r:id="rId22"/>
    <p:sldId id="16671283" r:id="rId23"/>
    <p:sldId id="268" r:id="rId24"/>
    <p:sldId id="317" r:id="rId25"/>
    <p:sldId id="16671284" r:id="rId26"/>
    <p:sldId id="323" r:id="rId27"/>
    <p:sldId id="331" r:id="rId28"/>
    <p:sldId id="16671281" r:id="rId29"/>
    <p:sldId id="16671282" r:id="rId30"/>
    <p:sldId id="16671286" r:id="rId31"/>
    <p:sldId id="330" r:id="rId32"/>
    <p:sldId id="16671279" r:id="rId33"/>
    <p:sldId id="16671285" r:id="rId34"/>
  </p:sldIdLst>
  <p:sldSz cx="12192000" cy="6858000"/>
  <p:notesSz cx="6858000" cy="9144000"/>
  <p:embeddedFontLst>
    <p:embeddedFont>
      <p:font typeface="微软雅黑" charset="-122"/>
      <p:regular r:id="rId39"/>
    </p:embeddedFont>
    <p:embeddedFont>
      <p:font typeface="DIN Alternate" panose="020B0500000000000000" charset="0"/>
      <p:regular r:id="rId40"/>
    </p:embeddedFont>
  </p:embeddedFontLst>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3861C29A-B643-4481-B9A2-8E9EBC7AAF3C}">
          <p14:sldIdLst>
            <p14:sldId id="256"/>
          </p14:sldIdLst>
        </p14:section>
        <p14:section name="目录" id="{0DB58C8E-4F86-4200-B998-FDC4B82BD510}">
          <p14:sldIdLst>
            <p14:sldId id="260"/>
          </p14:sldIdLst>
        </p14:section>
        <p14:section name="内容" id="{9FA195C4-6082-4269-A11F-DBB5C77A19E8}">
          <p14:sldIdLst>
            <p14:sldId id="261"/>
            <p14:sldId id="272"/>
            <p14:sldId id="266"/>
            <p14:sldId id="16671262"/>
            <p14:sldId id="16671266"/>
            <p14:sldId id="16671269"/>
            <p14:sldId id="16671267"/>
            <p14:sldId id="16671271"/>
            <p14:sldId id="16671268"/>
            <p14:sldId id="16671270"/>
            <p14:sldId id="530"/>
            <p14:sldId id="533"/>
            <p14:sldId id="325"/>
            <p14:sldId id="326"/>
            <p14:sldId id="536"/>
            <p14:sldId id="537"/>
            <p14:sldId id="538"/>
            <p14:sldId id="539"/>
            <p14:sldId id="16671283"/>
            <p14:sldId id="268"/>
            <p14:sldId id="317"/>
            <p14:sldId id="16671284"/>
            <p14:sldId id="323"/>
            <p14:sldId id="331"/>
            <p14:sldId id="16671281"/>
            <p14:sldId id="16671282"/>
            <p14:sldId id="16671286"/>
            <p14:sldId id="330"/>
            <p14:sldId id="16671279"/>
            <p14:sldId id="16671285"/>
          </p14:sldIdLst>
        </p14:section>
      </p14:sectionLst>
    </p:ext>
    <p:ext uri="{EFAFB233-063F-42B5-8137-9DF3F51BA10A}">
      <p15:sldGuideLst xmlns:p15="http://schemas.microsoft.com/office/powerpoint/2012/main">
        <p15:guide id="1" orient="horz" pos="2115" userDrawn="1">
          <p15:clr>
            <a:srgbClr val="A4A3A4"/>
          </p15:clr>
        </p15:guide>
        <p15:guide id="2" pos="3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EEE1"/>
    <a:srgbClr val="F6884B"/>
    <a:srgbClr val="FD8F41"/>
    <a:srgbClr val="FB8543"/>
    <a:srgbClr val="FD4444"/>
    <a:srgbClr val="F77945"/>
    <a:srgbClr val="F2694A"/>
    <a:srgbClr val="F2684A"/>
    <a:srgbClr val="FEFEFE"/>
    <a:srgbClr val="FE91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49" autoAdjust="0"/>
    <p:restoredTop sz="94660"/>
  </p:normalViewPr>
  <p:slideViewPr>
    <p:cSldViewPr snapToGrid="0" showGuides="1">
      <p:cViewPr varScale="1">
        <p:scale>
          <a:sx n="89" d="100"/>
          <a:sy n="89" d="100"/>
        </p:scale>
        <p:origin x="200" y="552"/>
      </p:cViewPr>
      <p:guideLst>
        <p:guide orient="horz" pos="2115"/>
        <p:guide pos="34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gs" Target="tags/tag131.xml"/><Relationship Id="rId40" Type="http://schemas.openxmlformats.org/officeDocument/2006/relationships/font" Target="fonts/font2.fntdata"/><Relationship Id="rId4" Type="http://schemas.openxmlformats.org/officeDocument/2006/relationships/slide" Target="slides/slide2.xml"/><Relationship Id="rId39" Type="http://schemas.openxmlformats.org/officeDocument/2006/relationships/font" Target="fonts/font1.fntdata"/><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1.xlsx"/></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chartUserShapes" Target="../drawings/drawing1.xml"/><Relationship Id="rId1" Type="http://schemas.openxmlformats.org/officeDocument/2006/relationships/package" Target="../embeddings/Workbook2.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52209098597134"/>
          <c:y val="0.0320769181071369"/>
          <c:w val="0.884946230316542"/>
          <c:h val="0.779549207843694"/>
        </c:manualLayout>
      </c:layout>
      <c:barChart>
        <c:barDir val="col"/>
        <c:grouping val="clustered"/>
        <c:varyColors val="0"/>
        <c:ser>
          <c:idx val="0"/>
          <c:order val="0"/>
          <c:tx>
            <c:strRef>
              <c:f>Sheet1!$B$1</c:f>
              <c:strCache>
                <c:ptCount val="1"/>
                <c:pt idx="0">
                  <c:v>月度产值</c:v>
                </c:pt>
              </c:strCache>
            </c:strRef>
          </c:tx>
          <c:spPr>
            <a:gradFill rotWithShape="1">
              <a:gsLst>
                <a:gs pos="69000">
                  <a:srgbClr val="F77945">
                    <a:alpha val="97000"/>
                  </a:srgbClr>
                </a:gs>
                <a:gs pos="33000">
                  <a:srgbClr val="F2694A"/>
                </a:gs>
                <a:gs pos="0">
                  <a:srgbClr val="FD4444">
                    <a:alpha val="95000"/>
                  </a:srgbClr>
                </a:gs>
                <a:gs pos="100000">
                  <a:srgbClr val="FD8F41">
                    <a:alpha val="1946"/>
                  </a:srgbClr>
                </a:gs>
              </a:gsLst>
              <a:lin ang="16200000" scaled="0"/>
            </a:gradFill>
            <a:ln>
              <a:noFill/>
            </a:ln>
            <a:effectLst/>
          </c:spPr>
          <c:invertIfNegative val="0"/>
          <c:dLbls>
            <c:dLbl>
              <c:idx val="8"/>
              <c:layout/>
              <c:tx>
                <c:rich>
                  <a:bodyPr rot="0" spcFirstLastPara="1" vertOverflow="ellipsis" vert="horz" wrap="square" lIns="38100" tIns="19050" rIns="38100" bIns="19050" anchor="ctr" anchorCtr="1"/>
                  <a:lstStyle/>
                  <a:p>
                    <a:pPr>
                      <a:defRPr lang="zh-CN" sz="1195" b="0" i="0" u="none" strike="noStrike" kern="1200" baseline="0">
                        <a:solidFill>
                          <a:schemeClr val="tx2"/>
                        </a:solidFill>
                        <a:latin typeface="+mn-lt"/>
                        <a:ea typeface="+mn-ea"/>
                        <a:cs typeface="+mn-cs"/>
                      </a:defRPr>
                    </a:pPr>
                    <a:r>
                      <a:rPr lang="en-US" altLang="zh-CN"/>
                      <a:t>983187</a:t>
                    </a:r>
                    <a:endParaRPr lang="en-US" altLang="zh-CN" dirty="0"/>
                  </a:p>
                </c:rich>
              </c:tx>
              <c:dLblPos val="ctr"/>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2"/>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2">
                          <a:lumMod val="35000"/>
                          <a:lumOff val="65000"/>
                        </a:schemeClr>
                      </a:solidFill>
                    </a:ln>
                    <a:effectLst/>
                  </c:spPr>
                </c15:leaderLines>
              </c:ext>
            </c:extLst>
          </c:dLbls>
          <c:cat>
            <c:numRef>
              <c:f>Sheet1!$A$2:$A$10</c:f>
              <c:numCache>
                <c:formatCode>yy"年"m"月"</c:formatCode>
                <c:ptCount val="9"/>
                <c:pt idx="0" c:formatCode="yy&quot;年&quot;m&quot;月&quot;">
                  <c:v>45839</c:v>
                </c:pt>
                <c:pt idx="1" c:formatCode="yy&quot;年&quot;m&quot;月&quot;">
                  <c:v>45870</c:v>
                </c:pt>
                <c:pt idx="2" c:formatCode="yy&quot;年&quot;m&quot;月&quot;">
                  <c:v>45901</c:v>
                </c:pt>
                <c:pt idx="3" c:formatCode="yy&quot;年&quot;m&quot;月&quot;">
                  <c:v>45931</c:v>
                </c:pt>
                <c:pt idx="4" c:formatCode="yy&quot;年&quot;m&quot;月&quot;">
                  <c:v>45962</c:v>
                </c:pt>
                <c:pt idx="5" c:formatCode="yy&quot;年&quot;m&quot;月&quot;">
                  <c:v>45992</c:v>
                </c:pt>
                <c:pt idx="6" c:formatCode="yy&quot;年&quot;m&quot;月&quot;">
                  <c:v>46023</c:v>
                </c:pt>
                <c:pt idx="7" c:formatCode="yy&quot;年&quot;m&quot;月&quot;">
                  <c:v>46054</c:v>
                </c:pt>
                <c:pt idx="8" c:formatCode="yy&quot;年&quot;m&quot;月&quot;">
                  <c:v>46082</c:v>
                </c:pt>
              </c:numCache>
            </c:numRef>
          </c:cat>
          <c:val>
            <c:numRef>
              <c:f>Sheet1!$B$2:$B$10</c:f>
              <c:numCache>
                <c:formatCode>General</c:formatCode>
                <c:ptCount val="9"/>
                <c:pt idx="0">
                  <c:v>360695</c:v>
                </c:pt>
                <c:pt idx="1">
                  <c:v>817355</c:v>
                </c:pt>
                <c:pt idx="2">
                  <c:v>750469</c:v>
                </c:pt>
                <c:pt idx="3">
                  <c:v>742690.1</c:v>
                </c:pt>
                <c:pt idx="4">
                  <c:v>932513.3</c:v>
                </c:pt>
                <c:pt idx="5">
                  <c:v>610469.91</c:v>
                </c:pt>
                <c:pt idx="6">
                  <c:v>801480.9</c:v>
                </c:pt>
                <c:pt idx="7">
                  <c:v>526163</c:v>
                </c:pt>
                <c:pt idx="8">
                  <c:v>1009629</c:v>
                </c:pt>
              </c:numCache>
            </c:numRef>
          </c:val>
        </c:ser>
        <c:dLbls>
          <c:showLegendKey val="0"/>
          <c:showVal val="1"/>
          <c:showCatName val="0"/>
          <c:showSerName val="0"/>
          <c:showPercent val="0"/>
          <c:showBubbleSize val="0"/>
        </c:dLbls>
        <c:gapWidth val="247"/>
        <c:axId val="1168306880"/>
        <c:axId val="1168294336"/>
      </c:barChart>
      <c:lineChart>
        <c:grouping val="standard"/>
        <c:varyColors val="0"/>
        <c:ser>
          <c:idx val="1"/>
          <c:order val="1"/>
          <c:tx>
            <c:strRef>
              <c:f>Sheet1!$C$1</c:f>
              <c:strCache>
                <c:ptCount val="1"/>
                <c:pt idx="0">
                  <c:v>目标完成率</c:v>
                </c:pt>
              </c:strCache>
            </c:strRef>
          </c:tx>
          <c:spPr>
            <a:ln w="31750" cap="rnd">
              <a:solidFill>
                <a:schemeClr val="accent2"/>
              </a:solidFill>
              <a:round/>
            </a:ln>
            <a:effectLst/>
          </c:spPr>
          <c:marker>
            <c:symbol val="none"/>
          </c:marker>
          <c:dLbls>
            <c:delete val="1"/>
          </c:dLbls>
          <c:cat>
            <c:numRef>
              <c:f>Sheet1!$A$2:$A$10</c:f>
              <c:numCache>
                <c:formatCode>yy"年"m"月"</c:formatCode>
                <c:ptCount val="9"/>
                <c:pt idx="0" c:formatCode="yy&quot;年&quot;m&quot;月&quot;">
                  <c:v>45839</c:v>
                </c:pt>
                <c:pt idx="1" c:formatCode="yy&quot;年&quot;m&quot;月&quot;">
                  <c:v>45870</c:v>
                </c:pt>
                <c:pt idx="2" c:formatCode="yy&quot;年&quot;m&quot;月&quot;">
                  <c:v>45901</c:v>
                </c:pt>
                <c:pt idx="3" c:formatCode="yy&quot;年&quot;m&quot;月&quot;">
                  <c:v>45931</c:v>
                </c:pt>
                <c:pt idx="4" c:formatCode="yy&quot;年&quot;m&quot;月&quot;">
                  <c:v>45962</c:v>
                </c:pt>
                <c:pt idx="5" c:formatCode="yy&quot;年&quot;m&quot;月&quot;">
                  <c:v>45992</c:v>
                </c:pt>
                <c:pt idx="6" c:formatCode="yy&quot;年&quot;m&quot;月&quot;">
                  <c:v>46023</c:v>
                </c:pt>
                <c:pt idx="7" c:formatCode="yy&quot;年&quot;m&quot;月&quot;">
                  <c:v>46054</c:v>
                </c:pt>
                <c:pt idx="8" c:formatCode="yy&quot;年&quot;m&quot;月&quot;">
                  <c:v>46082</c:v>
                </c:pt>
              </c:numCache>
            </c:numRef>
          </c:cat>
          <c:val>
            <c:numRef>
              <c:f>Sheet1!$C$2:$C$10</c:f>
              <c:numCache>
                <c:formatCode>General</c:formatCode>
                <c:ptCount val="9"/>
                <c:pt idx="4" c:formatCode="0.00%">
                  <c:v>1.397</c:v>
                </c:pt>
                <c:pt idx="5" c:formatCode="0.00%">
                  <c:v>0.7716</c:v>
                </c:pt>
                <c:pt idx="6" c:formatCode="0.00%">
                  <c:v>1.3706</c:v>
                </c:pt>
                <c:pt idx="7" c:formatCode="0.00%">
                  <c:v>0.954</c:v>
                </c:pt>
                <c:pt idx="8" c:formatCode="0.00%">
                  <c:v>1.4524</c:v>
                </c:pt>
              </c:numCache>
            </c:numRef>
          </c:val>
          <c:smooth val="0"/>
        </c:ser>
        <c:dLbls>
          <c:showLegendKey val="0"/>
          <c:showVal val="0"/>
          <c:showCatName val="0"/>
          <c:showSerName val="0"/>
          <c:showPercent val="0"/>
          <c:showBubbleSize val="0"/>
        </c:dLbls>
        <c:marker val="0"/>
        <c:smooth val="0"/>
        <c:axId val="991506688"/>
        <c:axId val="1287847936"/>
      </c:lineChart>
      <c:dateAx>
        <c:axId val="1168306880"/>
        <c:scaling>
          <c:orientation val="minMax"/>
        </c:scaling>
        <c:delete val="0"/>
        <c:axPos val="b"/>
        <c:numFmt formatCode="yy&quot;年&quot;m&quot;月&quot;"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crossAx val="1168294336"/>
        <c:crosses val="autoZero"/>
        <c:auto val="1"/>
        <c:lblOffset val="100"/>
        <c:baseTimeUnit val="months"/>
      </c:dateAx>
      <c:valAx>
        <c:axId val="1168294336"/>
        <c:scaling>
          <c:orientation val="minMax"/>
          <c:max val="1100000"/>
          <c:min val="300000"/>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crossAx val="1168306880"/>
        <c:crosses val="autoZero"/>
        <c:crossBetween val="midCat"/>
        <c:majorUnit val="200000"/>
      </c:valAx>
      <c:dateAx>
        <c:axId val="991506688"/>
        <c:scaling>
          <c:orientation val="minMax"/>
        </c:scaling>
        <c:delete val="1"/>
        <c:axPos val="b"/>
        <c:numFmt formatCode="yy&quot;年&quot;m&quot;月&quot;"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2"/>
                </a:solidFill>
                <a:latin typeface="+mn-lt"/>
                <a:ea typeface="+mn-ea"/>
                <a:cs typeface="+mn-cs"/>
              </a:defRPr>
            </a:pPr>
          </a:p>
        </c:txPr>
        <c:crossAx val="1287847936"/>
        <c:crosses val="autoZero"/>
        <c:auto val="1"/>
        <c:lblOffset val="100"/>
        <c:baseTimeUnit val="months"/>
      </c:dateAx>
      <c:valAx>
        <c:axId val="1287847936"/>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2"/>
                </a:solidFill>
                <a:latin typeface="+mn-lt"/>
                <a:ea typeface="+mn-ea"/>
                <a:cs typeface="+mn-cs"/>
              </a:defRPr>
            </a:pPr>
          </a:p>
        </c:txPr>
        <c:crossAx val="991506688"/>
        <c:crosses val="max"/>
        <c:crossBetween val="between"/>
      </c:valAx>
      <c:spPr>
        <a:noFill/>
        <a:ln>
          <a:noFill/>
        </a:ln>
        <a:effectLst/>
      </c:spPr>
    </c:plotArea>
    <c:plotVisOnly val="1"/>
    <c:dispBlanksAs val="gap"/>
    <c:showDLblsOverMax val="0"/>
    <c:extLst>
      <c:ext uri="{0b15fc19-7d7d-44ad-8c2d-2c3a37ce22c3}">
        <chartProps xmlns="https://web.wps.cn/et/2018/main" chartId="{3e5af263-d28a-4efb-a1db-f7abd222ed6d}"/>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0390398572350334"/>
          <c:y val="0"/>
          <c:w val="0.971370771360975"/>
          <c:h val="0.867687121765141"/>
        </c:manualLayout>
      </c:layout>
      <c:lineChart>
        <c:grouping val="standard"/>
        <c:varyColors val="0"/>
        <c:ser>
          <c:idx val="0"/>
          <c:order val="0"/>
          <c:tx>
            <c:strRef>
              <c:f>Sheet1!$B$1</c:f>
              <c:strCache>
                <c:ptCount val="1"/>
                <c:pt idx="0">
                  <c:v>留存率</c:v>
                </c:pt>
              </c:strCache>
            </c:strRef>
          </c:tx>
          <c:spPr>
            <a:ln w="69850" cap="rnd">
              <a:solidFill>
                <a:schemeClr val="accent1"/>
              </a:solidFill>
              <a:round/>
              <a:headEnd type="oval"/>
              <a:tailEnd type="oval"/>
            </a:ln>
            <a:effectLst/>
          </c:spPr>
          <c:marker>
            <c:symbol val="circle"/>
            <c:size val="5"/>
            <c:spPr>
              <a:solidFill>
                <a:schemeClr val="accent1"/>
              </a:solidFill>
              <a:ln w="9525">
                <a:solidFill>
                  <a:schemeClr val="accent1"/>
                </a:solidFill>
              </a:ln>
              <a:effectLst/>
            </c:spPr>
          </c:marker>
          <c:dLbls>
            <c:delete val="1"/>
          </c:dLbls>
          <c:cat>
            <c:strRef>
              <c:f>Sheet1!$A$2:$A$7</c:f>
              <c:strCache>
                <c:ptCount val="6"/>
                <c:pt idx="0">
                  <c:v>10月</c:v>
                </c:pt>
                <c:pt idx="1">
                  <c:v>11月</c:v>
                </c:pt>
                <c:pt idx="2">
                  <c:v>12月</c:v>
                </c:pt>
                <c:pt idx="3">
                  <c:v>1月</c:v>
                </c:pt>
                <c:pt idx="4">
                  <c:v>2月</c:v>
                </c:pt>
                <c:pt idx="5">
                  <c:v>3月</c:v>
                </c:pt>
              </c:strCache>
            </c:strRef>
          </c:cat>
          <c:val>
            <c:numRef>
              <c:f>Sheet1!$B$2:$B$7</c:f>
              <c:numCache>
                <c:formatCode>0.00%</c:formatCode>
                <c:ptCount val="6"/>
                <c:pt idx="0">
                  <c:v>0.8852</c:v>
                </c:pt>
                <c:pt idx="1">
                  <c:v>0.8926</c:v>
                </c:pt>
                <c:pt idx="2">
                  <c:v>0.8928</c:v>
                </c:pt>
                <c:pt idx="3">
                  <c:v>0.8971</c:v>
                </c:pt>
                <c:pt idx="4">
                  <c:v>0.9173</c:v>
                </c:pt>
                <c:pt idx="5">
                  <c:v>0.9192</c:v>
                </c:pt>
              </c:numCache>
            </c:numRef>
          </c:val>
          <c:smooth val="0"/>
        </c:ser>
        <c:dLbls>
          <c:showLegendKey val="0"/>
          <c:showVal val="0"/>
          <c:showCatName val="0"/>
          <c:showSerName val="0"/>
          <c:showPercent val="0"/>
          <c:showBubbleSize val="0"/>
        </c:dLbls>
        <c:marker val="1"/>
        <c:smooth val="0"/>
        <c:axId val="1166359424"/>
        <c:axId val="1166347328"/>
      </c:lineChart>
      <c:catAx>
        <c:axId val="116635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SimHei" pitchFamily="49" charset="-122"/>
                <a:ea typeface="SimHei" pitchFamily="49" charset="-122"/>
                <a:cs typeface="+mn-cs"/>
              </a:defRPr>
            </a:pPr>
          </a:p>
        </c:txPr>
        <c:crossAx val="1166347328"/>
        <c:crosses val="autoZero"/>
        <c:auto val="1"/>
        <c:lblAlgn val="ctr"/>
        <c:lblOffset val="100"/>
        <c:noMultiLvlLbl val="0"/>
      </c:catAx>
      <c:valAx>
        <c:axId val="1166347328"/>
        <c:scaling>
          <c:orientation val="minMax"/>
        </c:scaling>
        <c:delete val="1"/>
        <c:axPos val="l"/>
        <c:numFmt formatCode="0.00%"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1166359424"/>
        <c:crosses val="autoZero"/>
        <c:crossBetween val="between"/>
      </c:valAx>
      <c:spPr>
        <a:noFill/>
        <a:ln>
          <a:noFill/>
        </a:ln>
        <a:effectLst/>
      </c:spPr>
    </c:plotArea>
    <c:plotVisOnly val="1"/>
    <c:dispBlanksAs val="gap"/>
    <c:showDLblsOverMax val="0"/>
    <c:extLst>
      <c:ext uri="{0b15fc19-7d7d-44ad-8c2d-2c3a37ce22c3}">
        <chartProps xmlns="https://web.wps.cn/et/2018/main" chartId="{f682a1f1-dbf4-4c7a-837d-72ed583a8f78}"/>
      </c:ext>
    </c:extLst>
  </c:chart>
  <c:spPr>
    <a:noFill/>
    <a:ln w="41275">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私域day7LTV</c:v>
                </c:pt>
              </c:strCache>
            </c:strRef>
          </c:tx>
          <c:spPr>
            <a:ln w="57150" cap="rnd">
              <a:solidFill>
                <a:schemeClr val="accent1"/>
              </a:solidFill>
              <a:round/>
              <a:headEnd type="oval" w="med" len="med"/>
              <a:tailEnd type="oval" w="med" len="med"/>
            </a:ln>
            <a:effectLst/>
          </c:spPr>
          <c:marker>
            <c:symbol val="circle"/>
            <c:size val="5"/>
            <c:spPr>
              <a:solidFill>
                <a:schemeClr val="accent1"/>
              </a:solidFill>
              <a:ln w="57150">
                <a:solidFill>
                  <a:schemeClr val="accent1"/>
                </a:solidFill>
                <a:headEnd type="oval" w="med" len="med"/>
                <a:tailEnd type="oval" w="med" len="med"/>
              </a:ln>
              <a:effectLst/>
            </c:spPr>
          </c:marker>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10月</c:v>
                </c:pt>
                <c:pt idx="1">
                  <c:v>11月</c:v>
                </c:pt>
                <c:pt idx="2">
                  <c:v>12月</c:v>
                </c:pt>
                <c:pt idx="3">
                  <c:v>1月</c:v>
                </c:pt>
                <c:pt idx="4">
                  <c:v>2月</c:v>
                </c:pt>
                <c:pt idx="5">
                  <c:v>3月</c:v>
                </c:pt>
              </c:strCache>
            </c:strRef>
          </c:cat>
          <c:val>
            <c:numRef>
              <c:f>Sheet1!$B$2:$B$7</c:f>
              <c:numCache>
                <c:formatCode>0.0</c:formatCode>
                <c:ptCount val="6"/>
                <c:pt idx="0">
                  <c:v>40</c:v>
                </c:pt>
                <c:pt idx="1">
                  <c:v>37.4</c:v>
                </c:pt>
                <c:pt idx="2">
                  <c:v>30</c:v>
                </c:pt>
                <c:pt idx="3">
                  <c:v>32.8</c:v>
                </c:pt>
                <c:pt idx="4">
                  <c:v>33</c:v>
                </c:pt>
                <c:pt idx="5">
                  <c:v>40.7</c:v>
                </c:pt>
              </c:numCache>
            </c:numRef>
          </c:val>
          <c:smooth val="0"/>
        </c:ser>
        <c:dLbls>
          <c:showLegendKey val="0"/>
          <c:showVal val="0"/>
          <c:showCatName val="0"/>
          <c:showSerName val="0"/>
          <c:showPercent val="0"/>
          <c:showBubbleSize val="0"/>
        </c:dLbls>
        <c:marker val="1"/>
        <c:smooth val="0"/>
        <c:axId val="890689664"/>
        <c:axId val="890693248"/>
      </c:lineChart>
      <c:catAx>
        <c:axId val="89068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90693248"/>
        <c:crosses val="autoZero"/>
        <c:auto val="1"/>
        <c:lblAlgn val="ctr"/>
        <c:lblOffset val="100"/>
        <c:noMultiLvlLbl val="0"/>
      </c:catAx>
      <c:valAx>
        <c:axId val="890693248"/>
        <c:scaling>
          <c:orientation val="minMax"/>
          <c:min val="20"/>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890689664"/>
        <c:crosses val="autoZero"/>
        <c:crossBetween val="between"/>
      </c:valAx>
      <c:spPr>
        <a:noFill/>
        <a:ln>
          <a:noFill/>
        </a:ln>
        <a:effectLst/>
      </c:spPr>
    </c:plotArea>
    <c:plotVisOnly val="1"/>
    <c:dispBlanksAs val="gap"/>
    <c:showDLblsOverMax val="0"/>
    <c:extLst>
      <c:ext uri="{0b15fc19-7d7d-44ad-8c2d-2c3a37ce22c3}">
        <chartProps xmlns="https://web.wps.cn/et/2018/main" chartId="{bd6ee4b8-2cbe-45c8-bf2c-7521b86ff2fb}"/>
      </c:ext>
    </c:extLst>
  </c:chart>
  <c:spPr>
    <a:noFill/>
    <a:ln>
      <a:noFill/>
    </a:ln>
    <a:effectLst/>
  </c:spPr>
  <c:txPr>
    <a:bodyPr/>
    <a:lstStyle/>
    <a:p>
      <a:pPr>
        <a:defRPr lang="zh-CN"/>
      </a:pPr>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ubbleChart>
        <c:varyColors val="0"/>
        <c:dLbls>
          <c:showLegendKey val="0"/>
          <c:showVal val="0"/>
          <c:showCatName val="0"/>
          <c:showSerName val="0"/>
          <c:showPercent val="0"/>
          <c:showBubbleSize val="0"/>
        </c:dLbls>
        <c:bubbleScale val="100"/>
        <c:showNegBubbles val="0"/>
        <c:sizeRepresents val="area"/>
        <c:axId val="1480400544"/>
        <c:axId val="1480401504"/>
      </c:bubbleChart>
      <c:valAx>
        <c:axId val="1480400544"/>
        <c:scaling>
          <c:orientation val="minMax"/>
          <c:min val="0"/>
        </c:scaling>
        <c:delete val="1"/>
        <c:axPos val="b"/>
        <c:majorGridlines>
          <c:spPr>
            <a:ln w="9525" cap="flat" cmpd="sng" algn="ctr">
              <a:no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1480401504"/>
        <c:crosses val="autoZero"/>
        <c:crossBetween val="midCat"/>
        <c:majorUnit val="1.2"/>
      </c:valAx>
      <c:valAx>
        <c:axId val="1480401504"/>
        <c:scaling>
          <c:orientation val="minMax"/>
          <c:min val="0"/>
        </c:scaling>
        <c:delete val="1"/>
        <c:axPos val="l"/>
        <c:numFmt formatCode="0.00"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1480400544"/>
        <c:crosses val="autoZero"/>
        <c:crossBetween val="midCat"/>
        <c:majorUnit val="0.5"/>
      </c:valAx>
      <c:spPr>
        <a:noFill/>
        <a:ln>
          <a:noFill/>
        </a:ln>
        <a:effectLst/>
      </c:spPr>
    </c:plotArea>
    <c:plotVisOnly val="1"/>
    <c:dispBlanksAs val="gap"/>
    <c:showDLblsOverMax val="0"/>
    <c:extLst>
      <c:ext uri="{0b15fc19-7d7d-44ad-8c2d-2c3a37ce22c3}">
        <chartProps xmlns="https://web.wps.cn/et/2018/main" chartId="{f04bf1bb-3c88-4122-bc84-0c98b96ade2e}"/>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6">
  <cs:axisTitle>
    <cs:lnRef idx="0"/>
    <cs:fillRef idx="0"/>
    <cs:effectRef idx="0"/>
    <cs:fontRef idx="minor">
      <a:schemeClr val="tx2"/>
    </cs:fontRef>
    <cs:defRPr sz="1195"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5"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5" kern="1200"/>
  </cs:chartArea>
  <cs:dataLabel>
    <cs:lnRef idx="0"/>
    <cs:fillRef idx="0"/>
    <cs:effectRef idx="0"/>
    <cs:fontRef idx="minor">
      <a:schemeClr val="tx2"/>
    </cs:fontRef>
    <cs:defRPr sz="1195"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dk1">
            <a:lumMod val="75000"/>
            <a:lumOff val="25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dk1">
            <a:lumMod val="75000"/>
            <a:lumOff val="25000"/>
          </a:schemeClr>
        </a:solidFill>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5"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5"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3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5"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5"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5"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0.8705</cdr:x>
      <cdr:y>0.38597</cdr:y>
    </cdr:from>
    <cdr:to>
      <cdr:x>0.92681</cdr:x>
      <cdr:y>0.59409</cdr:y>
    </cdr:to>
    <cdr:sp>
      <cdr:nvSpPr>
        <cdr:cNvPr id="2" name="右箭头 1"/>
        <cdr:cNvSpPr/>
      </cdr:nvSpPr>
      <cdr:spPr xmlns:a="http://schemas.openxmlformats.org/drawingml/2006/main">
        <a:xfrm xmlns:a="http://schemas.openxmlformats.org/drawingml/2006/main" rot="16200000">
          <a:off x="4181594" y="1197870"/>
          <a:ext cx="568165" cy="279814"/>
        </a:xfrm>
        <a:prstGeom xmlns:a="http://schemas.openxmlformats.org/drawingml/2006/main" prst="rightArrow">
          <a:avLst/>
        </a:prstGeom>
        <a:solidFill>
          <a:srgbClr val="F77945"/>
        </a:solidFill>
        <a:l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xmlns:a="http://schemas.openxmlformats.org/drawingml/2006/main">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cdr:txBody>
    </cdr:sp>
  </cdr:relSizeAnchor>
  <cdr:relSizeAnchor xmlns:cdr="http://schemas.openxmlformats.org/drawingml/2006/chartDrawing">
    <cdr:from>
      <cdr:x>0.26044</cdr:x>
      <cdr:y>0.6093</cdr:y>
    </cdr:from>
    <cdr:to>
      <cdr:x>0.93585</cdr:x>
      <cdr:y>0.91695</cdr:y>
    </cdr:to>
    <cdr:sp>
      <cdr:nvSpPr>
        <cdr:cNvPr id="3" name="矩形 2"/>
        <cdr:cNvSpPr/>
      </cdr:nvSpPr>
      <cdr:spPr xmlns:a="http://schemas.openxmlformats.org/drawingml/2006/main">
        <a:xfrm xmlns:a="http://schemas.openxmlformats.org/drawingml/2006/main">
          <a:off x="1294208" y="1663381"/>
          <a:ext cx="3356323" cy="839879"/>
        </a:xfrm>
        <a:prstGeom xmlns:a="http://schemas.openxmlformats.org/drawingml/2006/main" prst="rect">
          <a:avLst/>
        </a:prstGeom>
      </cdr:spPr>
      <cdr:txBody xmlns:a="http://schemas.openxmlformats.org/drawingml/2006/main">
        <a:bodyPr vertOverflow="clip" wrap="square" rtlCol="0"/>
        <a:lstStyle/>
        <a:p>
          <a:pPr algn="ctr"/>
          <a:r>
            <a:rPr lang="zh-CN" altLang="en-US" sz="1800" kern="1200" dirty="0">
              <a:solidFill>
                <a:schemeClr val="tx1"/>
              </a:solidFill>
              <a:latin typeface="Microsoft YaHei" pitchFamily="34" charset="-122"/>
              <a:ea typeface="Microsoft YaHei" pitchFamily="34" charset="-122"/>
            </a:rPr>
            <a:t>环比未上线前（</a:t>
          </a:r>
          <a:r>
            <a:rPr lang="en-US" altLang="zh-CN" sz="1800" kern="1200" dirty="0">
              <a:solidFill>
                <a:schemeClr val="tx1"/>
              </a:solidFill>
              <a:latin typeface="Microsoft YaHei" pitchFamily="34" charset="-122"/>
              <a:ea typeface="Microsoft YaHei" pitchFamily="34" charset="-122"/>
            </a:rPr>
            <a:t>1</a:t>
          </a:r>
          <a:r>
            <a:rPr lang="zh-CN" altLang="en-US" sz="1800" kern="1200" dirty="0">
              <a:solidFill>
                <a:schemeClr val="tx1"/>
              </a:solidFill>
              <a:latin typeface="Microsoft YaHei" pitchFamily="34" charset="-122"/>
              <a:ea typeface="Microsoft YaHei" pitchFamily="34" charset="-122"/>
            </a:rPr>
            <a:t>月）提升</a:t>
          </a:r>
          <a:r>
            <a:rPr lang="en-US" altLang="zh-CN" sz="2800" b="1" kern="1200" dirty="0">
              <a:solidFill>
                <a:schemeClr val="accent2"/>
              </a:solidFill>
            </a:rPr>
            <a:t>23%</a:t>
          </a:r>
          <a:endParaRPr lang="zh-CN" altLang="en-US" sz="1600" b="1" kern="1200" dirty="0">
            <a:solidFill>
              <a:schemeClr val="accent2"/>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r>
              <a:rPr lang="zh-CN" altLang="en-US"/>
              <a:t>单击图标添加图片</a:t>
            </a:r>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pic>
        <p:nvPicPr>
          <p:cNvPr id="3" name="图片 2" descr="图片包含 图形用户界面&#10;&#10;描述已自动生成"/>
          <p:cNvPicPr>
            <a:picLocks noChangeAspect="1"/>
          </p:cNvPicPr>
          <p:nvPr userDrawn="1"/>
        </p:nvPicPr>
        <p:blipFill>
          <a:blip r:embed="rId2"/>
          <a:stretch>
            <a:fillRect/>
          </a:stretch>
        </p:blipFill>
        <p:spPr>
          <a:xfrm>
            <a:off x="0" y="1785"/>
            <a:ext cx="12192000" cy="685443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8" name="图片 7" descr="图片包含 背景图案&#10;&#10;描述已自动生成"/>
          <p:cNvPicPr>
            <a:picLocks noChangeAspect="1"/>
          </p:cNvPicPr>
          <p:nvPr userDrawn="1"/>
        </p:nvPicPr>
        <p:blipFill>
          <a:blip r:embed="rId2"/>
          <a:stretch>
            <a:fillRect/>
          </a:stretch>
        </p:blipFill>
        <p:spPr>
          <a:xfrm>
            <a:off x="2467" y="0"/>
            <a:ext cx="12187066"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77.xml"/><Relationship Id="rId23" Type="http://schemas.openxmlformats.org/officeDocument/2006/relationships/tags" Target="../tags/tag76.xml"/><Relationship Id="rId22" Type="http://schemas.openxmlformats.org/officeDocument/2006/relationships/tags" Target="../tags/tag75.xml"/><Relationship Id="rId21" Type="http://schemas.openxmlformats.org/officeDocument/2006/relationships/tags" Target="../tags/tag74.xml"/><Relationship Id="rId20" Type="http://schemas.openxmlformats.org/officeDocument/2006/relationships/tags" Target="../tags/tag73.xml"/><Relationship Id="rId2" Type="http://schemas.openxmlformats.org/officeDocument/2006/relationships/slideLayout" Target="../slideLayouts/slideLayout2.xml"/><Relationship Id="rId19" Type="http://schemas.openxmlformats.org/officeDocument/2006/relationships/tags" Target="../tags/tag72.xml"/><Relationship Id="rId18" Type="http://schemas.openxmlformats.org/officeDocument/2006/relationships/image" Target="../media/image3.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2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90.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5.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6.xml"/><Relationship Id="rId1"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9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98.xml"/><Relationship Id="rId2" Type="http://schemas.openxmlformats.org/officeDocument/2006/relationships/chart" Target="../charts/chart3.xml"/><Relationship Id="rId1" Type="http://schemas.openxmlformats.org/officeDocument/2006/relationships/chart" Target="../charts/char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99.xml"/><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01.xml"/><Relationship Id="rId3" Type="http://schemas.openxmlformats.org/officeDocument/2006/relationships/image" Target="../media/image16.png"/><Relationship Id="rId2" Type="http://schemas.openxmlformats.org/officeDocument/2006/relationships/tags" Target="../tags/tag100.xml"/><Relationship Id="rId1"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6.xml.rels><?xml version="1.0" encoding="UTF-8" standalone="yes"?>
<Relationships xmlns="http://schemas.openxmlformats.org/package/2006/relationships"><Relationship Id="rId9" Type="http://schemas.openxmlformats.org/officeDocument/2006/relationships/tags" Target="../tags/tag106.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0" Type="http://schemas.openxmlformats.org/officeDocument/2006/relationships/slideLayout" Target="../slideLayouts/slideLayout13.xml"/><Relationship Id="rId1"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10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8.xml"/><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109.xml"/><Relationship Id="rId2" Type="http://schemas.openxmlformats.org/officeDocument/2006/relationships/image" Target="../media/image39.png"/><Relationship Id="rId1" Type="http://schemas.openxmlformats.org/officeDocument/2006/relationships/image" Target="../media/image38.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18.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4" Type="http://schemas.openxmlformats.org/officeDocument/2006/relationships/slideLayout" Target="../slideLayouts/slideLayout13.xml"/><Relationship Id="rId13" Type="http://schemas.openxmlformats.org/officeDocument/2006/relationships/tags" Target="../tags/tag119.xml"/><Relationship Id="rId12" Type="http://schemas.openxmlformats.org/officeDocument/2006/relationships/image" Target="../media/image53.png"/><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2.png"/></Relationships>
</file>

<file path=ppt/slides/_rels/slide26.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image" Target="../media/image61.png"/><Relationship Id="rId7" Type="http://schemas.openxmlformats.org/officeDocument/2006/relationships/image" Target="../media/image60.pn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0" Type="http://schemas.openxmlformats.org/officeDocument/2006/relationships/slideLayout" Target="../slideLayouts/slideLayout13.xml"/><Relationship Id="rId1" Type="http://schemas.openxmlformats.org/officeDocument/2006/relationships/image" Target="../media/image54.pn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121.xml"/><Relationship Id="rId6" Type="http://schemas.openxmlformats.org/officeDocument/2006/relationships/image" Target="../media/image60.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122.xml"/><Relationship Id="rId6" Type="http://schemas.openxmlformats.org/officeDocument/2006/relationships/image" Target="../media/image60.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image" Target="../media/image62.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30.xml"/><Relationship Id="rId1" Type="http://schemas.openxmlformats.org/officeDocument/2006/relationships/tags" Target="../tags/tag12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875745" y="2413578"/>
            <a:ext cx="8334121" cy="1015663"/>
          </a:xfrm>
          <a:prstGeom prst="rect">
            <a:avLst/>
          </a:prstGeom>
          <a:noFill/>
        </p:spPr>
        <p:txBody>
          <a:bodyPr wrap="square" rtlCol="0">
            <a:spAutoFit/>
          </a:bodyPr>
          <a:lstStyle/>
          <a:p>
            <a:r>
              <a:rPr lang="zh-CN" altLang="en-US" sz="6000" dirty="0">
                <a:solidFill>
                  <a:schemeClr val="bg1"/>
                </a:solidFill>
                <a:latin typeface="微软雅黑" charset="-122"/>
                <a:ea typeface="微软雅黑" charset="-122"/>
              </a:rPr>
              <a:t>用户运营中心述职汇报</a:t>
            </a:r>
            <a:endParaRPr lang="zh-CN" altLang="en-US" sz="6000" dirty="0">
              <a:solidFill>
                <a:schemeClr val="bg1"/>
              </a:solidFill>
              <a:latin typeface="微软雅黑" charset="-122"/>
              <a:ea typeface="微软雅黑" charset="-122"/>
            </a:endParaRPr>
          </a:p>
        </p:txBody>
      </p:sp>
      <p:sp>
        <p:nvSpPr>
          <p:cNvPr id="2" name="文本框 1"/>
          <p:cNvSpPr txBox="1"/>
          <p:nvPr>
            <p:custDataLst>
              <p:tags r:id="rId3"/>
            </p:custDataLst>
          </p:nvPr>
        </p:nvSpPr>
        <p:spPr>
          <a:xfrm>
            <a:off x="886539" y="4098761"/>
            <a:ext cx="8334121" cy="954107"/>
          </a:xfrm>
          <a:prstGeom prst="rect">
            <a:avLst/>
          </a:prstGeom>
          <a:noFill/>
        </p:spPr>
        <p:txBody>
          <a:bodyPr wrap="square" rtlCol="0">
            <a:spAutoFit/>
          </a:bodyPr>
          <a:lstStyle/>
          <a:p>
            <a:r>
              <a:rPr lang="zh-CN" altLang="en-US" sz="2800" dirty="0">
                <a:solidFill>
                  <a:schemeClr val="bg1"/>
                </a:solidFill>
                <a:latin typeface="微软雅黑" charset="-122"/>
                <a:ea typeface="微软雅黑" charset="-122"/>
              </a:rPr>
              <a:t>述职人：郑可盈</a:t>
            </a:r>
            <a:endParaRPr lang="en-US" altLang="zh-CN" sz="2800" dirty="0">
              <a:solidFill>
                <a:schemeClr val="bg1"/>
              </a:solidFill>
              <a:latin typeface="微软雅黑" charset="-122"/>
              <a:ea typeface="微软雅黑" charset="-122"/>
            </a:endParaRPr>
          </a:p>
          <a:p>
            <a:r>
              <a:rPr lang="zh-CN" altLang="en-US" sz="2800" dirty="0">
                <a:solidFill>
                  <a:schemeClr val="bg1"/>
                </a:solidFill>
                <a:latin typeface="微软雅黑" charset="-122"/>
                <a:ea typeface="微软雅黑" charset="-122"/>
              </a:rPr>
              <a:t>日期：</a:t>
            </a:r>
            <a:r>
              <a:rPr lang="en-US" altLang="zh-CN" sz="2800" dirty="0">
                <a:solidFill>
                  <a:schemeClr val="bg1"/>
                </a:solidFill>
                <a:latin typeface="微软雅黑" charset="-122"/>
                <a:ea typeface="微软雅黑" charset="-122"/>
              </a:rPr>
              <a:t>2026</a:t>
            </a:r>
            <a:r>
              <a:rPr lang="zh-CN" altLang="en-US" sz="2800" dirty="0">
                <a:solidFill>
                  <a:schemeClr val="bg1"/>
                </a:solidFill>
                <a:latin typeface="微软雅黑" charset="-122"/>
                <a:ea typeface="微软雅黑" charset="-122"/>
              </a:rPr>
              <a:t>年</a:t>
            </a:r>
            <a:r>
              <a:rPr lang="en-US" altLang="zh-CN" sz="2800" dirty="0">
                <a:solidFill>
                  <a:schemeClr val="bg1"/>
                </a:solidFill>
                <a:latin typeface="微软雅黑" charset="-122"/>
                <a:ea typeface="微软雅黑" charset="-122"/>
              </a:rPr>
              <a:t>4</a:t>
            </a:r>
            <a:r>
              <a:rPr lang="zh-CN" altLang="en-US" sz="2800" dirty="0">
                <a:solidFill>
                  <a:schemeClr val="bg1"/>
                </a:solidFill>
                <a:latin typeface="微软雅黑" charset="-122"/>
                <a:ea typeface="微软雅黑" charset="-122"/>
              </a:rPr>
              <a:t>月</a:t>
            </a:r>
            <a:r>
              <a:rPr lang="en-US" altLang="zh-CN" sz="2800" dirty="0">
                <a:solidFill>
                  <a:schemeClr val="bg1"/>
                </a:solidFill>
                <a:latin typeface="微软雅黑" charset="-122"/>
                <a:ea typeface="微软雅黑" charset="-122"/>
              </a:rPr>
              <a:t>15</a:t>
            </a:r>
            <a:r>
              <a:rPr lang="zh-CN" altLang="en-US" sz="2800" dirty="0">
                <a:solidFill>
                  <a:schemeClr val="bg1"/>
                </a:solidFill>
                <a:latin typeface="微软雅黑" charset="-122"/>
                <a:ea typeface="微软雅黑" charset="-122"/>
              </a:rPr>
              <a:t>日</a:t>
            </a:r>
            <a:endParaRPr lang="zh-CN" altLang="en-US" sz="2800" dirty="0">
              <a:solidFill>
                <a:schemeClr val="bg1"/>
              </a:solidFill>
              <a:latin typeface="微软雅黑" charset="-122"/>
              <a:ea typeface="微软雅黑"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1966560" y="1161628"/>
            <a:ext cx="8658080" cy="5630925"/>
            <a:chOff x="3640" y="2070"/>
            <a:chExt cx="11395" cy="7411"/>
          </a:xfrm>
        </p:grpSpPr>
        <p:cxnSp>
          <p:nvCxnSpPr>
            <p:cNvPr id="4" name="直接连接符 3"/>
            <p:cNvCxnSpPr/>
            <p:nvPr>
              <p:custDataLst>
                <p:tags r:id="rId2"/>
              </p:custDataLst>
            </p:nvPr>
          </p:nvCxnSpPr>
          <p:spPr>
            <a:xfrm>
              <a:off x="4819" y="3840"/>
              <a:ext cx="0" cy="4884"/>
            </a:xfrm>
            <a:prstGeom prst="line">
              <a:avLst/>
            </a:prstGeom>
            <a:ln>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sp>
          <p:nvSpPr>
            <p:cNvPr id="5" name="文本框 4"/>
            <p:cNvSpPr txBox="1"/>
            <p:nvPr>
              <p:custDataLst>
                <p:tags r:id="rId3"/>
              </p:custDataLst>
            </p:nvPr>
          </p:nvSpPr>
          <p:spPr>
            <a:xfrm>
              <a:off x="3640" y="2070"/>
              <a:ext cx="1122" cy="7411"/>
            </a:xfrm>
            <a:prstGeom prst="rect">
              <a:avLst/>
            </a:prstGeom>
            <a:noFill/>
          </p:spPr>
          <p:txBody>
            <a:bodyPr wrap="square" rtlCol="0">
              <a:spAutoFit/>
            </a:bodyPr>
            <a:lstStyle/>
            <a:p>
              <a:pPr>
                <a:lnSpc>
                  <a:spcPct val="250000"/>
                </a:lnSpc>
                <a:spcBef>
                  <a:spcPts val="0"/>
                </a:spcBef>
                <a:spcAft>
                  <a:spcPts val="0"/>
                </a:spcAft>
              </a:pPr>
              <a:r>
                <a:rPr lang="en-US" altLang="zh-CN">
                  <a:solidFill>
                    <a:srgbClr val="F63643"/>
                  </a:solidFill>
                  <a:latin typeface="微软雅黑" charset="-122"/>
                  <a:ea typeface="微软雅黑" charset="-122"/>
                </a:rPr>
                <a:t>01</a:t>
              </a:r>
              <a:endParaRPr lang="en-US" altLang="zh-CN">
                <a:solidFill>
                  <a:srgbClr val="F63643"/>
                </a:solidFill>
                <a:latin typeface="微软雅黑" charset="-122"/>
                <a:ea typeface="微软雅黑" charset="-122"/>
              </a:endParaRPr>
            </a:p>
            <a:p>
              <a:pPr>
                <a:lnSpc>
                  <a:spcPct val="250000"/>
                </a:lnSpc>
                <a:spcBef>
                  <a:spcPts val="0"/>
                </a:spcBef>
                <a:spcAft>
                  <a:spcPts val="0"/>
                </a:spcAft>
              </a:pPr>
              <a:r>
                <a:rPr lang="en-US" altLang="zh-CN">
                  <a:solidFill>
                    <a:srgbClr val="F63643"/>
                  </a:solidFill>
                  <a:latin typeface="微软雅黑" charset="-122"/>
                  <a:ea typeface="微软雅黑" charset="-122"/>
                </a:rPr>
                <a:t>02</a:t>
              </a:r>
              <a:endParaRPr lang="en-US" altLang="zh-CN">
                <a:solidFill>
                  <a:srgbClr val="F63643"/>
                </a:solidFill>
                <a:latin typeface="微软雅黑" charset="-122"/>
                <a:ea typeface="微软雅黑" charset="-122"/>
              </a:endParaRPr>
            </a:p>
            <a:p>
              <a:pPr>
                <a:lnSpc>
                  <a:spcPct val="250000"/>
                </a:lnSpc>
                <a:spcBef>
                  <a:spcPts val="0"/>
                </a:spcBef>
                <a:spcAft>
                  <a:spcPts val="0"/>
                </a:spcAft>
              </a:pPr>
              <a:r>
                <a:rPr lang="en-US" altLang="zh-CN">
                  <a:solidFill>
                    <a:srgbClr val="F63643"/>
                  </a:solidFill>
                  <a:latin typeface="微软雅黑" charset="-122"/>
                  <a:ea typeface="微软雅黑" charset="-122"/>
                </a:rPr>
                <a:t>03</a:t>
              </a:r>
              <a:endParaRPr lang="en-US" altLang="zh-CN">
                <a:solidFill>
                  <a:srgbClr val="F63643"/>
                </a:solidFill>
                <a:latin typeface="微软雅黑" charset="-122"/>
                <a:ea typeface="微软雅黑" charset="-122"/>
              </a:endParaRPr>
            </a:p>
            <a:p>
              <a:pPr>
                <a:lnSpc>
                  <a:spcPct val="250000"/>
                </a:lnSpc>
                <a:spcBef>
                  <a:spcPts val="0"/>
                </a:spcBef>
                <a:spcAft>
                  <a:spcPts val="0"/>
                </a:spcAft>
              </a:pPr>
              <a:r>
                <a:rPr lang="en-US" altLang="zh-CN">
                  <a:solidFill>
                    <a:srgbClr val="F63643"/>
                  </a:solidFill>
                  <a:latin typeface="微软雅黑" charset="-122"/>
                  <a:ea typeface="微软雅黑" charset="-122"/>
                </a:rPr>
                <a:t>04</a:t>
              </a:r>
              <a:endParaRPr lang="en-US" altLang="zh-CN">
                <a:solidFill>
                  <a:srgbClr val="F63643"/>
                </a:solidFill>
                <a:latin typeface="微软雅黑" charset="-122"/>
                <a:ea typeface="微软雅黑" charset="-122"/>
              </a:endParaRPr>
            </a:p>
            <a:p>
              <a:pPr>
                <a:lnSpc>
                  <a:spcPct val="250000"/>
                </a:lnSpc>
                <a:spcBef>
                  <a:spcPts val="0"/>
                </a:spcBef>
                <a:spcAft>
                  <a:spcPts val="0"/>
                </a:spcAft>
              </a:pPr>
              <a:r>
                <a:rPr lang="en-US" altLang="zh-CN">
                  <a:solidFill>
                    <a:srgbClr val="F63643"/>
                  </a:solidFill>
                  <a:latin typeface="微软雅黑" charset="-122"/>
                  <a:ea typeface="微软雅黑" charset="-122"/>
                </a:rPr>
                <a:t>05</a:t>
              </a:r>
              <a:endParaRPr lang="en-US" altLang="zh-CN">
                <a:solidFill>
                  <a:srgbClr val="F63643"/>
                </a:solidFill>
                <a:latin typeface="微软雅黑" charset="-122"/>
                <a:ea typeface="微软雅黑" charset="-122"/>
              </a:endParaRPr>
            </a:p>
            <a:p>
              <a:pPr>
                <a:lnSpc>
                  <a:spcPct val="250000"/>
                </a:lnSpc>
                <a:spcBef>
                  <a:spcPts val="0"/>
                </a:spcBef>
                <a:spcAft>
                  <a:spcPts val="0"/>
                </a:spcAft>
              </a:pPr>
              <a:r>
                <a:rPr lang="en-US" altLang="zh-CN">
                  <a:solidFill>
                    <a:srgbClr val="F63643"/>
                  </a:solidFill>
                  <a:latin typeface="微软雅黑" charset="-122"/>
                  <a:ea typeface="微软雅黑" charset="-122"/>
                </a:rPr>
                <a:t>06</a:t>
              </a:r>
              <a:endParaRPr lang="en-US" altLang="zh-CN">
                <a:solidFill>
                  <a:srgbClr val="F63643"/>
                </a:solidFill>
                <a:latin typeface="微软雅黑" charset="-122"/>
                <a:ea typeface="微软雅黑" charset="-122"/>
              </a:endParaRPr>
            </a:p>
            <a:p>
              <a:pPr>
                <a:lnSpc>
                  <a:spcPct val="250000"/>
                </a:lnSpc>
                <a:spcBef>
                  <a:spcPts val="0"/>
                </a:spcBef>
                <a:spcAft>
                  <a:spcPts val="0"/>
                </a:spcAft>
              </a:pPr>
              <a:endParaRPr lang="en-US" altLang="zh-CN">
                <a:solidFill>
                  <a:srgbClr val="F63643"/>
                </a:solidFill>
                <a:latin typeface="微软雅黑" charset="-122"/>
                <a:ea typeface="微软雅黑" charset="-122"/>
              </a:endParaRPr>
            </a:p>
            <a:p>
              <a:pPr>
                <a:lnSpc>
                  <a:spcPct val="250000"/>
                </a:lnSpc>
                <a:spcBef>
                  <a:spcPts val="0"/>
                </a:spcBef>
                <a:spcAft>
                  <a:spcPts val="0"/>
                </a:spcAft>
              </a:pPr>
              <a:endParaRPr lang="en-US" altLang="zh-CN">
                <a:solidFill>
                  <a:srgbClr val="F63643"/>
                </a:solidFill>
                <a:latin typeface="微软雅黑" charset="-122"/>
                <a:ea typeface="微软雅黑" charset="-122"/>
              </a:endParaRPr>
            </a:p>
          </p:txBody>
        </p:sp>
        <p:sp>
          <p:nvSpPr>
            <p:cNvPr id="6" name="文本框 5"/>
            <p:cNvSpPr txBox="1"/>
            <p:nvPr>
              <p:custDataLst>
                <p:tags r:id="rId4"/>
              </p:custDataLst>
            </p:nvPr>
          </p:nvSpPr>
          <p:spPr>
            <a:xfrm>
              <a:off x="5246" y="2070"/>
              <a:ext cx="9789" cy="5604"/>
            </a:xfrm>
            <a:prstGeom prst="rect">
              <a:avLst/>
            </a:prstGeom>
            <a:noFill/>
          </p:spPr>
          <p:txBody>
            <a:bodyPr wrap="square" rtlCol="0">
              <a:spAutoFit/>
            </a:bodyPr>
            <a:lstStyle/>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rPr>
                <a:t>个人介绍</a:t>
              </a:r>
              <a:endParaRPr lang="zh-CN" sz="2100">
                <a:solidFill>
                  <a:srgbClr val="882128"/>
                </a:solidFill>
                <a:latin typeface="微软雅黑" charset="-122"/>
                <a:ea typeface="微软雅黑" charset="-122"/>
                <a:cs typeface="微软雅黑" charset="-122"/>
              </a:endParaRPr>
            </a:p>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sym typeface="+mn-ea"/>
                </a:rPr>
                <a:t>业绩贡献</a:t>
              </a:r>
              <a:endParaRPr lang="zh-CN" sz="2100">
                <a:solidFill>
                  <a:srgbClr val="882128"/>
                </a:solidFill>
                <a:latin typeface="微软雅黑" charset="-122"/>
                <a:ea typeface="微软雅黑" charset="-122"/>
                <a:cs typeface="微软雅黑" charset="-122"/>
              </a:endParaRPr>
            </a:p>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sym typeface="+mn-ea"/>
                </a:rPr>
                <a:t>AI 业务应用</a:t>
              </a:r>
              <a:endParaRPr lang="zh-CN" sz="2100">
                <a:solidFill>
                  <a:srgbClr val="882128"/>
                </a:solidFill>
                <a:latin typeface="微软雅黑" charset="-122"/>
                <a:ea typeface="微软雅黑" charset="-122"/>
                <a:cs typeface="微软雅黑" charset="-122"/>
              </a:endParaRPr>
            </a:p>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sym typeface="+mn-ea"/>
                </a:rPr>
                <a:t>个人提升与不足</a:t>
              </a:r>
              <a:endParaRPr lang="zh-CN" sz="2100">
                <a:solidFill>
                  <a:srgbClr val="882128"/>
                </a:solidFill>
                <a:latin typeface="微软雅黑" charset="-122"/>
                <a:ea typeface="微软雅黑" charset="-122"/>
                <a:cs typeface="微软雅黑" charset="-122"/>
              </a:endParaRPr>
            </a:p>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rPr>
                <a:t>下一阶段重点规划</a:t>
              </a:r>
              <a:endParaRPr lang="zh-CN" sz="2100">
                <a:solidFill>
                  <a:srgbClr val="882128"/>
                </a:solidFill>
                <a:latin typeface="微软雅黑" charset="-122"/>
                <a:ea typeface="微软雅黑" charset="-122"/>
                <a:cs typeface="微软雅黑" charset="-122"/>
              </a:endParaRPr>
            </a:p>
            <a:p>
              <a:pPr algn="l">
                <a:lnSpc>
                  <a:spcPct val="215000"/>
                </a:lnSpc>
                <a:spcBef>
                  <a:spcPts val="0"/>
                </a:spcBef>
                <a:spcAft>
                  <a:spcPts val="0"/>
                </a:spcAft>
                <a:buClrTx/>
                <a:buSzTx/>
                <a:buFontTx/>
              </a:pPr>
              <a:r>
                <a:rPr lang="zh-CN" sz="2100">
                  <a:solidFill>
                    <a:srgbClr val="882128"/>
                  </a:solidFill>
                  <a:latin typeface="微软雅黑" charset="-122"/>
                  <a:ea typeface="微软雅黑" charset="-122"/>
                  <a:cs typeface="微软雅黑" charset="-122"/>
                  <a:sym typeface="+mn-ea"/>
                </a:rPr>
                <a:t>对组织的建议</a:t>
              </a:r>
              <a:endParaRPr lang="zh-CN" sz="2100">
                <a:solidFill>
                  <a:srgbClr val="882128"/>
                </a:solidFill>
                <a:latin typeface="微软雅黑" charset="-122"/>
                <a:ea typeface="微软雅黑" charset="-122"/>
                <a:cs typeface="微软雅黑" charset="-122"/>
              </a:endParaRPr>
            </a:p>
          </p:txBody>
        </p:sp>
      </p:grpSp>
      <p:sp>
        <p:nvSpPr>
          <p:cNvPr id="7" name="文本框 6"/>
          <p:cNvSpPr txBox="1"/>
          <p:nvPr>
            <p:custDataLst>
              <p:tags r:id="rId5"/>
            </p:custDataLst>
          </p:nvPr>
        </p:nvSpPr>
        <p:spPr>
          <a:xfrm>
            <a:off x="500980" y="662940"/>
            <a:ext cx="1823085" cy="583565"/>
          </a:xfrm>
          <a:prstGeom prst="rect">
            <a:avLst/>
          </a:prstGeom>
          <a:noFill/>
        </p:spPr>
        <p:txBody>
          <a:bodyPr wrap="square" rtlCol="0">
            <a:spAutoFit/>
          </a:bodyPr>
          <a:lstStyle/>
          <a:p>
            <a:r>
              <a:rPr lang="zh-CN" altLang="en-US" sz="3200">
                <a:solidFill>
                  <a:srgbClr val="E3343D"/>
                </a:solidFill>
                <a:latin typeface="微软雅黑" charset="-122"/>
                <a:ea typeface="微软雅黑" charset="-122"/>
                <a:cs typeface="微软雅黑" charset="-122"/>
              </a:rPr>
              <a:t>目 录</a:t>
            </a:r>
            <a:endParaRPr lang="zh-CN" altLang="en-US" sz="3200">
              <a:solidFill>
                <a:srgbClr val="E3343D"/>
              </a:solidFill>
              <a:latin typeface="微软雅黑" charset="-122"/>
              <a:ea typeface="微软雅黑" charset="-122"/>
              <a:cs typeface="微软雅黑" charset="-122"/>
            </a:endParaRPr>
          </a:p>
        </p:txBody>
      </p:sp>
    </p:spTree>
    <p:custDataLst>
      <p:tags r:id="rId6"/>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859801" y="2105194"/>
            <a:ext cx="9697085" cy="1957070"/>
            <a:chOff x="2210" y="4684"/>
            <a:chExt cx="15271" cy="3082"/>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dirty="0">
                  <a:solidFill>
                    <a:srgbClr val="F63643"/>
                  </a:solidFill>
                  <a:latin typeface="微软雅黑" charset="-122"/>
                  <a:ea typeface="微软雅黑" charset="-122"/>
                  <a:cs typeface="DIN Alternate" panose="020B0500000000000000" charset="0"/>
                </a:rPr>
                <a:t>01</a:t>
              </a:r>
              <a:endParaRPr lang="en-US" altLang="zh-CN" sz="11000" b="1" dirty="0">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charset="-122"/>
                <a:ea typeface="微软雅黑" charset="-122"/>
              </a:endParaRPr>
            </a:p>
          </p:txBody>
        </p:sp>
        <p:sp>
          <p:nvSpPr>
            <p:cNvPr id="4" name="文本框 3"/>
            <p:cNvSpPr txBox="1"/>
            <p:nvPr>
              <p:custDataLst>
                <p:tags r:id="rId3"/>
              </p:custDataLst>
            </p:nvPr>
          </p:nvSpPr>
          <p:spPr>
            <a:xfrm>
              <a:off x="5122" y="4684"/>
              <a:ext cx="12359" cy="2927"/>
            </a:xfrm>
            <a:prstGeom prst="rect">
              <a:avLst/>
            </a:prstGeom>
            <a:noFill/>
          </p:spPr>
          <p:txBody>
            <a:bodyPr wrap="square" rtlCol="0">
              <a:noAutofit/>
            </a:bodyPr>
            <a:lstStyle/>
            <a:p>
              <a:pPr>
                <a:lnSpc>
                  <a:spcPct val="215000"/>
                </a:lnSpc>
                <a:spcBef>
                  <a:spcPts val="0"/>
                </a:spcBef>
                <a:spcAft>
                  <a:spcPts val="0"/>
                </a:spcAft>
              </a:pPr>
              <a:r>
                <a:rPr lang="zh-CN" altLang="en-US" sz="5400" b="1" dirty="0">
                  <a:latin typeface="微软雅黑" charset="-122"/>
                  <a:ea typeface="微软雅黑" charset="-122"/>
                </a:rPr>
                <a:t>个人介绍</a:t>
              </a:r>
              <a:endParaRPr lang="zh-CN" altLang="en-US" sz="5400" b="1" dirty="0">
                <a:latin typeface="微软雅黑" charset="-122"/>
                <a:ea typeface="微软雅黑" charset="-122"/>
              </a:endParaRPr>
            </a:p>
          </p:txBody>
        </p:sp>
      </p:gr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ext Box 2"/>
          <p:cNvSpPr txBox="1">
            <a:spLocks noChangeArrowheads="1"/>
          </p:cNvSpPr>
          <p:nvPr/>
        </p:nvSpPr>
        <p:spPr bwMode="auto">
          <a:xfrm>
            <a:off x="1022985" y="955675"/>
            <a:ext cx="3451860" cy="2124075"/>
          </a:xfrm>
          <a:prstGeom prst="rect">
            <a:avLst/>
          </a:prstGeom>
          <a:noFill/>
          <a:ln w="9525">
            <a:noFill/>
            <a:miter lim="800000"/>
          </a:ln>
        </p:spPr>
        <p:txBody>
          <a:bodyPr wrap="square">
            <a:noAutofit/>
          </a:bodyPr>
          <a:lstStyle/>
          <a:p>
            <a:pPr indent="0" fontAlgn="base">
              <a:lnSpc>
                <a:spcPts val="4000"/>
              </a:lnSpc>
              <a:spcBef>
                <a:spcPct val="0"/>
              </a:spcBef>
              <a:spcAft>
                <a:spcPct val="0"/>
              </a:spcAft>
            </a:pPr>
            <a:r>
              <a:rPr lang="zh-CN" altLang="en-US" dirty="0">
                <a:solidFill>
                  <a:srgbClr val="525353"/>
                </a:solidFill>
                <a:latin typeface="Microsoft YaHei" pitchFamily="34" charset="-122"/>
                <a:ea typeface="Microsoft YaHei" pitchFamily="34" charset="-122"/>
                <a:cs typeface="+mn-ea"/>
              </a:rPr>
              <a:t>姓        名：郑可盈</a:t>
            </a:r>
            <a:endParaRPr lang="en-US" altLang="zh-CN" dirty="0">
              <a:solidFill>
                <a:srgbClr val="525353"/>
              </a:solidFill>
              <a:latin typeface="Microsoft YaHei" pitchFamily="34" charset="-122"/>
              <a:ea typeface="Microsoft YaHei" pitchFamily="34" charset="-122"/>
              <a:cs typeface="+mn-ea"/>
            </a:endParaRPr>
          </a:p>
          <a:p>
            <a:pPr indent="0" fontAlgn="base">
              <a:lnSpc>
                <a:spcPts val="4000"/>
              </a:lnSpc>
              <a:spcBef>
                <a:spcPct val="0"/>
              </a:spcBef>
              <a:spcAft>
                <a:spcPct val="0"/>
              </a:spcAft>
            </a:pPr>
            <a:r>
              <a:rPr lang="zh-CN" altLang="en-US" dirty="0">
                <a:solidFill>
                  <a:srgbClr val="525353"/>
                </a:solidFill>
                <a:latin typeface="Microsoft YaHei" pitchFamily="34" charset="-122"/>
                <a:ea typeface="Microsoft YaHei" pitchFamily="34" charset="-122"/>
                <a:cs typeface="+mn-ea"/>
              </a:rPr>
              <a:t>籍        贯：广东潮汕</a:t>
            </a:r>
            <a:endParaRPr lang="en-US" altLang="zh-CN" dirty="0">
              <a:solidFill>
                <a:srgbClr val="525353"/>
              </a:solidFill>
              <a:latin typeface="Microsoft YaHei" pitchFamily="34" charset="-122"/>
              <a:ea typeface="Microsoft YaHei" pitchFamily="34" charset="-122"/>
              <a:cs typeface="+mn-ea"/>
            </a:endParaRPr>
          </a:p>
          <a:p>
            <a:pPr indent="0" fontAlgn="base">
              <a:lnSpc>
                <a:spcPts val="4000"/>
              </a:lnSpc>
              <a:spcBef>
                <a:spcPct val="0"/>
              </a:spcBef>
              <a:spcAft>
                <a:spcPct val="0"/>
              </a:spcAft>
            </a:pPr>
            <a:r>
              <a:rPr lang="zh-CN" altLang="en-US" dirty="0">
                <a:solidFill>
                  <a:srgbClr val="525353"/>
                </a:solidFill>
                <a:latin typeface="Microsoft YaHei" pitchFamily="34" charset="-122"/>
                <a:ea typeface="Microsoft YaHei" pitchFamily="34" charset="-122"/>
                <a:cs typeface="+mn-ea"/>
              </a:rPr>
              <a:t>毕业院校：广东金融学院</a:t>
            </a:r>
            <a:endParaRPr lang="en-US" altLang="zh-CN" dirty="0">
              <a:solidFill>
                <a:srgbClr val="525353"/>
              </a:solidFill>
              <a:latin typeface="Microsoft YaHei" pitchFamily="34" charset="-122"/>
              <a:ea typeface="Microsoft YaHei" pitchFamily="34" charset="-122"/>
              <a:cs typeface="+mn-ea"/>
            </a:endParaRPr>
          </a:p>
          <a:p>
            <a:pPr indent="0" fontAlgn="base">
              <a:lnSpc>
                <a:spcPts val="4000"/>
              </a:lnSpc>
              <a:spcBef>
                <a:spcPct val="0"/>
              </a:spcBef>
              <a:spcAft>
                <a:spcPct val="0"/>
              </a:spcAft>
            </a:pPr>
            <a:r>
              <a:rPr lang="zh-CN" altLang="en-US" dirty="0">
                <a:solidFill>
                  <a:srgbClr val="525353"/>
                </a:solidFill>
                <a:latin typeface="Microsoft YaHei" pitchFamily="34" charset="-122"/>
                <a:ea typeface="Microsoft YaHei" pitchFamily="34" charset="-122"/>
                <a:cs typeface="+mn-ea"/>
              </a:rPr>
              <a:t>专        业：财政学</a:t>
            </a:r>
            <a:endParaRPr lang="zh-CN" altLang="en-US" dirty="0">
              <a:solidFill>
                <a:srgbClr val="525353"/>
              </a:solidFill>
              <a:latin typeface="Microsoft YaHei" pitchFamily="34" charset="-122"/>
              <a:ea typeface="Microsoft YaHei" pitchFamily="34" charset="-122"/>
              <a:cs typeface="+mn-ea"/>
            </a:endParaRPr>
          </a:p>
        </p:txBody>
      </p:sp>
      <p:sp>
        <p:nvSpPr>
          <p:cNvPr id="42" name="Text Box 6"/>
          <p:cNvSpPr txBox="1">
            <a:spLocks noChangeArrowheads="1"/>
          </p:cNvSpPr>
          <p:nvPr/>
        </p:nvSpPr>
        <p:spPr bwMode="auto">
          <a:xfrm>
            <a:off x="2025015" y="445770"/>
            <a:ext cx="1275715" cy="398780"/>
          </a:xfrm>
          <a:prstGeom prst="rect">
            <a:avLst/>
          </a:prstGeom>
          <a:noFill/>
          <a:ln w="9525">
            <a:noFill/>
            <a:miter lim="800000"/>
          </a:ln>
        </p:spPr>
        <p:txBody>
          <a:bodyPr wrap="square">
            <a:spAutoFit/>
          </a:bodyPr>
          <a:lstStyle/>
          <a:p>
            <a:pPr fontAlgn="base">
              <a:spcBef>
                <a:spcPct val="0"/>
              </a:spcBef>
              <a:spcAft>
                <a:spcPct val="0"/>
              </a:spcAft>
            </a:pPr>
            <a:r>
              <a:rPr lang="zh-CN" altLang="en-US" sz="2000" dirty="0">
                <a:solidFill>
                  <a:srgbClr val="F7565B"/>
                </a:solidFill>
                <a:latin typeface="Microsoft YaHei" pitchFamily="34" charset="-122"/>
                <a:ea typeface="Microsoft YaHei" pitchFamily="34" charset="-122"/>
              </a:rPr>
              <a:t>基本信息</a:t>
            </a:r>
            <a:endParaRPr lang="zh-CN" altLang="en-US" sz="2000" dirty="0">
              <a:solidFill>
                <a:srgbClr val="F7565B"/>
              </a:solidFill>
              <a:latin typeface="Microsoft YaHei" pitchFamily="34" charset="-122"/>
              <a:ea typeface="Microsoft YaHei" pitchFamily="34" charset="-122"/>
            </a:endParaRPr>
          </a:p>
        </p:txBody>
      </p:sp>
      <p:sp>
        <p:nvSpPr>
          <p:cNvPr id="43" name="Line 130"/>
          <p:cNvSpPr>
            <a:spLocks noChangeShapeType="1"/>
          </p:cNvSpPr>
          <p:nvPr/>
        </p:nvSpPr>
        <p:spPr bwMode="auto">
          <a:xfrm>
            <a:off x="1075690" y="3638550"/>
            <a:ext cx="9784080" cy="635"/>
          </a:xfrm>
          <a:prstGeom prst="line">
            <a:avLst/>
          </a:prstGeom>
          <a:noFill/>
          <a:ln w="76200" cmpd="thickThin">
            <a:solidFill>
              <a:srgbClr val="525353"/>
            </a:solidFill>
            <a:round/>
          </a:ln>
        </p:spPr>
        <p:txBody>
          <a:bodyPr/>
          <a:lstStyle/>
          <a:p>
            <a:pPr fontAlgn="base">
              <a:spcBef>
                <a:spcPct val="0"/>
              </a:spcBef>
              <a:spcAft>
                <a:spcPct val="0"/>
              </a:spcAft>
            </a:pPr>
            <a:endParaRPr lang="zh-CN" altLang="en-US">
              <a:solidFill>
                <a:prstClr val="black"/>
              </a:solidFill>
              <a:latin typeface="Microsoft YaHei" pitchFamily="34" charset="-122"/>
              <a:ea typeface="Microsoft YaHei" pitchFamily="34" charset="-122"/>
            </a:endParaRPr>
          </a:p>
        </p:txBody>
      </p:sp>
      <p:sp>
        <p:nvSpPr>
          <p:cNvPr id="44" name="Text Box 8"/>
          <p:cNvSpPr txBox="1">
            <a:spLocks noChangeArrowheads="1"/>
          </p:cNvSpPr>
          <p:nvPr/>
        </p:nvSpPr>
        <p:spPr bwMode="auto">
          <a:xfrm>
            <a:off x="5309235" y="3169920"/>
            <a:ext cx="1317625" cy="398780"/>
          </a:xfrm>
          <a:prstGeom prst="rect">
            <a:avLst/>
          </a:prstGeom>
          <a:noFill/>
          <a:ln w="9525">
            <a:noFill/>
            <a:miter lim="800000"/>
          </a:ln>
        </p:spPr>
        <p:txBody>
          <a:bodyPr wrap="square">
            <a:spAutoFit/>
          </a:bodyPr>
          <a:lstStyle/>
          <a:p>
            <a:pPr fontAlgn="base">
              <a:spcBef>
                <a:spcPct val="0"/>
              </a:spcBef>
              <a:spcAft>
                <a:spcPct val="0"/>
              </a:spcAft>
            </a:pPr>
            <a:r>
              <a:rPr lang="zh-CN" altLang="en-US" sz="2000" dirty="0">
                <a:solidFill>
                  <a:srgbClr val="F7565B"/>
                </a:solidFill>
                <a:latin typeface="Microsoft YaHei" pitchFamily="34" charset="-122"/>
                <a:ea typeface="Microsoft YaHei" pitchFamily="34" charset="-122"/>
              </a:rPr>
              <a:t>任职经历</a:t>
            </a:r>
            <a:endParaRPr lang="zh-CN" altLang="en-US" sz="2000" dirty="0">
              <a:solidFill>
                <a:srgbClr val="F7565B"/>
              </a:solidFill>
              <a:latin typeface="Microsoft YaHei" pitchFamily="34" charset="-122"/>
              <a:ea typeface="Microsoft YaHei" pitchFamily="34" charset="-122"/>
            </a:endParaRPr>
          </a:p>
        </p:txBody>
      </p:sp>
      <p:sp>
        <p:nvSpPr>
          <p:cNvPr id="45" name="Line 130"/>
          <p:cNvSpPr>
            <a:spLocks noChangeShapeType="1"/>
          </p:cNvSpPr>
          <p:nvPr/>
        </p:nvSpPr>
        <p:spPr bwMode="auto">
          <a:xfrm>
            <a:off x="1086976" y="955768"/>
            <a:ext cx="3158152" cy="0"/>
          </a:xfrm>
          <a:prstGeom prst="line">
            <a:avLst/>
          </a:prstGeom>
          <a:noFill/>
          <a:ln w="76200" cmpd="thickThin">
            <a:solidFill>
              <a:srgbClr val="525353"/>
            </a:solidFill>
            <a:round/>
          </a:ln>
        </p:spPr>
        <p:txBody>
          <a:bodyPr/>
          <a:lstStyle/>
          <a:p>
            <a:pPr fontAlgn="base">
              <a:spcBef>
                <a:spcPct val="0"/>
              </a:spcBef>
              <a:spcAft>
                <a:spcPct val="0"/>
              </a:spcAft>
            </a:pPr>
            <a:endParaRPr lang="zh-CN" altLang="en-US">
              <a:solidFill>
                <a:prstClr val="black"/>
              </a:solidFill>
              <a:latin typeface="Microsoft YaHei" pitchFamily="34" charset="-122"/>
              <a:ea typeface="Microsoft YaHei" pitchFamily="34" charset="-122"/>
            </a:endParaRPr>
          </a:p>
        </p:txBody>
      </p:sp>
      <p:sp>
        <p:nvSpPr>
          <p:cNvPr id="48" name="矩形 47"/>
          <p:cNvSpPr/>
          <p:nvPr/>
        </p:nvSpPr>
        <p:spPr>
          <a:xfrm>
            <a:off x="1022985" y="3568700"/>
            <a:ext cx="2397760" cy="2571115"/>
          </a:xfrm>
          <a:prstGeom prst="rect">
            <a:avLst/>
          </a:prstGeom>
          <a:noFill/>
          <a:ln w="9525">
            <a:noFill/>
            <a:miter lim="800000"/>
          </a:ln>
        </p:spPr>
        <p:txBody>
          <a:bodyPr wrap="square">
            <a:noAutofit/>
          </a:bodyPr>
          <a:lstStyle/>
          <a:p>
            <a:pPr fontAlgn="base">
              <a:lnSpc>
                <a:spcPct val="250000"/>
              </a:lnSpc>
              <a:spcBef>
                <a:spcPct val="0"/>
              </a:spcBef>
              <a:spcAft>
                <a:spcPct val="0"/>
              </a:spcAft>
            </a:pPr>
            <a:r>
              <a:rPr lang="en-US" altLang="zh-CN" sz="1600" dirty="0">
                <a:solidFill>
                  <a:srgbClr val="525353"/>
                </a:solidFill>
                <a:latin typeface="Microsoft YaHei" pitchFamily="34" charset="-122"/>
                <a:ea typeface="Microsoft YaHei" pitchFamily="34" charset="-122"/>
                <a:cs typeface="+mn-ea"/>
              </a:rPr>
              <a:t>2021</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6</a:t>
            </a:r>
            <a:r>
              <a:rPr lang="zh-CN" altLang="en-US" sz="1600" dirty="0">
                <a:solidFill>
                  <a:srgbClr val="525353"/>
                </a:solidFill>
                <a:latin typeface="Microsoft YaHei" pitchFamily="34" charset="-122"/>
                <a:ea typeface="Microsoft YaHei" pitchFamily="34" charset="-122"/>
                <a:cs typeface="+mn-ea"/>
              </a:rPr>
              <a:t>月</a:t>
            </a:r>
            <a:r>
              <a:rPr lang="en-US" altLang="zh-CN" sz="1600" dirty="0">
                <a:solidFill>
                  <a:srgbClr val="525353"/>
                </a:solidFill>
                <a:latin typeface="Microsoft YaHei" pitchFamily="34" charset="-122"/>
                <a:ea typeface="Microsoft YaHei" pitchFamily="34" charset="-122"/>
                <a:cs typeface="+mn-ea"/>
              </a:rPr>
              <a:t>-2023</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7</a:t>
            </a:r>
            <a:r>
              <a:rPr lang="zh-CN" altLang="en-US" sz="1600" dirty="0">
                <a:solidFill>
                  <a:srgbClr val="525353"/>
                </a:solidFill>
                <a:latin typeface="Microsoft YaHei" pitchFamily="34" charset="-122"/>
                <a:ea typeface="Microsoft YaHei" pitchFamily="34" charset="-122"/>
                <a:cs typeface="+mn-ea"/>
              </a:rPr>
              <a:t>月</a:t>
            </a:r>
            <a:endParaRPr lang="zh-CN" altLang="en-US" sz="1600" dirty="0">
              <a:solidFill>
                <a:srgbClr val="525353"/>
              </a:solidFill>
              <a:latin typeface="Microsoft YaHei" pitchFamily="34" charset="-122"/>
              <a:ea typeface="Microsoft YaHei" pitchFamily="34" charset="-122"/>
              <a:cs typeface="+mn-ea"/>
            </a:endParaRPr>
          </a:p>
          <a:p>
            <a:pPr fontAlgn="base">
              <a:lnSpc>
                <a:spcPct val="250000"/>
              </a:lnSpc>
              <a:spcBef>
                <a:spcPct val="0"/>
              </a:spcBef>
              <a:spcAft>
                <a:spcPct val="0"/>
              </a:spcAft>
            </a:pPr>
            <a:r>
              <a:rPr lang="en-US" altLang="zh-CN" sz="1600" dirty="0">
                <a:solidFill>
                  <a:srgbClr val="525353"/>
                </a:solidFill>
                <a:latin typeface="Microsoft YaHei" pitchFamily="34" charset="-122"/>
                <a:ea typeface="Microsoft YaHei" pitchFamily="34" charset="-122"/>
                <a:cs typeface="+mn-ea"/>
              </a:rPr>
              <a:t>2023</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7</a:t>
            </a:r>
            <a:r>
              <a:rPr lang="zh-CN" altLang="en-US" sz="1600" dirty="0">
                <a:solidFill>
                  <a:srgbClr val="525353"/>
                </a:solidFill>
                <a:latin typeface="Microsoft YaHei" pitchFamily="34" charset="-122"/>
                <a:ea typeface="Microsoft YaHei" pitchFamily="34" charset="-122"/>
                <a:cs typeface="+mn-ea"/>
              </a:rPr>
              <a:t>月</a:t>
            </a:r>
            <a:r>
              <a:rPr lang="en-US" altLang="zh-CN" sz="1600" dirty="0">
                <a:solidFill>
                  <a:srgbClr val="525353"/>
                </a:solidFill>
                <a:latin typeface="Microsoft YaHei" pitchFamily="34" charset="-122"/>
                <a:ea typeface="Microsoft YaHei" pitchFamily="34" charset="-122"/>
                <a:cs typeface="+mn-ea"/>
              </a:rPr>
              <a:t>-2025</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1</a:t>
            </a:r>
            <a:r>
              <a:rPr lang="zh-CN" altLang="en-US" sz="1600" dirty="0">
                <a:solidFill>
                  <a:srgbClr val="525353"/>
                </a:solidFill>
                <a:latin typeface="Microsoft YaHei" pitchFamily="34" charset="-122"/>
                <a:ea typeface="Microsoft YaHei" pitchFamily="34" charset="-122"/>
                <a:cs typeface="+mn-ea"/>
              </a:rPr>
              <a:t>月</a:t>
            </a:r>
            <a:endParaRPr lang="en-US" altLang="zh-CN" sz="1600" dirty="0">
              <a:solidFill>
                <a:srgbClr val="525353"/>
              </a:solidFill>
              <a:latin typeface="Microsoft YaHei" pitchFamily="34" charset="-122"/>
              <a:ea typeface="Microsoft YaHei" pitchFamily="34" charset="-122"/>
              <a:cs typeface="+mn-ea"/>
            </a:endParaRPr>
          </a:p>
          <a:p>
            <a:pPr fontAlgn="base">
              <a:lnSpc>
                <a:spcPct val="250000"/>
              </a:lnSpc>
              <a:spcBef>
                <a:spcPct val="0"/>
              </a:spcBef>
              <a:spcAft>
                <a:spcPct val="0"/>
              </a:spcAft>
            </a:pPr>
            <a:r>
              <a:rPr lang="en-US" altLang="zh-CN" sz="1600" dirty="0">
                <a:solidFill>
                  <a:srgbClr val="525353"/>
                </a:solidFill>
                <a:latin typeface="Microsoft YaHei" pitchFamily="34" charset="-122"/>
                <a:ea typeface="Microsoft YaHei" pitchFamily="34" charset="-122"/>
                <a:cs typeface="+mn-ea"/>
              </a:rPr>
              <a:t>2025</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2</a:t>
            </a:r>
            <a:r>
              <a:rPr lang="zh-CN" altLang="en-US" sz="1600" dirty="0">
                <a:solidFill>
                  <a:srgbClr val="525353"/>
                </a:solidFill>
                <a:latin typeface="Microsoft YaHei" pitchFamily="34" charset="-122"/>
                <a:ea typeface="Microsoft YaHei" pitchFamily="34" charset="-122"/>
                <a:cs typeface="+mn-ea"/>
              </a:rPr>
              <a:t>月</a:t>
            </a:r>
            <a:r>
              <a:rPr lang="en-US" altLang="zh-CN" sz="1600" dirty="0">
                <a:solidFill>
                  <a:srgbClr val="525353"/>
                </a:solidFill>
                <a:latin typeface="Microsoft YaHei" pitchFamily="34" charset="-122"/>
                <a:ea typeface="Microsoft YaHei" pitchFamily="34" charset="-122"/>
                <a:cs typeface="+mn-ea"/>
              </a:rPr>
              <a:t>-2025</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10</a:t>
            </a:r>
            <a:r>
              <a:rPr lang="zh-CN" altLang="en-US" sz="1600" dirty="0">
                <a:solidFill>
                  <a:srgbClr val="525353"/>
                </a:solidFill>
                <a:latin typeface="Microsoft YaHei" pitchFamily="34" charset="-122"/>
                <a:ea typeface="Microsoft YaHei" pitchFamily="34" charset="-122"/>
                <a:cs typeface="+mn-ea"/>
              </a:rPr>
              <a:t>月</a:t>
            </a:r>
            <a:endParaRPr lang="en-US" altLang="zh-CN" sz="1600" dirty="0">
              <a:solidFill>
                <a:srgbClr val="525353"/>
              </a:solidFill>
              <a:latin typeface="Microsoft YaHei" pitchFamily="34" charset="-122"/>
              <a:ea typeface="Microsoft YaHei" pitchFamily="34" charset="-122"/>
              <a:cs typeface="+mn-ea"/>
            </a:endParaRPr>
          </a:p>
          <a:p>
            <a:pPr fontAlgn="base">
              <a:lnSpc>
                <a:spcPct val="250000"/>
              </a:lnSpc>
              <a:spcBef>
                <a:spcPct val="0"/>
              </a:spcBef>
              <a:spcAft>
                <a:spcPct val="0"/>
              </a:spcAft>
            </a:pPr>
            <a:r>
              <a:rPr lang="en-US" altLang="zh-CN" sz="1600" dirty="0">
                <a:solidFill>
                  <a:srgbClr val="525353"/>
                </a:solidFill>
                <a:latin typeface="Microsoft YaHei" pitchFamily="34" charset="-122"/>
                <a:ea typeface="Microsoft YaHei" pitchFamily="34" charset="-122"/>
                <a:cs typeface="+mn-ea"/>
              </a:rPr>
              <a:t>2025</a:t>
            </a:r>
            <a:r>
              <a:rPr lang="zh-CN" altLang="en-US" sz="1600" dirty="0">
                <a:solidFill>
                  <a:srgbClr val="525353"/>
                </a:solidFill>
                <a:latin typeface="Microsoft YaHei" pitchFamily="34" charset="-122"/>
                <a:ea typeface="Microsoft YaHei" pitchFamily="34" charset="-122"/>
                <a:cs typeface="+mn-ea"/>
              </a:rPr>
              <a:t>年</a:t>
            </a:r>
            <a:r>
              <a:rPr lang="en-US" altLang="zh-CN" sz="1600" dirty="0">
                <a:solidFill>
                  <a:srgbClr val="525353"/>
                </a:solidFill>
                <a:latin typeface="Microsoft YaHei" pitchFamily="34" charset="-122"/>
                <a:ea typeface="Microsoft YaHei" pitchFamily="34" charset="-122"/>
                <a:cs typeface="+mn-ea"/>
              </a:rPr>
              <a:t>11</a:t>
            </a:r>
            <a:r>
              <a:rPr lang="zh-CN" altLang="en-US" sz="1600" dirty="0">
                <a:solidFill>
                  <a:srgbClr val="525353"/>
                </a:solidFill>
                <a:latin typeface="Microsoft YaHei" pitchFamily="34" charset="-122"/>
                <a:ea typeface="Microsoft YaHei" pitchFamily="34" charset="-122"/>
                <a:cs typeface="+mn-ea"/>
              </a:rPr>
              <a:t>月</a:t>
            </a:r>
            <a:r>
              <a:rPr lang="en-US" altLang="zh-CN" sz="1600" dirty="0">
                <a:solidFill>
                  <a:srgbClr val="525353"/>
                </a:solidFill>
                <a:latin typeface="Microsoft YaHei" pitchFamily="34" charset="-122"/>
                <a:ea typeface="Microsoft YaHei" pitchFamily="34" charset="-122"/>
                <a:cs typeface="+mn-ea"/>
              </a:rPr>
              <a:t>-</a:t>
            </a:r>
            <a:r>
              <a:rPr lang="zh-CN" altLang="en-US" sz="1600" dirty="0">
                <a:solidFill>
                  <a:srgbClr val="525353"/>
                </a:solidFill>
                <a:latin typeface="Microsoft YaHei" pitchFamily="34" charset="-122"/>
                <a:ea typeface="Microsoft YaHei" pitchFamily="34" charset="-122"/>
                <a:cs typeface="+mn-ea"/>
              </a:rPr>
              <a:t>至今</a:t>
            </a:r>
            <a:endParaRPr lang="zh-CN" altLang="en-US" sz="1600" dirty="0">
              <a:solidFill>
                <a:srgbClr val="525353"/>
              </a:solidFill>
              <a:latin typeface="Microsoft YaHei" pitchFamily="34" charset="-122"/>
              <a:ea typeface="Microsoft YaHei" pitchFamily="34" charset="-122"/>
              <a:cs typeface="+mn-ea"/>
            </a:endParaRPr>
          </a:p>
        </p:txBody>
      </p:sp>
      <p:sp>
        <p:nvSpPr>
          <p:cNvPr id="49" name="矩形 48"/>
          <p:cNvSpPr/>
          <p:nvPr/>
        </p:nvSpPr>
        <p:spPr>
          <a:xfrm>
            <a:off x="4125473" y="3568780"/>
            <a:ext cx="3602355" cy="2449453"/>
          </a:xfrm>
          <a:prstGeom prst="rect">
            <a:avLst/>
          </a:prstGeom>
          <a:noFill/>
          <a:ln w="9525">
            <a:noFill/>
            <a:miter lim="800000"/>
          </a:ln>
        </p:spPr>
        <p:txBody>
          <a:bodyPr wrap="square">
            <a:spAutoFit/>
          </a:bodyPr>
          <a:lstStyle/>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龙湖地产</a:t>
            </a:r>
            <a:endParaRPr lang="en-US" altLang="zh-CN" sz="1600" dirty="0">
              <a:solidFill>
                <a:srgbClr val="525353"/>
              </a:solidFill>
              <a:latin typeface="Microsoft YaHei" pitchFamily="34" charset="-122"/>
              <a:ea typeface="Microsoft YaHei" pitchFamily="34" charset="-122"/>
            </a:endParaRPr>
          </a:p>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兴趣岛</a:t>
            </a:r>
            <a:endParaRPr lang="en-US" altLang="zh-CN" sz="1600" dirty="0">
              <a:solidFill>
                <a:srgbClr val="525353"/>
              </a:solidFill>
              <a:latin typeface="Microsoft YaHei" pitchFamily="34" charset="-122"/>
              <a:ea typeface="Microsoft YaHei" pitchFamily="34" charset="-122"/>
            </a:endParaRPr>
          </a:p>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兴趣岛</a:t>
            </a:r>
            <a:endParaRPr lang="en-US" altLang="zh-CN" sz="1600" dirty="0">
              <a:solidFill>
                <a:srgbClr val="525353"/>
              </a:solidFill>
              <a:latin typeface="Microsoft YaHei" pitchFamily="34" charset="-122"/>
              <a:ea typeface="Microsoft YaHei" pitchFamily="34" charset="-122"/>
            </a:endParaRPr>
          </a:p>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兴趣岛</a:t>
            </a:r>
            <a:endParaRPr lang="zh-CN" altLang="en-US" sz="1600" dirty="0">
              <a:solidFill>
                <a:srgbClr val="525353"/>
              </a:solidFill>
              <a:latin typeface="Microsoft YaHei" pitchFamily="34" charset="-122"/>
              <a:ea typeface="Microsoft YaHei" pitchFamily="34" charset="-122"/>
            </a:endParaRPr>
          </a:p>
        </p:txBody>
      </p:sp>
      <p:sp>
        <p:nvSpPr>
          <p:cNvPr id="50" name="矩形 49"/>
          <p:cNvSpPr/>
          <p:nvPr/>
        </p:nvSpPr>
        <p:spPr>
          <a:xfrm>
            <a:off x="6035784" y="3565867"/>
            <a:ext cx="5311140" cy="1833900"/>
          </a:xfrm>
          <a:prstGeom prst="rect">
            <a:avLst/>
          </a:prstGeom>
          <a:noFill/>
          <a:ln w="9525">
            <a:noFill/>
            <a:miter lim="800000"/>
          </a:ln>
        </p:spPr>
        <p:txBody>
          <a:bodyPr wrap="square">
            <a:spAutoFit/>
          </a:bodyPr>
          <a:lstStyle/>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担任平台运营，</a:t>
            </a:r>
            <a:r>
              <a:rPr lang="en-US" altLang="zh-CN" sz="1600" dirty="0">
                <a:solidFill>
                  <a:srgbClr val="525353"/>
                </a:solidFill>
                <a:latin typeface="Microsoft YaHei" pitchFamily="34" charset="-122"/>
                <a:ea typeface="Microsoft YaHei" pitchFamily="34" charset="-122"/>
              </a:rPr>
              <a:t>0-1</a:t>
            </a:r>
            <a:r>
              <a:rPr lang="zh-CN" altLang="en-US" sz="1600" dirty="0">
                <a:solidFill>
                  <a:srgbClr val="525353"/>
                </a:solidFill>
                <a:latin typeface="Microsoft YaHei" pitchFamily="34" charset="-122"/>
                <a:ea typeface="Microsoft YaHei" pitchFamily="34" charset="-122"/>
              </a:rPr>
              <a:t>搭建员工推荐体系月度促单金额</a:t>
            </a:r>
            <a:r>
              <a:rPr lang="en-US" altLang="zh-CN" sz="1600" dirty="0">
                <a:solidFill>
                  <a:srgbClr val="525353"/>
                </a:solidFill>
                <a:latin typeface="Microsoft YaHei" pitchFamily="34" charset="-122"/>
                <a:ea typeface="Microsoft YaHei" pitchFamily="34" charset="-122"/>
              </a:rPr>
              <a:t>1</a:t>
            </a:r>
            <a:r>
              <a:rPr lang="zh-CN" altLang="en-US" sz="1600" dirty="0">
                <a:solidFill>
                  <a:srgbClr val="525353"/>
                </a:solidFill>
                <a:latin typeface="Microsoft YaHei" pitchFamily="34" charset="-122"/>
                <a:ea typeface="Microsoft YaHei" pitchFamily="34" charset="-122"/>
              </a:rPr>
              <a:t>亿</a:t>
            </a:r>
            <a:endParaRPr lang="zh-CN" altLang="en-US" sz="1600" dirty="0">
              <a:solidFill>
                <a:srgbClr val="525353"/>
              </a:solidFill>
              <a:latin typeface="Microsoft YaHei" pitchFamily="34" charset="-122"/>
              <a:ea typeface="Microsoft YaHei" pitchFamily="34" charset="-122"/>
            </a:endParaRPr>
          </a:p>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担任俱乐部运营，以及参与超</a:t>
            </a:r>
            <a:r>
              <a:rPr lang="en-US" altLang="zh-CN" sz="1600" dirty="0">
                <a:solidFill>
                  <a:srgbClr val="525353"/>
                </a:solidFill>
                <a:latin typeface="Microsoft YaHei" pitchFamily="34" charset="-122"/>
                <a:ea typeface="Microsoft YaHei" pitchFamily="34" charset="-122"/>
              </a:rPr>
              <a:t>V 0-1</a:t>
            </a:r>
            <a:r>
              <a:rPr lang="zh-CN" altLang="en-US" sz="1600" dirty="0">
                <a:solidFill>
                  <a:srgbClr val="525353"/>
                </a:solidFill>
                <a:latin typeface="Microsoft YaHei" pitchFamily="34" charset="-122"/>
                <a:ea typeface="Microsoft YaHei" pitchFamily="34" charset="-122"/>
              </a:rPr>
              <a:t>搭建</a:t>
            </a:r>
            <a:endParaRPr lang="en-US" altLang="zh-CN" sz="1600" dirty="0">
              <a:solidFill>
                <a:srgbClr val="525353"/>
              </a:solidFill>
              <a:latin typeface="Microsoft YaHei" pitchFamily="34" charset="-122"/>
              <a:ea typeface="Microsoft YaHei" pitchFamily="34" charset="-122"/>
            </a:endParaRPr>
          </a:p>
          <a:p>
            <a:pPr fontAlgn="base">
              <a:lnSpc>
                <a:spcPct val="250000"/>
              </a:lnSpc>
              <a:spcBef>
                <a:spcPct val="0"/>
              </a:spcBef>
              <a:spcAft>
                <a:spcPct val="0"/>
              </a:spcAft>
            </a:pPr>
            <a:r>
              <a:rPr lang="zh-CN" altLang="en-US" sz="1600" dirty="0">
                <a:solidFill>
                  <a:srgbClr val="525353"/>
                </a:solidFill>
                <a:latin typeface="Microsoft YaHei" pitchFamily="34" charset="-122"/>
                <a:ea typeface="Microsoft YaHei" pitchFamily="34" charset="-122"/>
              </a:rPr>
              <a:t>担任运营组长，统筹完成社群 </a:t>
            </a:r>
            <a:r>
              <a:rPr lang="en-US" altLang="zh-CN" sz="1600" dirty="0">
                <a:solidFill>
                  <a:srgbClr val="525353"/>
                </a:solidFill>
                <a:latin typeface="Microsoft YaHei" pitchFamily="34" charset="-122"/>
                <a:ea typeface="Microsoft YaHei" pitchFamily="34" charset="-122"/>
              </a:rPr>
              <a:t>0-1</a:t>
            </a:r>
            <a:r>
              <a:rPr lang="zh-CN" altLang="en-US" sz="1600" dirty="0">
                <a:solidFill>
                  <a:srgbClr val="525353"/>
                </a:solidFill>
                <a:latin typeface="Microsoft YaHei" pitchFamily="34" charset="-122"/>
                <a:ea typeface="Microsoft YaHei" pitchFamily="34" charset="-122"/>
              </a:rPr>
              <a:t>搭建</a:t>
            </a:r>
            <a:endParaRPr lang="en-US" altLang="zh-CN" sz="1600" dirty="0">
              <a:solidFill>
                <a:srgbClr val="525353"/>
              </a:solidFill>
              <a:latin typeface="Microsoft YaHei" pitchFamily="34" charset="-122"/>
              <a:ea typeface="Microsoft YaHei" pitchFamily="34" charset="-122"/>
            </a:endParaRPr>
          </a:p>
        </p:txBody>
      </p:sp>
      <p:sp>
        <p:nvSpPr>
          <p:cNvPr id="3" name="圆角矩形 2"/>
          <p:cNvSpPr/>
          <p:nvPr/>
        </p:nvSpPr>
        <p:spPr>
          <a:xfrm>
            <a:off x="6626860" y="554636"/>
            <a:ext cx="4365863" cy="2664813"/>
          </a:xfrm>
          <a:prstGeom prst="roundRect">
            <a:avLst/>
          </a:prstGeom>
          <a:solidFill>
            <a:srgbClr val="FFF7F5"/>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icrosoft YaHei" pitchFamily="34" charset="-122"/>
              <a:ea typeface="Microsoft YaHei" pitchFamily="34" charset="-122"/>
            </a:endParaRPr>
          </a:p>
        </p:txBody>
      </p:sp>
      <p:sp>
        <p:nvSpPr>
          <p:cNvPr id="4" name="终止符 3"/>
          <p:cNvSpPr/>
          <p:nvPr/>
        </p:nvSpPr>
        <p:spPr>
          <a:xfrm>
            <a:off x="7087904" y="666448"/>
            <a:ext cx="3275233" cy="523220"/>
          </a:xfrm>
          <a:prstGeom prst="flowChartTerminator">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5" name="文本框 4"/>
          <p:cNvSpPr txBox="1"/>
          <p:nvPr/>
        </p:nvSpPr>
        <p:spPr>
          <a:xfrm>
            <a:off x="7862126" y="683451"/>
            <a:ext cx="2637225" cy="461665"/>
          </a:xfrm>
          <a:prstGeom prst="rect">
            <a:avLst/>
          </a:prstGeom>
          <a:noFill/>
        </p:spPr>
        <p:txBody>
          <a:bodyPr wrap="square" rtlCol="0">
            <a:spAutoFit/>
          </a:bodyPr>
          <a:lstStyle/>
          <a:p>
            <a:r>
              <a:rPr kumimoji="1" lang="zh-CN" altLang="en-US" sz="2400" dirty="0">
                <a:latin typeface="Microsoft YaHei" pitchFamily="34" charset="-122"/>
                <a:ea typeface="Microsoft YaHei" pitchFamily="34" charset="-122"/>
              </a:rPr>
              <a:t>核心能力标签</a:t>
            </a:r>
            <a:endParaRPr kumimoji="1" lang="zh-CN" altLang="en-US" sz="2400" dirty="0">
              <a:latin typeface="Microsoft YaHei" pitchFamily="34" charset="-122"/>
              <a:ea typeface="Microsoft YaHei" pitchFamily="34" charset="-122"/>
            </a:endParaRPr>
          </a:p>
        </p:txBody>
      </p:sp>
      <p:sp>
        <p:nvSpPr>
          <p:cNvPr id="6" name="终止符 5"/>
          <p:cNvSpPr/>
          <p:nvPr/>
        </p:nvSpPr>
        <p:spPr>
          <a:xfrm>
            <a:off x="6814061" y="1262352"/>
            <a:ext cx="2876220" cy="523220"/>
          </a:xfrm>
          <a:prstGeom prst="flowChartTerminator">
            <a:avLst/>
          </a:prstGeom>
          <a:solidFill>
            <a:srgbClr val="F85659"/>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用户生命周期策略设计</a:t>
            </a:r>
            <a:endParaRPr kumimoji="1" lang="zh-CN" altLang="en-US" dirty="0">
              <a:latin typeface="Microsoft YaHei" pitchFamily="34" charset="-122"/>
              <a:ea typeface="Microsoft YaHei" pitchFamily="34" charset="-122"/>
            </a:endParaRPr>
          </a:p>
        </p:txBody>
      </p:sp>
      <p:sp>
        <p:nvSpPr>
          <p:cNvPr id="7" name="终止符 6"/>
          <p:cNvSpPr/>
          <p:nvPr/>
        </p:nvSpPr>
        <p:spPr>
          <a:xfrm>
            <a:off x="9353296" y="1805160"/>
            <a:ext cx="1639427" cy="523220"/>
          </a:xfrm>
          <a:prstGeom prst="flowChartTerminator">
            <a:avLst/>
          </a:prstGeom>
          <a:solidFill>
            <a:srgbClr val="FFE8E6"/>
          </a:solidFill>
          <a:ln w="3175">
            <a:solidFill>
              <a:srgbClr val="FFE2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lumMod val="65000"/>
                    <a:lumOff val="35000"/>
                  </a:schemeClr>
                </a:solidFill>
                <a:latin typeface="Microsoft YaHei" pitchFamily="34" charset="-122"/>
                <a:ea typeface="Microsoft YaHei" pitchFamily="34" charset="-122"/>
              </a:rPr>
              <a:t>数据驱动</a:t>
            </a:r>
            <a:endParaRPr kumimoji="1" lang="zh-CN" altLang="en-US" dirty="0">
              <a:solidFill>
                <a:schemeClr val="tx1">
                  <a:lumMod val="65000"/>
                  <a:lumOff val="35000"/>
                </a:schemeClr>
              </a:solidFill>
              <a:latin typeface="Microsoft YaHei" pitchFamily="34" charset="-122"/>
              <a:ea typeface="Microsoft YaHei" pitchFamily="34" charset="-122"/>
            </a:endParaRPr>
          </a:p>
        </p:txBody>
      </p:sp>
      <p:sp>
        <p:nvSpPr>
          <p:cNvPr id="8" name="终止符 7"/>
          <p:cNvSpPr/>
          <p:nvPr/>
        </p:nvSpPr>
        <p:spPr>
          <a:xfrm>
            <a:off x="6814061" y="1979291"/>
            <a:ext cx="1703681" cy="523220"/>
          </a:xfrm>
          <a:prstGeom prst="flowChartTerminator">
            <a:avLst/>
          </a:prstGeom>
          <a:solidFill>
            <a:srgbClr val="FB8F95"/>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跨部门协作</a:t>
            </a:r>
            <a:endParaRPr kumimoji="1" lang="zh-CN" altLang="en-US" dirty="0">
              <a:latin typeface="Microsoft YaHei" pitchFamily="34" charset="-122"/>
              <a:ea typeface="Microsoft YaHei" pitchFamily="34" charset="-122"/>
            </a:endParaRPr>
          </a:p>
        </p:txBody>
      </p:sp>
      <p:sp>
        <p:nvSpPr>
          <p:cNvPr id="9" name="终止符 8"/>
          <p:cNvSpPr/>
          <p:nvPr/>
        </p:nvSpPr>
        <p:spPr>
          <a:xfrm>
            <a:off x="8469329" y="2471693"/>
            <a:ext cx="1703681" cy="523220"/>
          </a:xfrm>
          <a:prstGeom prst="flowChartTerminator">
            <a:avLst/>
          </a:prstGeom>
          <a:solidFill>
            <a:srgbClr val="F85659"/>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latin typeface="Microsoft YaHei" pitchFamily="34" charset="-122"/>
                <a:ea typeface="Microsoft YaHei" pitchFamily="34" charset="-122"/>
              </a:rPr>
              <a:t>AI</a:t>
            </a:r>
            <a:r>
              <a:rPr kumimoji="1" lang="zh-CN" altLang="en-US" dirty="0">
                <a:latin typeface="Microsoft YaHei" pitchFamily="34" charset="-122"/>
                <a:ea typeface="Microsoft YaHei" pitchFamily="34" charset="-122"/>
              </a:rPr>
              <a:t> </a:t>
            </a:r>
            <a:r>
              <a:rPr kumimoji="1" lang="en-US" altLang="zh-CN" dirty="0">
                <a:latin typeface="Microsoft YaHei" pitchFamily="34" charset="-122"/>
                <a:ea typeface="Microsoft YaHei" pitchFamily="34" charset="-122"/>
              </a:rPr>
              <a:t>agent</a:t>
            </a:r>
            <a:r>
              <a:rPr kumimoji="1" lang="zh-CN" altLang="en-US" dirty="0">
                <a:latin typeface="Microsoft YaHei" pitchFamily="34" charset="-122"/>
                <a:ea typeface="Microsoft YaHei" pitchFamily="34" charset="-122"/>
              </a:rPr>
              <a:t>落地</a:t>
            </a:r>
            <a:endParaRPr kumimoji="1" lang="zh-CN" altLang="en-US" dirty="0">
              <a:latin typeface="Microsoft YaHei" pitchFamily="34" charset="-122"/>
              <a:ea typeface="Microsoft YaHei" pitchFamily="34" charset="-122"/>
            </a:endParaRPr>
          </a:p>
        </p:txBody>
      </p:sp>
      <p:sp>
        <p:nvSpPr>
          <p:cNvPr id="10" name="文本框 9"/>
          <p:cNvSpPr txBox="1"/>
          <p:nvPr/>
        </p:nvSpPr>
        <p:spPr>
          <a:xfrm>
            <a:off x="6035784" y="5595648"/>
            <a:ext cx="6098458" cy="418128"/>
          </a:xfrm>
          <a:prstGeom prst="rect">
            <a:avLst/>
          </a:prstGeom>
          <a:noFill/>
        </p:spPr>
        <p:txBody>
          <a:bodyPr wrap="square">
            <a:spAutoFit/>
          </a:bodyPr>
          <a:lstStyle/>
          <a:p>
            <a:pPr fontAlgn="base">
              <a:lnSpc>
                <a:spcPct val="150000"/>
              </a:lnSpc>
              <a:spcBef>
                <a:spcPct val="0"/>
              </a:spcBef>
              <a:spcAft>
                <a:spcPct val="0"/>
              </a:spcAft>
            </a:pPr>
            <a:r>
              <a:rPr lang="zh-CN" altLang="en-US" sz="1600" dirty="0">
                <a:solidFill>
                  <a:srgbClr val="525353"/>
                </a:solidFill>
                <a:latin typeface="Microsoft YaHei" pitchFamily="34" charset="-122"/>
                <a:ea typeface="Microsoft YaHei" pitchFamily="34" charset="-122"/>
              </a:rPr>
              <a:t>担任运营统筹，负责新用户策略</a:t>
            </a:r>
            <a:r>
              <a:rPr lang="en-US" altLang="zh-CN" sz="1600" dirty="0">
                <a:solidFill>
                  <a:srgbClr val="525353"/>
                </a:solidFill>
                <a:latin typeface="Microsoft YaHei" pitchFamily="34" charset="-122"/>
                <a:ea typeface="Microsoft YaHei" pitchFamily="34" charset="-122"/>
              </a:rPr>
              <a:t>&amp;</a:t>
            </a:r>
            <a:r>
              <a:rPr lang="zh-CN" altLang="en-US" sz="1600" dirty="0">
                <a:solidFill>
                  <a:srgbClr val="525353"/>
                </a:solidFill>
                <a:latin typeface="Microsoft YaHei" pitchFamily="34" charset="-122"/>
                <a:ea typeface="Microsoft YaHei" pitchFamily="34" charset="-122"/>
              </a:rPr>
              <a:t>直播</a:t>
            </a:r>
            <a:r>
              <a:rPr lang="en-US" altLang="zh-CN" sz="1600" dirty="0">
                <a:solidFill>
                  <a:srgbClr val="525353"/>
                </a:solidFill>
                <a:latin typeface="Microsoft YaHei" pitchFamily="34" charset="-122"/>
                <a:ea typeface="Microsoft YaHei" pitchFamily="34" charset="-122"/>
              </a:rPr>
              <a:t>&amp;APP</a:t>
            </a:r>
            <a:r>
              <a:rPr lang="zh-CN" altLang="en-US" sz="1600" dirty="0">
                <a:solidFill>
                  <a:srgbClr val="525353"/>
                </a:solidFill>
                <a:latin typeface="Microsoft YaHei" pitchFamily="34" charset="-122"/>
                <a:ea typeface="Microsoft YaHei" pitchFamily="34" charset="-122"/>
              </a:rPr>
              <a:t>，</a:t>
            </a:r>
            <a:r>
              <a:rPr lang="en-US" altLang="zh-CN" sz="1600" dirty="0">
                <a:solidFill>
                  <a:srgbClr val="525353"/>
                </a:solidFill>
                <a:latin typeface="Microsoft YaHei" pitchFamily="34" charset="-122"/>
                <a:ea typeface="Microsoft YaHei" pitchFamily="34" charset="-122"/>
              </a:rPr>
              <a:t>AI</a:t>
            </a:r>
            <a:r>
              <a:rPr lang="zh-CN" altLang="en-US" sz="1600" dirty="0">
                <a:solidFill>
                  <a:srgbClr val="525353"/>
                </a:solidFill>
                <a:latin typeface="Microsoft YaHei" pitchFamily="34" charset="-122"/>
                <a:ea typeface="Microsoft YaHei" pitchFamily="34" charset="-122"/>
              </a:rPr>
              <a:t>跨部门协同落地</a:t>
            </a:r>
            <a:endParaRPr lang="zh-CN" altLang="en-US" sz="1600" dirty="0">
              <a:solidFill>
                <a:srgbClr val="525353"/>
              </a:solidFill>
              <a:latin typeface="Microsoft YaHei" pitchFamily="34" charset="-122"/>
              <a:ea typeface="Microsoft YaHei" pitchFamily="34" charset="-122"/>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691935" y="2312723"/>
            <a:ext cx="9992995" cy="1783715"/>
            <a:chOff x="2210" y="4957"/>
            <a:chExt cx="15737" cy="2809"/>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dirty="0">
                  <a:solidFill>
                    <a:srgbClr val="F63643"/>
                  </a:solidFill>
                  <a:latin typeface="微软雅黑" charset="-122"/>
                  <a:ea typeface="微软雅黑" charset="-122"/>
                  <a:cs typeface="DIN Alternate" panose="020B0500000000000000" charset="0"/>
                </a:rPr>
                <a:t>02</a:t>
              </a:r>
              <a:endParaRPr lang="en-US" altLang="zh-CN" sz="11000" b="1" dirty="0">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122"/>
                <a:ea typeface="微软雅黑" charset="-122"/>
              </a:endParaRPr>
            </a:p>
          </p:txBody>
        </p:sp>
        <p:sp>
          <p:nvSpPr>
            <p:cNvPr id="4" name="文本框 3"/>
            <p:cNvSpPr txBox="1"/>
            <p:nvPr>
              <p:custDataLst>
                <p:tags r:id="rId3"/>
              </p:custDataLst>
            </p:nvPr>
          </p:nvSpPr>
          <p:spPr>
            <a:xfrm>
              <a:off x="5588" y="5493"/>
              <a:ext cx="12359" cy="1452"/>
            </a:xfrm>
            <a:prstGeom prst="rect">
              <a:avLst/>
            </a:prstGeom>
            <a:noFill/>
          </p:spPr>
          <p:txBody>
            <a:bodyPr wrap="square" rtlCol="0">
              <a:spAutoFit/>
            </a:bodyPr>
            <a:lstStyle/>
            <a:p>
              <a:r>
                <a:rPr lang="zh-CN" altLang="en-US" sz="5400" b="1" dirty="0">
                  <a:latin typeface="微软雅黑" charset="-122"/>
                  <a:ea typeface="微软雅黑" charset="-122"/>
                </a:rPr>
                <a:t>业绩贡献</a:t>
              </a:r>
              <a:endParaRPr lang="zh-CN" altLang="en-US" sz="5400" b="1" dirty="0">
                <a:latin typeface="微软雅黑" charset="-122"/>
                <a:ea typeface="微软雅黑" charset="-122"/>
              </a:endParaRPr>
            </a:p>
          </p:txBody>
        </p:sp>
      </p:gr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85247" y="1273339"/>
            <a:ext cx="10628243" cy="2130518"/>
          </a:xfrm>
          <a:prstGeom prst="roundRect">
            <a:avLst>
              <a:gd name="adj" fmla="val 7072"/>
            </a:avLst>
          </a:prstGeom>
          <a:gradFill>
            <a:gsLst>
              <a:gs pos="0">
                <a:srgbClr val="D60615">
                  <a:alpha val="3041"/>
                </a:srgbClr>
              </a:gs>
              <a:gs pos="99425">
                <a:schemeClr val="accent1">
                  <a:alpha val="7062"/>
                </a:schemeClr>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icrosoft YaHei" pitchFamily="34" charset="-122"/>
              <a:ea typeface="Microsoft YaHei" pitchFamily="34" charset="-122"/>
            </a:endParaRPr>
          </a:p>
        </p:txBody>
      </p:sp>
      <p:sp>
        <p:nvSpPr>
          <p:cNvPr id="3" name="圆角矩形 2"/>
          <p:cNvSpPr/>
          <p:nvPr/>
        </p:nvSpPr>
        <p:spPr>
          <a:xfrm>
            <a:off x="1030609" y="1812669"/>
            <a:ext cx="4667808" cy="1465543"/>
          </a:xfrm>
          <a:prstGeom prst="roundRect">
            <a:avLst>
              <a:gd name="adj" fmla="val 7072"/>
            </a:avLst>
          </a:prstGeom>
          <a:gradFill>
            <a:gsLst>
              <a:gs pos="0">
                <a:srgbClr val="FEFEFE"/>
              </a:gs>
              <a:gs pos="99425">
                <a:srgbClr val="FFFFFF"/>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4" name="圆角矩形 3"/>
          <p:cNvSpPr/>
          <p:nvPr/>
        </p:nvSpPr>
        <p:spPr>
          <a:xfrm>
            <a:off x="6116416" y="1810135"/>
            <a:ext cx="5157914" cy="1465543"/>
          </a:xfrm>
          <a:prstGeom prst="roundRect">
            <a:avLst>
              <a:gd name="adj" fmla="val 7072"/>
            </a:avLst>
          </a:prstGeom>
          <a:gradFill>
            <a:gsLst>
              <a:gs pos="0">
                <a:srgbClr val="FEFEFE"/>
              </a:gs>
              <a:gs pos="99425">
                <a:srgbClr val="FFFFFF"/>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5" name="圆角矩形 4"/>
          <p:cNvSpPr/>
          <p:nvPr/>
        </p:nvSpPr>
        <p:spPr>
          <a:xfrm>
            <a:off x="802294" y="3608608"/>
            <a:ext cx="10628243" cy="2130518"/>
          </a:xfrm>
          <a:prstGeom prst="roundRect">
            <a:avLst>
              <a:gd name="adj" fmla="val 7072"/>
            </a:avLst>
          </a:prstGeom>
          <a:gradFill>
            <a:gsLst>
              <a:gs pos="0">
                <a:srgbClr val="D60615">
                  <a:alpha val="3041"/>
                </a:srgbClr>
              </a:gs>
              <a:gs pos="99425">
                <a:schemeClr val="accent1">
                  <a:alpha val="7062"/>
                </a:schemeClr>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6" name="圆角矩形 5"/>
          <p:cNvSpPr/>
          <p:nvPr/>
        </p:nvSpPr>
        <p:spPr>
          <a:xfrm>
            <a:off x="1043145" y="4154320"/>
            <a:ext cx="4667808" cy="1465543"/>
          </a:xfrm>
          <a:prstGeom prst="roundRect">
            <a:avLst>
              <a:gd name="adj" fmla="val 7072"/>
            </a:avLst>
          </a:prstGeom>
          <a:gradFill>
            <a:gsLst>
              <a:gs pos="0">
                <a:srgbClr val="FEFEFE"/>
              </a:gs>
              <a:gs pos="99425">
                <a:srgbClr val="FFFFFF"/>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7" name="圆角矩形 6"/>
          <p:cNvSpPr/>
          <p:nvPr/>
        </p:nvSpPr>
        <p:spPr>
          <a:xfrm>
            <a:off x="6133463" y="4145404"/>
            <a:ext cx="5157914" cy="1465543"/>
          </a:xfrm>
          <a:prstGeom prst="roundRect">
            <a:avLst>
              <a:gd name="adj" fmla="val 7072"/>
            </a:avLst>
          </a:prstGeom>
          <a:gradFill>
            <a:gsLst>
              <a:gs pos="0">
                <a:srgbClr val="FEFEFE"/>
              </a:gs>
              <a:gs pos="99425">
                <a:srgbClr val="FFFFFF"/>
              </a:gs>
            </a:gsLst>
            <a:lin ang="10800000" scaled="0"/>
          </a:gradFill>
          <a:ln w="19050">
            <a:solidFill>
              <a:srgbClr val="B397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6" name="textbox 36"/>
          <p:cNvSpPr/>
          <p:nvPr/>
        </p:nvSpPr>
        <p:spPr>
          <a:xfrm>
            <a:off x="550863" y="424659"/>
            <a:ext cx="9104571" cy="509477"/>
          </a:xfrm>
          <a:prstGeom prst="rect">
            <a:avLst/>
          </a:prstGeom>
          <a:noFill/>
          <a:ln w="0" cap="flat">
            <a:noFill/>
            <a:prstDash val="solid"/>
            <a:miter lim="0"/>
          </a:ln>
        </p:spPr>
        <p:txBody>
          <a:bodyPr vert="horz" wrap="square" lIns="0" tIns="0" rIns="0" bIns="0"/>
          <a:lstStyle/>
          <a:p>
            <a:pPr marL="8890" eaLnBrk="0">
              <a:lnSpc>
                <a:spcPct val="96000"/>
              </a:lnSpc>
            </a:pPr>
            <a:r>
              <a:rPr sz="3200" b="1" kern="0" spc="42" dirty="0" err="1">
                <a:solidFill>
                  <a:srgbClr val="000000">
                    <a:alpha val="100000"/>
                  </a:srgbClr>
                </a:solidFill>
                <a:latin typeface="+mj-ea"/>
                <a:ea typeface="+mj-ea"/>
                <a:cs typeface="黑体"/>
              </a:rPr>
              <a:t>业务诊断：结构性问题制约用户</a:t>
            </a:r>
            <a:r>
              <a:rPr sz="3200" b="1" kern="0" spc="35" dirty="0" err="1">
                <a:solidFill>
                  <a:srgbClr val="000000">
                    <a:alpha val="100000"/>
                  </a:srgbClr>
                </a:solidFill>
                <a:latin typeface="+mj-ea"/>
                <a:ea typeface="+mj-ea"/>
                <a:cs typeface="黑体"/>
              </a:rPr>
              <a:t>价值最大化</a:t>
            </a:r>
            <a:endParaRPr sz="3200" b="1" dirty="0">
              <a:latin typeface="+mj-ea"/>
              <a:ea typeface="+mj-ea"/>
              <a:cs typeface="黑体"/>
            </a:endParaRPr>
          </a:p>
        </p:txBody>
      </p:sp>
      <p:sp>
        <p:nvSpPr>
          <p:cNvPr id="28" name="textbox 28"/>
          <p:cNvSpPr/>
          <p:nvPr/>
        </p:nvSpPr>
        <p:spPr>
          <a:xfrm>
            <a:off x="1163032" y="1375167"/>
            <a:ext cx="4535385" cy="1790700"/>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Microsoft YaHei" pitchFamily="34" charset="-122"/>
              <a:ea typeface="Microsoft YaHei" pitchFamily="34" charset="-122"/>
              <a:cs typeface="Arial" panose="020B0604020202090204"/>
            </a:endParaRPr>
          </a:p>
          <a:p>
            <a:pPr marL="8890" eaLnBrk="0">
              <a:lnSpc>
                <a:spcPct val="93000"/>
              </a:lnSpc>
            </a:pPr>
            <a:r>
              <a:rPr sz="2095" b="1" kern="0" spc="56" dirty="0" err="1">
                <a:solidFill>
                  <a:srgbClr val="000000">
                    <a:alpha val="100000"/>
                  </a:srgbClr>
                </a:solidFill>
                <a:latin typeface="Microsoft YaHei" pitchFamily="34" charset="-122"/>
                <a:ea typeface="Microsoft YaHei" pitchFamily="34" charset="-122"/>
                <a:cs typeface="黑体"/>
              </a:rPr>
              <a:t>业务</a:t>
            </a:r>
            <a:r>
              <a:rPr lang="zh-CN" altLang="en-US" sz="2095" b="1" kern="0" spc="56" dirty="0">
                <a:solidFill>
                  <a:srgbClr val="000000">
                    <a:alpha val="100000"/>
                  </a:srgbClr>
                </a:solidFill>
                <a:latin typeface="Microsoft YaHei" pitchFamily="34" charset="-122"/>
                <a:ea typeface="Microsoft YaHei" pitchFamily="34" charset="-122"/>
                <a:cs typeface="黑体"/>
              </a:rPr>
              <a:t>营收</a:t>
            </a:r>
            <a:r>
              <a:rPr sz="2095" b="1" kern="0" spc="56" dirty="0" err="1">
                <a:solidFill>
                  <a:srgbClr val="000000">
                    <a:alpha val="100000"/>
                  </a:srgbClr>
                </a:solidFill>
                <a:latin typeface="Microsoft YaHei" pitchFamily="34" charset="-122"/>
                <a:ea typeface="Microsoft YaHei" pitchFamily="34" charset="-122"/>
                <a:cs typeface="黑体"/>
              </a:rPr>
              <a:t>问题</a:t>
            </a:r>
            <a:r>
              <a:rPr sz="2095" b="1" kern="0" spc="-251" dirty="0">
                <a:solidFill>
                  <a:srgbClr val="000000">
                    <a:alpha val="100000"/>
                  </a:srgbClr>
                </a:solidFill>
                <a:latin typeface="Microsoft YaHei" pitchFamily="34" charset="-122"/>
                <a:ea typeface="Microsoft YaHei" pitchFamily="34" charset="-122"/>
                <a:cs typeface="黑体"/>
              </a:rPr>
              <a:t> </a:t>
            </a:r>
            <a:r>
              <a:rPr sz="2095" b="1" kern="0" spc="56" dirty="0">
                <a:solidFill>
                  <a:srgbClr val="000000">
                    <a:alpha val="100000"/>
                  </a:srgbClr>
                </a:solidFill>
                <a:latin typeface="Microsoft YaHei" pitchFamily="34" charset="-122"/>
                <a:ea typeface="Microsoft YaHei" pitchFamily="34" charset="-122"/>
                <a:cs typeface="Arial" panose="020B0604020202090204"/>
              </a:rPr>
              <a:t>(</a:t>
            </a:r>
            <a:r>
              <a:rPr sz="2095" b="1" kern="0" dirty="0">
                <a:solidFill>
                  <a:srgbClr val="000000">
                    <a:alpha val="100000"/>
                  </a:srgbClr>
                </a:solidFill>
                <a:latin typeface="Microsoft YaHei" pitchFamily="34" charset="-122"/>
                <a:ea typeface="Microsoft YaHei" pitchFamily="34" charset="-122"/>
                <a:cs typeface="Arial" panose="020B0604020202090204"/>
              </a:rPr>
              <a:t>GM</a:t>
            </a:r>
            <a:r>
              <a:rPr lang="en-US" altLang="zh-CN" sz="2095" b="1" kern="0" dirty="0">
                <a:solidFill>
                  <a:srgbClr val="000000">
                    <a:alpha val="100000"/>
                  </a:srgbClr>
                </a:solidFill>
                <a:latin typeface="Microsoft YaHei" pitchFamily="34" charset="-122"/>
                <a:ea typeface="Microsoft YaHei" pitchFamily="34" charset="-122"/>
                <a:cs typeface="Arial" panose="020B0604020202090204"/>
              </a:rPr>
              <a:t>V </a:t>
            </a:r>
            <a:r>
              <a:rPr lang="zh-CN" altLang="en-US" sz="2095" b="1" kern="0" spc="56" dirty="0">
                <a:solidFill>
                  <a:srgbClr val="000000">
                    <a:alpha val="100000"/>
                  </a:srgbClr>
                </a:solidFill>
                <a:latin typeface="Microsoft YaHei" pitchFamily="34" charset="-122"/>
                <a:ea typeface="Microsoft YaHei" pitchFamily="34" charset="-122"/>
                <a:cs typeface="黑体"/>
              </a:rPr>
              <a:t>提升瓶颈</a:t>
            </a:r>
            <a:r>
              <a:rPr sz="2095" b="1" kern="0" spc="49" dirty="0">
                <a:solidFill>
                  <a:srgbClr val="000000">
                    <a:alpha val="100000"/>
                  </a:srgbClr>
                </a:solidFill>
                <a:latin typeface="Microsoft YaHei" pitchFamily="34" charset="-122"/>
                <a:ea typeface="Microsoft YaHei" pitchFamily="34" charset="-122"/>
                <a:cs typeface="黑体"/>
              </a:rPr>
              <a:t>)</a:t>
            </a:r>
            <a:endParaRPr sz="2095" b="1" dirty="0">
              <a:latin typeface="Microsoft YaHei" pitchFamily="34" charset="-122"/>
              <a:ea typeface="Microsoft YaHei" pitchFamily="34" charset="-122"/>
              <a:cs typeface="黑体"/>
            </a:endParaRPr>
          </a:p>
          <a:p>
            <a:pPr algn="l" rtl="0" eaLnBrk="0">
              <a:lnSpc>
                <a:spcPct val="113000"/>
              </a:lnSpc>
            </a:pPr>
            <a:endParaRPr sz="700" dirty="0">
              <a:latin typeface="Microsoft YaHei" pitchFamily="34" charset="-122"/>
              <a:ea typeface="Microsoft YaHei" pitchFamily="34" charset="-122"/>
              <a:cs typeface="Arial" panose="020B0604020202090204"/>
            </a:endParaRPr>
          </a:p>
          <a:p>
            <a:pPr algn="l" rtl="0" eaLnBrk="0">
              <a:lnSpc>
                <a:spcPct val="113000"/>
              </a:lnSpc>
            </a:pPr>
            <a:endParaRPr sz="700" dirty="0">
              <a:latin typeface="Microsoft YaHei" pitchFamily="34" charset="-122"/>
              <a:ea typeface="Microsoft YaHei" pitchFamily="34" charset="-122"/>
              <a:cs typeface="Arial" panose="020B0604020202090204"/>
            </a:endParaRPr>
          </a:p>
          <a:p>
            <a:pPr marL="176530" eaLnBrk="0">
              <a:lnSpc>
                <a:spcPct val="97000"/>
              </a:lnSpc>
              <a:spcBef>
                <a:spcPts val="525"/>
              </a:spcBef>
            </a:pPr>
            <a:r>
              <a:rPr kern="0" spc="14" dirty="0" err="1">
                <a:solidFill>
                  <a:srgbClr val="000000">
                    <a:alpha val="100000"/>
                  </a:srgbClr>
                </a:solidFill>
                <a:latin typeface="Microsoft YaHei" pitchFamily="34" charset="-122"/>
                <a:ea typeface="Microsoft YaHei" pitchFamily="34" charset="-122"/>
                <a:cs typeface="黑体"/>
              </a:rPr>
              <a:t>直播产值：营收未达效率最大化</a:t>
            </a:r>
            <a:endParaRPr dirty="0">
              <a:latin typeface="Microsoft YaHei" pitchFamily="34" charset="-122"/>
              <a:ea typeface="Microsoft YaHei" pitchFamily="34" charset="-122"/>
              <a:cs typeface="黑体"/>
            </a:endParaRPr>
          </a:p>
          <a:p>
            <a:pPr algn="l" rtl="0" eaLnBrk="0">
              <a:lnSpc>
                <a:spcPct val="137000"/>
              </a:lnSpc>
            </a:pPr>
            <a:endParaRPr sz="700" dirty="0">
              <a:latin typeface="Microsoft YaHei" pitchFamily="34" charset="-122"/>
              <a:ea typeface="Microsoft YaHei" pitchFamily="34" charset="-122"/>
              <a:cs typeface="Arial" panose="020B0604020202090204"/>
            </a:endParaRPr>
          </a:p>
          <a:p>
            <a:pPr algn="l" rtl="0" eaLnBrk="0">
              <a:lnSpc>
                <a:spcPct val="138000"/>
              </a:lnSpc>
            </a:pPr>
            <a:endParaRPr sz="700" dirty="0">
              <a:latin typeface="Microsoft YaHei" pitchFamily="34" charset="-122"/>
              <a:ea typeface="Microsoft YaHei" pitchFamily="34" charset="-122"/>
              <a:cs typeface="Arial" panose="020B0604020202090204"/>
            </a:endParaRPr>
          </a:p>
          <a:p>
            <a:pPr algn="l" rtl="0" eaLnBrk="0">
              <a:lnSpc>
                <a:spcPct val="133000"/>
              </a:lnSpc>
            </a:pPr>
            <a:endParaRPr lang="en-US" altLang="zh-CN" sz="700" dirty="0">
              <a:latin typeface="Microsoft YaHei" pitchFamily="34" charset="-122"/>
              <a:ea typeface="Microsoft YaHei" pitchFamily="34" charset="-122"/>
              <a:cs typeface="Arial" panose="020B0604020202090204"/>
            </a:endParaRPr>
          </a:p>
          <a:p>
            <a:pPr algn="l" rtl="0" eaLnBrk="0">
              <a:lnSpc>
                <a:spcPct val="133000"/>
              </a:lnSpc>
            </a:pPr>
            <a:endParaRPr lang="zh-CN" altLang="en-US" sz="700" dirty="0">
              <a:latin typeface="Microsoft YaHei" pitchFamily="34" charset="-122"/>
              <a:ea typeface="Microsoft YaHei" pitchFamily="34" charset="-122"/>
              <a:cs typeface="Arial" panose="020B0604020202090204"/>
            </a:endParaRPr>
          </a:p>
          <a:p>
            <a:pPr algn="l" rtl="0" eaLnBrk="0">
              <a:lnSpc>
                <a:spcPct val="100000"/>
              </a:lnSpc>
            </a:pPr>
            <a:endParaRPr lang="zh-CN" altLang="en-US" sz="280" dirty="0">
              <a:latin typeface="Microsoft YaHei" pitchFamily="34" charset="-122"/>
              <a:ea typeface="Microsoft YaHei" pitchFamily="34" charset="-122"/>
              <a:cs typeface="Arial" panose="020B0604020202090204"/>
            </a:endParaRPr>
          </a:p>
        </p:txBody>
      </p:sp>
      <p:sp>
        <p:nvSpPr>
          <p:cNvPr id="30" name="textbox 30"/>
          <p:cNvSpPr/>
          <p:nvPr/>
        </p:nvSpPr>
        <p:spPr>
          <a:xfrm>
            <a:off x="1163032" y="3713180"/>
            <a:ext cx="8297383" cy="843516"/>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Microsoft YaHei" pitchFamily="34" charset="-122"/>
              <a:ea typeface="Microsoft YaHei" pitchFamily="34" charset="-122"/>
              <a:cs typeface="Arial" panose="020B0604020202090204"/>
            </a:endParaRPr>
          </a:p>
          <a:p>
            <a:pPr marL="8890" eaLnBrk="0">
              <a:lnSpc>
                <a:spcPct val="97000"/>
              </a:lnSpc>
            </a:pPr>
            <a:r>
              <a:rPr lang="zh-CN" altLang="en-US" sz="2095" b="1" kern="0" spc="133" dirty="0">
                <a:solidFill>
                  <a:srgbClr val="000000">
                    <a:alpha val="100000"/>
                  </a:srgbClr>
                </a:solidFill>
                <a:latin typeface="Microsoft YaHei" pitchFamily="34" charset="-122"/>
                <a:ea typeface="Microsoft YaHei" pitchFamily="34" charset="-122"/>
                <a:cs typeface="黑体"/>
              </a:rPr>
              <a:t>留存</a:t>
            </a:r>
            <a:r>
              <a:rPr lang="en-US" altLang="zh-CN" sz="2095" b="1" kern="0" spc="133" dirty="0">
                <a:solidFill>
                  <a:srgbClr val="000000">
                    <a:alpha val="100000"/>
                  </a:srgbClr>
                </a:solidFill>
                <a:latin typeface="Microsoft YaHei" pitchFamily="34" charset="-122"/>
                <a:ea typeface="Microsoft YaHei" pitchFamily="34" charset="-122"/>
                <a:cs typeface="黑体"/>
              </a:rPr>
              <a:t>&amp;</a:t>
            </a:r>
            <a:r>
              <a:rPr sz="2095" b="1" kern="0" spc="133" dirty="0" err="1">
                <a:solidFill>
                  <a:srgbClr val="000000">
                    <a:alpha val="100000"/>
                  </a:srgbClr>
                </a:solidFill>
                <a:latin typeface="Microsoft YaHei" pitchFamily="34" charset="-122"/>
                <a:ea typeface="Microsoft YaHei" pitchFamily="34" charset="-122"/>
                <a:cs typeface="黑体"/>
              </a:rPr>
              <a:t>效率问题</a:t>
            </a:r>
            <a:r>
              <a:rPr sz="2095" b="1" kern="0" spc="133" dirty="0">
                <a:solidFill>
                  <a:srgbClr val="000000">
                    <a:alpha val="100000"/>
                  </a:srgbClr>
                </a:solidFill>
                <a:latin typeface="Microsoft YaHei" pitchFamily="34" charset="-122"/>
                <a:ea typeface="Microsoft YaHei" pitchFamily="34" charset="-122"/>
                <a:cs typeface="黑体"/>
              </a:rPr>
              <a:t>(系统性损耗)</a:t>
            </a:r>
            <a:endParaRPr sz="2095" b="1" dirty="0">
              <a:latin typeface="Microsoft YaHei" pitchFamily="34" charset="-122"/>
              <a:ea typeface="Microsoft YaHei" pitchFamily="34" charset="-122"/>
              <a:cs typeface="黑体"/>
            </a:endParaRPr>
          </a:p>
          <a:p>
            <a:pPr algn="l" rtl="0" eaLnBrk="0">
              <a:lnSpc>
                <a:spcPct val="171000"/>
              </a:lnSpc>
            </a:pPr>
            <a:endParaRPr sz="700" dirty="0">
              <a:latin typeface="Microsoft YaHei" pitchFamily="34" charset="-122"/>
              <a:ea typeface="Microsoft YaHei" pitchFamily="34" charset="-122"/>
              <a:cs typeface="Arial" panose="020B0604020202090204"/>
            </a:endParaRPr>
          </a:p>
          <a:p>
            <a:pPr algn="l" rtl="0" eaLnBrk="0">
              <a:lnSpc>
                <a:spcPct val="104000"/>
              </a:lnSpc>
            </a:pPr>
            <a:endParaRPr sz="420" dirty="0">
              <a:latin typeface="Microsoft YaHei" pitchFamily="34" charset="-122"/>
              <a:ea typeface="Microsoft YaHei" pitchFamily="34" charset="-122"/>
              <a:cs typeface="Arial" panose="020B0604020202090204"/>
            </a:endParaRPr>
          </a:p>
          <a:p>
            <a:pPr marL="172085" eaLnBrk="0">
              <a:lnSpc>
                <a:spcPts val="2110"/>
              </a:lnSpc>
            </a:pPr>
            <a:r>
              <a:rPr sz="1745" kern="0" spc="7" dirty="0" err="1">
                <a:solidFill>
                  <a:srgbClr val="000000">
                    <a:alpha val="100000"/>
                  </a:srgbClr>
                </a:solidFill>
                <a:latin typeface="Microsoft YaHei" pitchFamily="34" charset="-122"/>
                <a:ea typeface="Microsoft YaHei" pitchFamily="34" charset="-122"/>
                <a:cs typeface="黑体"/>
              </a:rPr>
              <a:t>用户留存：用户信任持续消耗</a:t>
            </a:r>
            <a:endParaRPr sz="1745" dirty="0">
              <a:latin typeface="Microsoft YaHei" pitchFamily="34" charset="-122"/>
              <a:ea typeface="Microsoft YaHei" pitchFamily="34" charset="-122"/>
              <a:cs typeface="黑体"/>
            </a:endParaRPr>
          </a:p>
        </p:txBody>
      </p:sp>
      <p:sp>
        <p:nvSpPr>
          <p:cNvPr id="34" name="textbox 34"/>
          <p:cNvSpPr/>
          <p:nvPr/>
        </p:nvSpPr>
        <p:spPr>
          <a:xfrm>
            <a:off x="6362037" y="1973691"/>
            <a:ext cx="4773133" cy="1192176"/>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Microsoft YaHei" pitchFamily="34" charset="-122"/>
              <a:ea typeface="Microsoft YaHei" pitchFamily="34" charset="-122"/>
              <a:cs typeface="Arial" panose="020B0604020202090204"/>
            </a:endParaRPr>
          </a:p>
          <a:p>
            <a:pPr marL="9525" eaLnBrk="0">
              <a:lnSpc>
                <a:spcPct val="97000"/>
              </a:lnSpc>
            </a:pPr>
            <a:r>
              <a:rPr kern="0" spc="-7" dirty="0">
                <a:solidFill>
                  <a:srgbClr val="000000">
                    <a:alpha val="100000"/>
                  </a:srgbClr>
                </a:solidFill>
                <a:latin typeface="Microsoft YaHei" pitchFamily="34" charset="-122"/>
                <a:ea typeface="Microsoft YaHei" pitchFamily="34" charset="-122"/>
                <a:cs typeface="宋体"/>
              </a:rPr>
              <a:t>APP</a:t>
            </a:r>
            <a:r>
              <a:rPr lang="zh-CN" altLang="en-US" kern="0" spc="272" dirty="0">
                <a:solidFill>
                  <a:srgbClr val="000000">
                    <a:alpha val="100000"/>
                  </a:srgbClr>
                </a:solidFill>
                <a:latin typeface="Microsoft YaHei" pitchFamily="34" charset="-122"/>
                <a:ea typeface="Microsoft YaHei" pitchFamily="34" charset="-122"/>
                <a:cs typeface="宋体"/>
              </a:rPr>
              <a:t> </a:t>
            </a:r>
            <a:r>
              <a:rPr lang="zh-CN" altLang="en-US" kern="0" spc="-7" dirty="0">
                <a:solidFill>
                  <a:srgbClr val="000000">
                    <a:alpha val="100000"/>
                  </a:srgbClr>
                </a:solidFill>
                <a:latin typeface="Microsoft YaHei" pitchFamily="34" charset="-122"/>
                <a:ea typeface="Microsoft YaHei" pitchFamily="34" charset="-122"/>
                <a:cs typeface="黑体"/>
              </a:rPr>
              <a:t>商业化</a:t>
            </a:r>
            <a:r>
              <a:rPr kern="0" spc="-7" dirty="0">
                <a:solidFill>
                  <a:srgbClr val="000000">
                    <a:alpha val="100000"/>
                  </a:srgbClr>
                </a:solidFill>
                <a:latin typeface="Microsoft YaHei" pitchFamily="34" charset="-122"/>
                <a:ea typeface="Microsoft YaHei" pitchFamily="34" charset="-122"/>
                <a:cs typeface="黑体"/>
              </a:rPr>
              <a:t>：</a:t>
            </a:r>
            <a:r>
              <a:rPr lang="zh-CN" altLang="en-US" kern="0" spc="-7" dirty="0">
                <a:solidFill>
                  <a:srgbClr val="000000">
                    <a:alpha val="100000"/>
                  </a:srgbClr>
                </a:solidFill>
                <a:latin typeface="Microsoft YaHei" pitchFamily="34" charset="-122"/>
                <a:ea typeface="Microsoft YaHei" pitchFamily="34" charset="-122"/>
                <a:cs typeface="黑体"/>
              </a:rPr>
              <a:t>资源位</a:t>
            </a:r>
            <a:r>
              <a:rPr kern="0" spc="-7" dirty="0" err="1">
                <a:solidFill>
                  <a:srgbClr val="000000">
                    <a:alpha val="100000"/>
                  </a:srgbClr>
                </a:solidFill>
                <a:latin typeface="Microsoft YaHei" pitchFamily="34" charset="-122"/>
                <a:ea typeface="Microsoft YaHei" pitchFamily="34" charset="-122"/>
                <a:cs typeface="黑体"/>
              </a:rPr>
              <a:t>分配效率低</a:t>
            </a:r>
            <a:r>
              <a:rPr kern="0" spc="-14" dirty="0" err="1">
                <a:solidFill>
                  <a:srgbClr val="000000">
                    <a:alpha val="100000"/>
                  </a:srgbClr>
                </a:solidFill>
                <a:latin typeface="Microsoft YaHei" pitchFamily="34" charset="-122"/>
                <a:ea typeface="Microsoft YaHei" pitchFamily="34" charset="-122"/>
                <a:cs typeface="黑体"/>
              </a:rPr>
              <a:t>下</a:t>
            </a:r>
            <a:endParaRPr dirty="0">
              <a:latin typeface="Microsoft YaHei" pitchFamily="34" charset="-122"/>
              <a:ea typeface="Microsoft YaHei" pitchFamily="34" charset="-122"/>
              <a:cs typeface="黑体"/>
            </a:endParaRPr>
          </a:p>
          <a:p>
            <a:pPr algn="l" rtl="0" eaLnBrk="0">
              <a:lnSpc>
                <a:spcPct val="138000"/>
              </a:lnSpc>
            </a:pPr>
            <a:endParaRPr sz="700" dirty="0">
              <a:latin typeface="Microsoft YaHei" pitchFamily="34" charset="-122"/>
              <a:ea typeface="Microsoft YaHei" pitchFamily="34" charset="-122"/>
              <a:cs typeface="Arial" panose="020B0604020202090204"/>
            </a:endParaRPr>
          </a:p>
          <a:p>
            <a:pPr algn="l" rtl="0" eaLnBrk="0">
              <a:lnSpc>
                <a:spcPct val="138000"/>
              </a:lnSpc>
            </a:pPr>
            <a:r>
              <a:rPr lang="zh-CN" altLang="en-US" sz="700" dirty="0">
                <a:latin typeface="Microsoft YaHei" pitchFamily="34" charset="-122"/>
                <a:ea typeface="Microsoft YaHei" pitchFamily="34" charset="-122"/>
                <a:cs typeface="Arial" panose="020B0604020202090204"/>
              </a:rPr>
              <a:t>   </a:t>
            </a:r>
            <a:endParaRPr sz="700" dirty="0">
              <a:latin typeface="Microsoft YaHei" pitchFamily="34" charset="-122"/>
              <a:ea typeface="Microsoft YaHei" pitchFamily="34" charset="-122"/>
              <a:cs typeface="Arial" panose="020B0604020202090204"/>
            </a:endParaRPr>
          </a:p>
          <a:p>
            <a:pPr algn="l" rtl="0" eaLnBrk="0">
              <a:lnSpc>
                <a:spcPct val="134000"/>
              </a:lnSpc>
            </a:pPr>
            <a:endParaRPr lang="en-US" sz="700" dirty="0">
              <a:latin typeface="Microsoft YaHei" pitchFamily="34" charset="-122"/>
              <a:ea typeface="Microsoft YaHei" pitchFamily="34" charset="-122"/>
              <a:cs typeface="Arial" panose="020B0604020202090204"/>
            </a:endParaRPr>
          </a:p>
          <a:p>
            <a:pPr algn="l" rtl="0" eaLnBrk="0">
              <a:lnSpc>
                <a:spcPct val="134000"/>
              </a:lnSpc>
            </a:pPr>
            <a:endParaRPr lang="en-US" sz="700" dirty="0">
              <a:latin typeface="Microsoft YaHei" pitchFamily="34" charset="-122"/>
              <a:ea typeface="Microsoft YaHei" pitchFamily="34" charset="-122"/>
              <a:cs typeface="Arial" panose="020B0604020202090204"/>
            </a:endParaRPr>
          </a:p>
          <a:p>
            <a:pPr algn="l" rtl="0" eaLnBrk="0">
              <a:lnSpc>
                <a:spcPct val="134000"/>
              </a:lnSpc>
            </a:pPr>
            <a:endParaRPr sz="700" dirty="0">
              <a:latin typeface="Microsoft YaHei" pitchFamily="34" charset="-122"/>
              <a:ea typeface="Microsoft YaHei" pitchFamily="34" charset="-122"/>
              <a:cs typeface="Arial" panose="020B0604020202090204"/>
            </a:endParaRPr>
          </a:p>
          <a:p>
            <a:pPr algn="l" rtl="0" eaLnBrk="0">
              <a:lnSpc>
                <a:spcPct val="101000"/>
              </a:lnSpc>
            </a:pPr>
            <a:endParaRPr sz="280" dirty="0">
              <a:latin typeface="Microsoft YaHei" pitchFamily="34" charset="-122"/>
              <a:ea typeface="Microsoft YaHei" pitchFamily="34" charset="-122"/>
              <a:cs typeface="Arial" panose="020B0604020202090204"/>
            </a:endParaRPr>
          </a:p>
        </p:txBody>
      </p:sp>
      <p:sp>
        <p:nvSpPr>
          <p:cNvPr id="40" name="textbox 40"/>
          <p:cNvSpPr/>
          <p:nvPr/>
        </p:nvSpPr>
        <p:spPr>
          <a:xfrm>
            <a:off x="1325118" y="4895899"/>
            <a:ext cx="3852530" cy="582576"/>
          </a:xfrm>
          <a:prstGeom prst="rect">
            <a:avLst/>
          </a:prstGeom>
          <a:noFill/>
          <a:ln w="0" cap="flat">
            <a:noFill/>
            <a:prstDash val="solid"/>
            <a:miter lim="0"/>
          </a:ln>
        </p:spPr>
        <p:txBody>
          <a:bodyPr vert="horz" wrap="square" lIns="0" tIns="0" rIns="0" bIns="0"/>
          <a:lstStyle/>
          <a:p>
            <a:pPr algn="l" rtl="0" eaLnBrk="0">
              <a:lnSpc>
                <a:spcPct val="86000"/>
              </a:lnSpc>
            </a:pPr>
            <a:endParaRPr sz="1115" dirty="0">
              <a:latin typeface="Microsoft YaHei" pitchFamily="34" charset="-122"/>
              <a:ea typeface="Microsoft YaHei" pitchFamily="34" charset="-122"/>
              <a:cs typeface="黑体"/>
            </a:endParaRPr>
          </a:p>
        </p:txBody>
      </p:sp>
      <p:pic>
        <p:nvPicPr>
          <p:cNvPr id="9" name="图形 8" descr="箭头: 垂直手杖形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28223" y="4645023"/>
            <a:ext cx="710520" cy="710520"/>
          </a:xfrm>
          <a:prstGeom prst="rect">
            <a:avLst/>
          </a:prstGeom>
        </p:spPr>
      </p:pic>
      <p:pic>
        <p:nvPicPr>
          <p:cNvPr id="11" name="图形 10" descr="时钟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3061" y="4628553"/>
            <a:ext cx="725906" cy="743461"/>
          </a:xfrm>
          <a:prstGeom prst="rect">
            <a:avLst/>
          </a:prstGeom>
        </p:spPr>
      </p:pic>
      <p:pic>
        <p:nvPicPr>
          <p:cNvPr id="13" name="图形 12" descr="筛选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20" y="2283936"/>
            <a:ext cx="820513" cy="820513"/>
          </a:xfrm>
          <a:prstGeom prst="rect">
            <a:avLst/>
          </a:prstGeom>
        </p:spPr>
      </p:pic>
      <p:sp>
        <p:nvSpPr>
          <p:cNvPr id="17" name="文本框 16"/>
          <p:cNvSpPr txBox="1"/>
          <p:nvPr/>
        </p:nvSpPr>
        <p:spPr>
          <a:xfrm>
            <a:off x="6281731" y="4240446"/>
            <a:ext cx="5107975" cy="369332"/>
          </a:xfrm>
          <a:prstGeom prst="rect">
            <a:avLst/>
          </a:prstGeom>
          <a:noFill/>
        </p:spPr>
        <p:txBody>
          <a:bodyPr wrap="square" rtlCol="0">
            <a:spAutoFit/>
          </a:bodyPr>
          <a:lstStyle/>
          <a:p>
            <a:r>
              <a:rPr lang="zh-CN" altLang="en-US" kern="0" dirty="0">
                <a:solidFill>
                  <a:srgbClr val="000000">
                    <a:alpha val="100000"/>
                  </a:srgbClr>
                </a:solidFill>
                <a:latin typeface="Microsoft YaHei" pitchFamily="34" charset="-122"/>
                <a:ea typeface="Microsoft YaHei" pitchFamily="34" charset="-122"/>
                <a:cs typeface="黑体"/>
              </a:rPr>
              <a:t>运营效率：固有运营模式的重复劳动占比过高</a:t>
            </a:r>
            <a:endParaRPr kumimoji="1" lang="zh-CN" altLang="en-US" dirty="0">
              <a:latin typeface="Microsoft YaHei" pitchFamily="34" charset="-122"/>
              <a:ea typeface="Microsoft YaHei" pitchFamily="34" charset="-122"/>
            </a:endParaRPr>
          </a:p>
        </p:txBody>
      </p:sp>
      <p:sp>
        <p:nvSpPr>
          <p:cNvPr id="23" name="文本框 22"/>
          <p:cNvSpPr txBox="1"/>
          <p:nvPr/>
        </p:nvSpPr>
        <p:spPr>
          <a:xfrm>
            <a:off x="1163032" y="2340873"/>
            <a:ext cx="4235455" cy="787460"/>
          </a:xfrm>
          <a:prstGeom prst="rect">
            <a:avLst/>
          </a:prstGeom>
          <a:noFill/>
        </p:spPr>
        <p:txBody>
          <a:bodyPr wrap="none" rtlCol="0">
            <a:spAutoFit/>
          </a:bodyPr>
          <a:lstStyle/>
          <a:p>
            <a:pPr>
              <a:lnSpc>
                <a:spcPct val="150000"/>
              </a:lnSpc>
            </a:pPr>
            <a:r>
              <a:rPr lang="en-US" altLang="zh-CN" sz="1600" dirty="0">
                <a:solidFill>
                  <a:schemeClr val="tx2"/>
                </a:solidFill>
                <a:latin typeface="Microsoft YaHei" pitchFamily="34" charset="-122"/>
                <a:ea typeface="Microsoft YaHei" pitchFamily="34" charset="-122"/>
              </a:rPr>
              <a:t>【</a:t>
            </a:r>
            <a:r>
              <a:rPr lang="zh-CN" altLang="en-US" sz="1600" dirty="0">
                <a:solidFill>
                  <a:schemeClr val="tx2"/>
                </a:solidFill>
                <a:latin typeface="Microsoft YaHei" pitchFamily="34" charset="-122"/>
                <a:ea typeface="Microsoft YaHei" pitchFamily="34" charset="-122"/>
              </a:rPr>
              <a:t>内容</a:t>
            </a:r>
            <a:r>
              <a:rPr lang="en-US" altLang="zh-CN" sz="1600" dirty="0">
                <a:solidFill>
                  <a:schemeClr val="tx2"/>
                </a:solidFill>
                <a:latin typeface="Microsoft YaHei" pitchFamily="34" charset="-122"/>
                <a:ea typeface="Microsoft YaHei" pitchFamily="34" charset="-122"/>
              </a:rPr>
              <a:t>】</a:t>
            </a:r>
            <a:r>
              <a:rPr lang="zh-CN" altLang="en-US" sz="1600" dirty="0">
                <a:solidFill>
                  <a:schemeClr val="tx2"/>
                </a:solidFill>
                <a:latin typeface="Microsoft YaHei" pitchFamily="34" charset="-122"/>
                <a:ea typeface="Microsoft YaHei" pitchFamily="34" charset="-122"/>
              </a:rPr>
              <a:t>内容</a:t>
            </a:r>
            <a:r>
              <a:rPr lang="en-US" altLang="zh-CN" sz="1600" dirty="0">
                <a:solidFill>
                  <a:schemeClr val="tx2"/>
                </a:solidFill>
                <a:latin typeface="Microsoft YaHei" pitchFamily="34" charset="-122"/>
                <a:ea typeface="Microsoft YaHei" pitchFamily="34" charset="-122"/>
              </a:rPr>
              <a:t>×</a:t>
            </a:r>
            <a:r>
              <a:rPr lang="zh-CN" altLang="en-US" sz="1600" dirty="0">
                <a:solidFill>
                  <a:schemeClr val="tx2"/>
                </a:solidFill>
                <a:latin typeface="Microsoft YaHei" pitchFamily="34" charset="-122"/>
                <a:ea typeface="Microsoft YaHei" pitchFamily="34" charset="-122"/>
              </a:rPr>
              <a:t>人群未绑定，精细化运营缺失</a:t>
            </a:r>
            <a:endParaRPr lang="en-US" altLang="zh-CN" sz="1600" dirty="0">
              <a:solidFill>
                <a:schemeClr val="tx2"/>
              </a:solidFill>
              <a:latin typeface="Microsoft YaHei" pitchFamily="34" charset="-122"/>
              <a:ea typeface="Microsoft YaHei" pitchFamily="34" charset="-122"/>
            </a:endParaRPr>
          </a:p>
          <a:p>
            <a:pPr>
              <a:lnSpc>
                <a:spcPct val="150000"/>
              </a:lnSpc>
            </a:pPr>
            <a:r>
              <a:rPr lang="en-US" altLang="zh-CN" sz="1600" dirty="0">
                <a:solidFill>
                  <a:schemeClr val="tx2"/>
                </a:solidFill>
                <a:latin typeface="Microsoft YaHei" pitchFamily="34" charset="-122"/>
                <a:ea typeface="Microsoft YaHei" pitchFamily="34" charset="-122"/>
              </a:rPr>
              <a:t>【</a:t>
            </a:r>
            <a:r>
              <a:rPr lang="zh-CN" altLang="en-US" sz="1600" dirty="0">
                <a:solidFill>
                  <a:schemeClr val="tx2"/>
                </a:solidFill>
                <a:latin typeface="Microsoft YaHei" pitchFamily="34" charset="-122"/>
                <a:ea typeface="Microsoft YaHei" pitchFamily="34" charset="-122"/>
              </a:rPr>
              <a:t>效率</a:t>
            </a:r>
            <a:r>
              <a:rPr lang="en-US" altLang="zh-CN" sz="1600" dirty="0">
                <a:solidFill>
                  <a:schemeClr val="tx2"/>
                </a:solidFill>
                <a:latin typeface="Microsoft YaHei" pitchFamily="34" charset="-122"/>
                <a:ea typeface="Microsoft YaHei" pitchFamily="34" charset="-122"/>
              </a:rPr>
              <a:t>】</a:t>
            </a:r>
            <a:r>
              <a:rPr lang="zh-CN" altLang="en-US" sz="1600" dirty="0">
                <a:solidFill>
                  <a:schemeClr val="tx2"/>
                </a:solidFill>
                <a:latin typeface="Microsoft YaHei" pitchFamily="34" charset="-122"/>
                <a:ea typeface="Microsoft YaHei" pitchFamily="34" charset="-122"/>
              </a:rPr>
              <a:t>排期割据、触达低效</a:t>
            </a:r>
            <a:endParaRPr kumimoji="1" lang="zh-CN" altLang="en-US" sz="1600" dirty="0">
              <a:latin typeface="Microsoft YaHei" pitchFamily="34" charset="-122"/>
              <a:ea typeface="Microsoft YaHei" pitchFamily="34" charset="-122"/>
            </a:endParaRPr>
          </a:p>
        </p:txBody>
      </p:sp>
      <p:sp>
        <p:nvSpPr>
          <p:cNvPr id="24" name="文本框 23"/>
          <p:cNvSpPr txBox="1"/>
          <p:nvPr/>
        </p:nvSpPr>
        <p:spPr>
          <a:xfrm>
            <a:off x="6968645" y="2542734"/>
            <a:ext cx="4166525" cy="338554"/>
          </a:xfrm>
          <a:prstGeom prst="rect">
            <a:avLst/>
          </a:prstGeom>
          <a:noFill/>
        </p:spPr>
        <p:txBody>
          <a:bodyPr wrap="none" rtlCol="0">
            <a:spAutoFit/>
          </a:bodyPr>
          <a:lstStyle/>
          <a:p>
            <a:r>
              <a:rPr lang="en-US" altLang="zh-CN" sz="1600" dirty="0">
                <a:solidFill>
                  <a:schemeClr val="tx2"/>
                </a:solidFill>
                <a:latin typeface="Microsoft YaHei" pitchFamily="34" charset="-122"/>
                <a:ea typeface="Microsoft YaHei" pitchFamily="34" charset="-122"/>
              </a:rPr>
              <a:t>14</a:t>
            </a:r>
            <a:r>
              <a:rPr lang="zh-CN" altLang="en-US" sz="1600" dirty="0">
                <a:solidFill>
                  <a:schemeClr val="tx2"/>
                </a:solidFill>
                <a:latin typeface="Microsoft YaHei" pitchFamily="34" charset="-122"/>
                <a:ea typeface="Microsoft YaHei" pitchFamily="34" charset="-122"/>
              </a:rPr>
              <a:t>个资源位孤立，整体资源位单</a:t>
            </a:r>
            <a:r>
              <a:rPr lang="en-GB" altLang="zh-CN" sz="1600" dirty="0">
                <a:solidFill>
                  <a:schemeClr val="tx2"/>
                </a:solidFill>
                <a:latin typeface="Microsoft YaHei" pitchFamily="34" charset="-122"/>
                <a:ea typeface="Microsoft YaHei" pitchFamily="34" charset="-122"/>
              </a:rPr>
              <a:t>UV</a:t>
            </a:r>
            <a:r>
              <a:rPr lang="zh-CN" altLang="en-US" sz="1600" dirty="0">
                <a:solidFill>
                  <a:schemeClr val="tx2"/>
                </a:solidFill>
                <a:latin typeface="Microsoft YaHei" pitchFamily="34" charset="-122"/>
                <a:ea typeface="Microsoft YaHei" pitchFamily="34" charset="-122"/>
              </a:rPr>
              <a:t>产出较低</a:t>
            </a:r>
            <a:endParaRPr kumimoji="1" lang="zh-CN" altLang="en-US" sz="1600" dirty="0">
              <a:latin typeface="Microsoft YaHei" pitchFamily="34" charset="-122"/>
              <a:ea typeface="Microsoft YaHei" pitchFamily="34" charset="-122"/>
            </a:endParaRPr>
          </a:p>
        </p:txBody>
      </p:sp>
      <p:sp>
        <p:nvSpPr>
          <p:cNvPr id="25" name="文本框 24"/>
          <p:cNvSpPr txBox="1"/>
          <p:nvPr/>
        </p:nvSpPr>
        <p:spPr>
          <a:xfrm>
            <a:off x="1997354" y="4618440"/>
            <a:ext cx="3531736" cy="787460"/>
          </a:xfrm>
          <a:prstGeom prst="rect">
            <a:avLst/>
          </a:prstGeom>
          <a:noFill/>
        </p:spPr>
        <p:txBody>
          <a:bodyPr wrap="none" rtlCol="0">
            <a:spAutoFit/>
          </a:bodyPr>
          <a:lstStyle/>
          <a:p>
            <a:pPr>
              <a:lnSpc>
                <a:spcPct val="150000"/>
              </a:lnSpc>
            </a:pPr>
            <a:r>
              <a:rPr lang="zh-CN" altLang="en-US" sz="1600" dirty="0">
                <a:solidFill>
                  <a:schemeClr val="tx2"/>
                </a:solidFill>
                <a:latin typeface="Microsoft YaHei" pitchFamily="34" charset="-122"/>
                <a:ea typeface="Microsoft YaHei" pitchFamily="34" charset="-122"/>
              </a:rPr>
              <a:t>留存率是核心矛盾，私域</a:t>
            </a:r>
            <a:r>
              <a:rPr lang="en-US" altLang="zh-CN" sz="1600" dirty="0">
                <a:solidFill>
                  <a:schemeClr val="tx2"/>
                </a:solidFill>
                <a:latin typeface="Microsoft YaHei" pitchFamily="34" charset="-122"/>
                <a:ea typeface="Microsoft YaHei" pitchFamily="34" charset="-122"/>
              </a:rPr>
              <a:t>day7</a:t>
            </a:r>
            <a:r>
              <a:rPr lang="zh-CN" altLang="en-US" sz="1600" dirty="0">
                <a:solidFill>
                  <a:schemeClr val="tx2"/>
                </a:solidFill>
                <a:latin typeface="Microsoft YaHei" pitchFamily="34" charset="-122"/>
                <a:ea typeface="Microsoft YaHei" pitchFamily="34" charset="-122"/>
              </a:rPr>
              <a:t>留存率</a:t>
            </a:r>
            <a:endParaRPr lang="en-US" altLang="zh-CN" sz="1600" dirty="0">
              <a:solidFill>
                <a:schemeClr val="tx2"/>
              </a:solidFill>
              <a:latin typeface="Microsoft YaHei" pitchFamily="34" charset="-122"/>
              <a:ea typeface="Microsoft YaHei" pitchFamily="34" charset="-122"/>
            </a:endParaRPr>
          </a:p>
          <a:p>
            <a:pPr>
              <a:lnSpc>
                <a:spcPct val="150000"/>
              </a:lnSpc>
            </a:pPr>
            <a:r>
              <a:rPr kumimoji="1" lang="zh-CN" altLang="en-US" sz="1600" dirty="0">
                <a:solidFill>
                  <a:schemeClr val="tx2"/>
                </a:solidFill>
                <a:latin typeface="Microsoft YaHei" pitchFamily="34" charset="-122"/>
                <a:ea typeface="Microsoft YaHei" pitchFamily="34" charset="-122"/>
              </a:rPr>
              <a:t>为</a:t>
            </a:r>
            <a:r>
              <a:rPr kumimoji="1" lang="en-US" altLang="zh-CN" sz="1600" dirty="0">
                <a:solidFill>
                  <a:schemeClr val="tx2"/>
                </a:solidFill>
                <a:latin typeface="Microsoft YaHei" pitchFamily="34" charset="-122"/>
                <a:ea typeface="Microsoft YaHei" pitchFamily="34" charset="-122"/>
              </a:rPr>
              <a:t>88.52%</a:t>
            </a:r>
            <a:r>
              <a:rPr kumimoji="1" lang="zh-CN" altLang="en-US" sz="1600" dirty="0">
                <a:solidFill>
                  <a:schemeClr val="tx2"/>
                </a:solidFill>
                <a:latin typeface="Microsoft YaHei" pitchFamily="34" charset="-122"/>
                <a:ea typeface="Microsoft YaHei" pitchFamily="34" charset="-122"/>
              </a:rPr>
              <a:t>，</a:t>
            </a:r>
            <a:r>
              <a:rPr kumimoji="1" lang="en-US" altLang="zh-CN" sz="1600" dirty="0">
                <a:solidFill>
                  <a:schemeClr val="tx2"/>
                </a:solidFill>
                <a:latin typeface="Microsoft YaHei" pitchFamily="34" charset="-122"/>
                <a:ea typeface="Microsoft YaHei" pitchFamily="34" charset="-122"/>
              </a:rPr>
              <a:t>day30</a:t>
            </a:r>
            <a:r>
              <a:rPr kumimoji="1" lang="zh-CN" altLang="en-US" sz="1600" dirty="0">
                <a:solidFill>
                  <a:schemeClr val="tx2"/>
                </a:solidFill>
                <a:latin typeface="Microsoft YaHei" pitchFamily="34" charset="-122"/>
                <a:ea typeface="Microsoft YaHei" pitchFamily="34" charset="-122"/>
              </a:rPr>
              <a:t>留存率为</a:t>
            </a:r>
            <a:r>
              <a:rPr kumimoji="1" lang="en-US" altLang="zh-CN" sz="1600" dirty="0">
                <a:solidFill>
                  <a:schemeClr val="tx2"/>
                </a:solidFill>
                <a:latin typeface="Microsoft YaHei" pitchFamily="34" charset="-122"/>
                <a:ea typeface="Microsoft YaHei" pitchFamily="34" charset="-122"/>
              </a:rPr>
              <a:t>78.36%</a:t>
            </a:r>
            <a:endParaRPr kumimoji="1" lang="zh-CN" altLang="en-US" sz="1600" dirty="0">
              <a:latin typeface="Microsoft YaHei" pitchFamily="34" charset="-122"/>
              <a:ea typeface="Microsoft YaHei" pitchFamily="34" charset="-122"/>
            </a:endParaRPr>
          </a:p>
        </p:txBody>
      </p:sp>
      <p:sp>
        <p:nvSpPr>
          <p:cNvPr id="29" name="文本框 28"/>
          <p:cNvSpPr txBox="1"/>
          <p:nvPr/>
        </p:nvSpPr>
        <p:spPr>
          <a:xfrm>
            <a:off x="7058967" y="4666746"/>
            <a:ext cx="4453945" cy="787460"/>
          </a:xfrm>
          <a:prstGeom prst="rect">
            <a:avLst/>
          </a:prstGeom>
          <a:noFill/>
        </p:spPr>
        <p:txBody>
          <a:bodyPr wrap="square" rtlCol="0">
            <a:spAutoFit/>
          </a:bodyPr>
          <a:lstStyle/>
          <a:p>
            <a:pPr>
              <a:lnSpc>
                <a:spcPct val="150000"/>
              </a:lnSpc>
            </a:pPr>
            <a:r>
              <a:rPr kumimoji="1" lang="zh-CN" altLang="en-US" sz="1600" dirty="0">
                <a:solidFill>
                  <a:schemeClr val="tx2"/>
                </a:solidFill>
                <a:latin typeface="Microsoft YaHei" pitchFamily="34" charset="-122"/>
                <a:ea typeface="Microsoft YaHei" pitchFamily="34" charset="-122"/>
              </a:rPr>
              <a:t>日常大课推送单品类</a:t>
            </a:r>
            <a:r>
              <a:rPr kumimoji="1" lang="en-US" altLang="zh-CN" sz="1600" dirty="0">
                <a:solidFill>
                  <a:schemeClr val="tx2"/>
                </a:solidFill>
                <a:latin typeface="Microsoft YaHei" pitchFamily="34" charset="-122"/>
                <a:ea typeface="Microsoft YaHei" pitchFamily="34" charset="-122"/>
              </a:rPr>
              <a:t>45min/</a:t>
            </a:r>
            <a:r>
              <a:rPr kumimoji="1" lang="zh-CN" altLang="en-US" sz="1600" dirty="0">
                <a:solidFill>
                  <a:schemeClr val="tx2"/>
                </a:solidFill>
                <a:latin typeface="Microsoft YaHei" pitchFamily="34" charset="-122"/>
                <a:ea typeface="Microsoft YaHei" pitchFamily="34" charset="-122"/>
              </a:rPr>
              <a:t>日</a:t>
            </a:r>
            <a:endParaRPr kumimoji="1" lang="en-US" altLang="zh-CN" sz="1600" dirty="0">
              <a:solidFill>
                <a:schemeClr val="tx2"/>
              </a:solidFill>
              <a:latin typeface="Microsoft YaHei" pitchFamily="34" charset="-122"/>
              <a:ea typeface="Microsoft YaHei" pitchFamily="34" charset="-122"/>
            </a:endParaRPr>
          </a:p>
          <a:p>
            <a:pPr>
              <a:lnSpc>
                <a:spcPct val="150000"/>
              </a:lnSpc>
            </a:pPr>
            <a:r>
              <a:rPr kumimoji="1" lang="zh-CN" altLang="en-US" sz="1600" dirty="0">
                <a:solidFill>
                  <a:schemeClr val="tx2"/>
                </a:solidFill>
                <a:latin typeface="Microsoft YaHei" pitchFamily="34" charset="-122"/>
                <a:ea typeface="Microsoft YaHei" pitchFamily="34" charset="-122"/>
              </a:rPr>
              <a:t>实现精细化运营需人工筛选标签，较为耗时</a:t>
            </a:r>
            <a:endParaRPr kumimoji="1" lang="zh-CN" altLang="en-US" sz="1600" dirty="0">
              <a:solidFill>
                <a:schemeClr val="tx2"/>
              </a:solidFill>
              <a:latin typeface="Microsoft YaHei" pitchFamily="34" charset="-122"/>
              <a:ea typeface="Microsoft YaHei" pitchFamily="34" charset="-122"/>
            </a:endParaRPr>
          </a:p>
        </p:txBody>
      </p:sp>
      <p:sp>
        <p:nvSpPr>
          <p:cNvPr id="31" name="圆角矩形 30"/>
          <p:cNvSpPr/>
          <p:nvPr/>
        </p:nvSpPr>
        <p:spPr>
          <a:xfrm>
            <a:off x="802294" y="5800870"/>
            <a:ext cx="10611196" cy="416053"/>
          </a:xfrm>
          <a:prstGeom prst="roundRect">
            <a:avLst/>
          </a:prstGeom>
          <a:gradFill>
            <a:gsLst>
              <a:gs pos="0">
                <a:srgbClr val="ED3B3C">
                  <a:alpha val="92080"/>
                </a:srgbClr>
              </a:gs>
              <a:gs pos="99425">
                <a:srgbClr val="FD710C">
                  <a:alpha val="89835"/>
                </a:srgb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Microsoft YaHei" pitchFamily="34" charset="-122"/>
                <a:ea typeface="Microsoft YaHei" pitchFamily="34" charset="-122"/>
              </a:rPr>
              <a:t>个人角色</a:t>
            </a:r>
            <a:endParaRPr lang="zh-CN" altLang="en-US" dirty="0">
              <a:latin typeface="Microsoft YaHei" pitchFamily="34" charset="-122"/>
              <a:ea typeface="Microsoft YaHei" pitchFamily="34" charset="-122"/>
            </a:endParaRPr>
          </a:p>
        </p:txBody>
      </p:sp>
      <p:sp>
        <p:nvSpPr>
          <p:cNvPr id="33" name="文本框 32"/>
          <p:cNvSpPr txBox="1"/>
          <p:nvPr/>
        </p:nvSpPr>
        <p:spPr>
          <a:xfrm>
            <a:off x="6262920" y="5832721"/>
            <a:ext cx="4215363" cy="369332"/>
          </a:xfrm>
          <a:prstGeom prst="rect">
            <a:avLst/>
          </a:prstGeom>
          <a:noFill/>
        </p:spPr>
        <p:txBody>
          <a:bodyPr wrap="square" rtlCol="0">
            <a:spAutoFit/>
          </a:bodyPr>
          <a:lstStyle/>
          <a:p>
            <a:r>
              <a:rPr lang="en-GB" altLang="zh-CN" dirty="0">
                <a:solidFill>
                  <a:srgbClr val="FEFEFE"/>
                </a:solidFill>
                <a:latin typeface="Microsoft YaHei" pitchFamily="34" charset="-122"/>
                <a:ea typeface="Microsoft YaHei" pitchFamily="34" charset="-122"/>
              </a:rPr>
              <a:t>APP</a:t>
            </a:r>
            <a:r>
              <a:rPr lang="zh-CN" altLang="en-GB" dirty="0">
                <a:solidFill>
                  <a:srgbClr val="FEFEFE"/>
                </a:solidFill>
                <a:latin typeface="Microsoft YaHei" pitchFamily="34" charset="-122"/>
                <a:ea typeface="Microsoft YaHei" pitchFamily="34" charset="-122"/>
              </a:rPr>
              <a:t>：</a:t>
            </a:r>
            <a:r>
              <a:rPr lang="zh-CN" altLang="en-US" dirty="0">
                <a:solidFill>
                  <a:srgbClr val="FEFEFE"/>
                </a:solidFill>
                <a:latin typeface="Microsoft YaHei" pitchFamily="34" charset="-122"/>
                <a:ea typeface="Microsoft YaHei" pitchFamily="34" charset="-122"/>
              </a:rPr>
              <a:t>从资源位割据到</a:t>
            </a:r>
            <a:r>
              <a:rPr lang="en-US" altLang="zh-CN" dirty="0">
                <a:solidFill>
                  <a:srgbClr val="FEFEFE"/>
                </a:solidFill>
                <a:latin typeface="Microsoft YaHei" pitchFamily="34" charset="-122"/>
                <a:ea typeface="Microsoft YaHei" pitchFamily="34" charset="-122"/>
              </a:rPr>
              <a:t>"</a:t>
            </a:r>
            <a:r>
              <a:rPr lang="zh-CN" altLang="en-US" dirty="0">
                <a:solidFill>
                  <a:srgbClr val="FEFEFE"/>
                </a:solidFill>
                <a:latin typeface="Microsoft YaHei" pitchFamily="34" charset="-122"/>
                <a:ea typeface="Microsoft YaHei" pitchFamily="34" charset="-122"/>
              </a:rPr>
              <a:t>旅程思维</a:t>
            </a:r>
            <a:r>
              <a:rPr lang="en-US" altLang="zh-CN" dirty="0">
                <a:solidFill>
                  <a:srgbClr val="FEFEFE"/>
                </a:solidFill>
                <a:latin typeface="Microsoft YaHei" pitchFamily="34" charset="-122"/>
                <a:ea typeface="Microsoft YaHei" pitchFamily="34" charset="-122"/>
              </a:rPr>
              <a:t>"</a:t>
            </a:r>
            <a:r>
              <a:rPr lang="zh-CN" altLang="en-US" dirty="0">
                <a:solidFill>
                  <a:srgbClr val="FEFEFE"/>
                </a:solidFill>
                <a:latin typeface="Microsoft YaHei" pitchFamily="34" charset="-122"/>
                <a:ea typeface="Microsoft YaHei" pitchFamily="34" charset="-122"/>
              </a:rPr>
              <a:t>串联</a:t>
            </a:r>
            <a:endParaRPr lang="zh-CN" altLang="en-US" dirty="0">
              <a:solidFill>
                <a:srgbClr val="FEFEFE"/>
              </a:solidFill>
              <a:latin typeface="Microsoft YaHei" pitchFamily="34" charset="-122"/>
              <a:ea typeface="Microsoft YaHei" pitchFamily="34" charset="-122"/>
            </a:endParaRPr>
          </a:p>
        </p:txBody>
      </p:sp>
      <p:sp>
        <p:nvSpPr>
          <p:cNvPr id="37" name="文本框 36"/>
          <p:cNvSpPr txBox="1"/>
          <p:nvPr/>
        </p:nvSpPr>
        <p:spPr>
          <a:xfrm>
            <a:off x="2117543" y="5832721"/>
            <a:ext cx="3310593" cy="369332"/>
          </a:xfrm>
          <a:prstGeom prst="rect">
            <a:avLst/>
          </a:prstGeom>
          <a:noFill/>
        </p:spPr>
        <p:txBody>
          <a:bodyPr wrap="square" rtlCol="0">
            <a:spAutoFit/>
          </a:bodyPr>
          <a:lstStyle/>
          <a:p>
            <a:r>
              <a:rPr lang="zh-CN" altLang="en-US" dirty="0">
                <a:solidFill>
                  <a:srgbClr val="FEFEFE"/>
                </a:solidFill>
                <a:latin typeface="Microsoft YaHei" pitchFamily="34" charset="-122"/>
                <a:ea typeface="Microsoft YaHei" pitchFamily="34" charset="-122"/>
              </a:rPr>
              <a:t>私域：从流量收割到价值陪伴</a:t>
            </a:r>
            <a:endParaRPr kumimoji="1" lang="zh-CN" altLang="en-US" dirty="0">
              <a:solidFill>
                <a:srgbClr val="FEFEFE"/>
              </a:solidFill>
              <a:latin typeface="Microsoft YaHei" pitchFamily="34" charset="-122"/>
              <a:ea typeface="Microsoft YaHei" pitchFamily="34" charset="-122"/>
            </a:endParaRPr>
          </a:p>
        </p:txBody>
      </p:sp>
      <p:cxnSp>
        <p:nvCxnSpPr>
          <p:cNvPr id="41" name="直线连接符 40"/>
          <p:cNvCxnSpPr/>
          <p:nvPr/>
        </p:nvCxnSpPr>
        <p:spPr>
          <a:xfrm>
            <a:off x="5969726" y="5832721"/>
            <a:ext cx="0" cy="369332"/>
          </a:xfrm>
          <a:prstGeom prst="line">
            <a:avLst/>
          </a:prstGeom>
          <a:ln w="28575">
            <a:solidFill>
              <a:srgbClr val="FEFEF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alphaModFix amt="90000"/>
          </a:blip>
          <a:stretch>
            <a:fillRect/>
          </a:stretch>
        </p:blipFill>
        <p:spPr>
          <a:xfrm>
            <a:off x="-129153" y="-265565"/>
            <a:ext cx="12321153" cy="6876921"/>
          </a:xfrm>
          <a:prstGeom prst="rect">
            <a:avLst/>
          </a:prstGeom>
        </p:spPr>
      </p:pic>
      <p:sp>
        <p:nvSpPr>
          <p:cNvPr id="7" name="textbox 36"/>
          <p:cNvSpPr/>
          <p:nvPr/>
        </p:nvSpPr>
        <p:spPr>
          <a:xfrm>
            <a:off x="626392" y="490928"/>
            <a:ext cx="9104571" cy="509477"/>
          </a:xfrm>
          <a:prstGeom prst="rect">
            <a:avLst/>
          </a:prstGeom>
          <a:noFill/>
          <a:ln w="0" cap="flat">
            <a:noFill/>
            <a:prstDash val="solid"/>
            <a:miter lim="0"/>
          </a:ln>
        </p:spPr>
        <p:txBody>
          <a:bodyPr vert="horz" wrap="square" lIns="0" tIns="0" rIns="0" bIns="0"/>
          <a:lstStyle/>
          <a:p>
            <a:pPr algn="l" rtl="0" eaLnBrk="0">
              <a:lnSpc>
                <a:spcPct val="100000"/>
              </a:lnSpc>
            </a:pPr>
            <a:r>
              <a:rPr lang="zh-CN" altLang="en-US" sz="100" dirty="0">
                <a:solidFill>
                  <a:schemeClr val="tx2"/>
                </a:solidFill>
                <a:latin typeface="Microsoft YaHei" pitchFamily="34" charset="-122"/>
                <a:ea typeface="Microsoft YaHei" pitchFamily="34" charset="-122"/>
                <a:cs typeface="Arial" panose="020B0604020202090204"/>
              </a:rPr>
              <a:t>年度关键</a:t>
            </a:r>
            <a:endParaRPr sz="3350" dirty="0">
              <a:solidFill>
                <a:schemeClr val="tx2"/>
              </a:solidFill>
              <a:latin typeface="Microsoft YaHei" pitchFamily="34" charset="-122"/>
              <a:ea typeface="Microsoft YaHei" pitchFamily="34" charset="-122"/>
              <a:cs typeface="黑体"/>
            </a:endParaRPr>
          </a:p>
        </p:txBody>
      </p:sp>
      <p:sp>
        <p:nvSpPr>
          <p:cNvPr id="8" name="textbox 36"/>
          <p:cNvSpPr/>
          <p:nvPr/>
        </p:nvSpPr>
        <p:spPr>
          <a:xfrm>
            <a:off x="575581" y="490928"/>
            <a:ext cx="9104571" cy="509477"/>
          </a:xfrm>
          <a:prstGeom prst="rect">
            <a:avLst/>
          </a:prstGeom>
          <a:noFill/>
          <a:ln w="0" cap="flat">
            <a:noFill/>
            <a:prstDash val="solid"/>
            <a:miter lim="0"/>
          </a:ln>
        </p:spPr>
        <p:txBody>
          <a:bodyPr vert="horz" wrap="square" lIns="0" tIns="0" rIns="0" bIns="0"/>
          <a:lstStyle/>
          <a:p>
            <a:pPr algn="l" rtl="0" eaLnBrk="0">
              <a:lnSpc>
                <a:spcPct val="100000"/>
              </a:lnSpc>
            </a:pPr>
            <a:r>
              <a:rPr lang="zh-CN" altLang="en-US" sz="3200" b="1" dirty="0">
                <a:solidFill>
                  <a:schemeClr val="tx2"/>
                </a:solidFill>
                <a:latin typeface="Microsoft YaHei" pitchFamily="34" charset="-122"/>
                <a:ea typeface="Microsoft YaHei" pitchFamily="34" charset="-122"/>
                <a:cs typeface="Arial" panose="020B0604020202090204"/>
              </a:rPr>
              <a:t>年度关键里程碑</a:t>
            </a:r>
            <a:endParaRPr sz="3200" b="1" dirty="0">
              <a:solidFill>
                <a:schemeClr val="tx2"/>
              </a:solidFill>
              <a:latin typeface="Microsoft YaHei" pitchFamily="34" charset="-122"/>
              <a:ea typeface="Microsoft YaHei" pitchFamily="34" charset="-122"/>
              <a:cs typeface="黑体"/>
            </a:endParaRPr>
          </a:p>
        </p:txBody>
      </p:sp>
      <p:sp>
        <p:nvSpPr>
          <p:cNvPr id="9" name="textbox 48"/>
          <p:cNvSpPr/>
          <p:nvPr/>
        </p:nvSpPr>
        <p:spPr>
          <a:xfrm>
            <a:off x="6205473" y="2312416"/>
            <a:ext cx="2399434" cy="1260491"/>
          </a:xfrm>
          <a:prstGeom prst="rect">
            <a:avLst/>
          </a:prstGeom>
          <a:noFill/>
          <a:ln w="0" cap="flat">
            <a:noFill/>
            <a:prstDash val="solid"/>
            <a:miter lim="0"/>
          </a:ln>
        </p:spPr>
        <p:txBody>
          <a:bodyPr vert="horz" wrap="square" lIns="0" tIns="0" rIns="0" bIns="0"/>
          <a:lstStyle/>
          <a:p>
            <a:pPr algn="ctr" rtl="0" eaLnBrk="0">
              <a:lnSpc>
                <a:spcPct val="97000"/>
              </a:lnSpc>
            </a:pPr>
            <a:endParaRPr sz="2000" dirty="0">
              <a:latin typeface="Microsoft YaHei" pitchFamily="34" charset="-122"/>
              <a:ea typeface="Microsoft YaHei" pitchFamily="34" charset="-122"/>
              <a:cs typeface="Arial" panose="020B0604020202090204"/>
            </a:endParaRPr>
          </a:p>
          <a:p>
            <a:pPr marL="8890" algn="ctr" eaLnBrk="0">
              <a:lnSpc>
                <a:spcPct val="95000"/>
              </a:lnSpc>
            </a:pPr>
            <a:r>
              <a:rPr sz="2000" b="1" kern="0" dirty="0">
                <a:solidFill>
                  <a:srgbClr val="000000">
                    <a:alpha val="100000"/>
                  </a:srgbClr>
                </a:solidFill>
                <a:latin typeface="Microsoft YaHei" pitchFamily="34" charset="-122"/>
                <a:ea typeface="Microsoft YaHei" pitchFamily="34" charset="-122"/>
                <a:cs typeface="Arial" panose="020B0604020202090204"/>
              </a:rPr>
              <a:t>APP</a:t>
            </a:r>
            <a:r>
              <a:rPr sz="2000" b="1" kern="0" spc="-105" dirty="0">
                <a:solidFill>
                  <a:srgbClr val="000000">
                    <a:alpha val="100000"/>
                  </a:srgbClr>
                </a:solidFill>
                <a:latin typeface="Microsoft YaHei" pitchFamily="34" charset="-122"/>
                <a:ea typeface="Microsoft YaHei" pitchFamily="34" charset="-122"/>
                <a:cs typeface="Arial" panose="020B0604020202090204"/>
              </a:rPr>
              <a:t> </a:t>
            </a:r>
            <a:r>
              <a:rPr sz="2000" b="1" kern="0" spc="98" dirty="0">
                <a:solidFill>
                  <a:srgbClr val="000000">
                    <a:alpha val="100000"/>
                  </a:srgbClr>
                </a:solidFill>
                <a:latin typeface="Microsoft YaHei" pitchFamily="34" charset="-122"/>
                <a:ea typeface="Microsoft YaHei" pitchFamily="34" charset="-122"/>
                <a:cs typeface="黑体"/>
              </a:rPr>
              <a:t>商业化升级</a:t>
            </a:r>
            <a:endParaRPr sz="2000" b="1" dirty="0">
              <a:latin typeface="Microsoft YaHei" pitchFamily="34" charset="-122"/>
              <a:ea typeface="Microsoft YaHei" pitchFamily="34" charset="-122"/>
              <a:cs typeface="黑体"/>
            </a:endParaRPr>
          </a:p>
          <a:p>
            <a:pPr marL="314325" algn="ctr" eaLnBrk="0">
              <a:lnSpc>
                <a:spcPct val="98000"/>
              </a:lnSpc>
              <a:spcBef>
                <a:spcPts val="5"/>
              </a:spcBef>
            </a:pPr>
            <a:endParaRPr lang="en-US" sz="2000" dirty="0">
              <a:latin typeface="Microsoft YaHei" pitchFamily="34" charset="-122"/>
              <a:ea typeface="Microsoft YaHei" pitchFamily="34" charset="-122"/>
              <a:cs typeface="Arial" panose="020B0604020202090204"/>
            </a:endParaRPr>
          </a:p>
          <a:p>
            <a:pPr marL="314325" algn="ctr" eaLnBrk="0">
              <a:lnSpc>
                <a:spcPct val="98000"/>
              </a:lnSpc>
              <a:spcBef>
                <a:spcPts val="5"/>
              </a:spcBef>
            </a:pPr>
            <a:r>
              <a:rPr sz="2000" kern="0" spc="70" dirty="0">
                <a:solidFill>
                  <a:srgbClr val="000000">
                    <a:alpha val="100000"/>
                  </a:srgbClr>
                </a:solidFill>
                <a:latin typeface="Microsoft YaHei" pitchFamily="34" charset="-122"/>
                <a:ea typeface="Microsoft YaHei" pitchFamily="34" charset="-122"/>
                <a:cs typeface="黑体"/>
              </a:rPr>
              <a:t>(旅程思维串联)</a:t>
            </a:r>
            <a:endParaRPr sz="2000" dirty="0">
              <a:latin typeface="Microsoft YaHei" pitchFamily="34" charset="-122"/>
              <a:ea typeface="Microsoft YaHei" pitchFamily="34" charset="-122"/>
              <a:cs typeface="黑体"/>
            </a:endParaRPr>
          </a:p>
        </p:txBody>
      </p:sp>
      <p:sp>
        <p:nvSpPr>
          <p:cNvPr id="10" name="textbox 50"/>
          <p:cNvSpPr/>
          <p:nvPr/>
        </p:nvSpPr>
        <p:spPr>
          <a:xfrm>
            <a:off x="8990214" y="2377568"/>
            <a:ext cx="2399434" cy="1260490"/>
          </a:xfrm>
          <a:prstGeom prst="rect">
            <a:avLst/>
          </a:prstGeom>
          <a:noFill/>
          <a:ln w="0" cap="flat">
            <a:noFill/>
            <a:prstDash val="solid"/>
            <a:miter lim="0"/>
          </a:ln>
        </p:spPr>
        <p:txBody>
          <a:bodyPr vert="horz" wrap="square" lIns="0" tIns="0" rIns="0" bIns="0"/>
          <a:lstStyle/>
          <a:p>
            <a:pPr algn="ctr" rtl="0" eaLnBrk="0">
              <a:lnSpc>
                <a:spcPct val="80000"/>
              </a:lnSpc>
            </a:pPr>
            <a:endParaRPr sz="2000" dirty="0">
              <a:latin typeface="Microsoft YaHei" pitchFamily="34" charset="-122"/>
              <a:ea typeface="Microsoft YaHei" pitchFamily="34" charset="-122"/>
              <a:cs typeface="Arial" panose="020B0604020202090204"/>
            </a:endParaRPr>
          </a:p>
          <a:p>
            <a:pPr marL="8890" algn="ctr" eaLnBrk="0">
              <a:lnSpc>
                <a:spcPct val="97000"/>
              </a:lnSpc>
            </a:pPr>
            <a:r>
              <a:rPr sz="2000" b="1" kern="0" dirty="0">
                <a:solidFill>
                  <a:srgbClr val="000000">
                    <a:alpha val="100000"/>
                  </a:srgbClr>
                </a:solidFill>
                <a:latin typeface="Microsoft YaHei" pitchFamily="34" charset="-122"/>
                <a:ea typeface="Microsoft YaHei" pitchFamily="34" charset="-122"/>
                <a:cs typeface="Times New Roman" panose="02020503050405090304"/>
              </a:rPr>
              <a:t>Al</a:t>
            </a:r>
            <a:r>
              <a:rPr sz="2000" b="1" kern="0" spc="-133" dirty="0">
                <a:solidFill>
                  <a:srgbClr val="000000">
                    <a:alpha val="100000"/>
                  </a:srgbClr>
                </a:solidFill>
                <a:latin typeface="Microsoft YaHei" pitchFamily="34" charset="-122"/>
                <a:ea typeface="Microsoft YaHei" pitchFamily="34" charset="-122"/>
                <a:cs typeface="Times New Roman" panose="02020503050405090304"/>
              </a:rPr>
              <a:t> </a:t>
            </a:r>
            <a:r>
              <a:rPr sz="2000" b="1" kern="0" dirty="0" err="1">
                <a:solidFill>
                  <a:srgbClr val="000000">
                    <a:alpha val="100000"/>
                  </a:srgbClr>
                </a:solidFill>
                <a:latin typeface="Microsoft YaHei" pitchFamily="34" charset="-122"/>
                <a:ea typeface="Microsoft YaHei" pitchFamily="34" charset="-122"/>
                <a:cs typeface="黑体"/>
              </a:rPr>
              <a:t>链路提效</a:t>
            </a:r>
            <a:endParaRPr sz="2000" b="1" dirty="0">
              <a:latin typeface="Microsoft YaHei" pitchFamily="34" charset="-122"/>
              <a:ea typeface="Microsoft YaHei" pitchFamily="34" charset="-122"/>
              <a:cs typeface="黑体"/>
            </a:endParaRPr>
          </a:p>
          <a:p>
            <a:pPr algn="ctr" rtl="0" eaLnBrk="0">
              <a:lnSpc>
                <a:spcPct val="107000"/>
              </a:lnSpc>
            </a:pPr>
            <a:endParaRPr sz="2000" dirty="0">
              <a:latin typeface="Microsoft YaHei" pitchFamily="34" charset="-122"/>
              <a:ea typeface="Microsoft YaHei" pitchFamily="34" charset="-122"/>
              <a:cs typeface="Arial" panose="020B0604020202090204"/>
            </a:endParaRPr>
          </a:p>
          <a:p>
            <a:pPr algn="ctr" rtl="0" eaLnBrk="0">
              <a:lnSpc>
                <a:spcPct val="7000"/>
              </a:lnSpc>
            </a:pPr>
            <a:endParaRPr sz="2000" dirty="0">
              <a:latin typeface="Microsoft YaHei" pitchFamily="34" charset="-122"/>
              <a:ea typeface="Microsoft YaHei" pitchFamily="34" charset="-122"/>
              <a:cs typeface="Arial" panose="020B0604020202090204"/>
            </a:endParaRPr>
          </a:p>
          <a:p>
            <a:pPr marL="17780" algn="ctr" eaLnBrk="0">
              <a:lnSpc>
                <a:spcPct val="93000"/>
              </a:lnSpc>
            </a:pPr>
            <a:r>
              <a:rPr sz="2000" kern="0" dirty="0">
                <a:solidFill>
                  <a:srgbClr val="000000">
                    <a:alpha val="100000"/>
                  </a:srgbClr>
                </a:solidFill>
                <a:latin typeface="Microsoft YaHei" pitchFamily="34" charset="-122"/>
                <a:ea typeface="Microsoft YaHei" pitchFamily="34" charset="-122"/>
                <a:cs typeface="Arial" panose="020B0604020202090204"/>
              </a:rPr>
              <a:t>(</a:t>
            </a:r>
            <a:r>
              <a:rPr sz="2000" kern="0" dirty="0" err="1">
                <a:solidFill>
                  <a:srgbClr val="000000">
                    <a:alpha val="100000"/>
                  </a:srgbClr>
                </a:solidFill>
                <a:latin typeface="Microsoft YaHei" pitchFamily="34" charset="-122"/>
                <a:ea typeface="Microsoft YaHei" pitchFamily="34" charset="-122"/>
                <a:cs typeface="Arial" panose="020B0604020202090204"/>
              </a:rPr>
              <a:t>Agent&amp;MA</a:t>
            </a:r>
            <a:r>
              <a:rPr sz="2000" kern="0" dirty="0" err="1">
                <a:solidFill>
                  <a:srgbClr val="000000">
                    <a:alpha val="100000"/>
                  </a:srgbClr>
                </a:solidFill>
                <a:latin typeface="Microsoft YaHei" pitchFamily="34" charset="-122"/>
                <a:ea typeface="Microsoft YaHei" pitchFamily="34" charset="-122"/>
                <a:cs typeface="黑体"/>
              </a:rPr>
              <a:t>赋能</a:t>
            </a:r>
            <a:r>
              <a:rPr sz="2000" kern="0" dirty="0">
                <a:solidFill>
                  <a:srgbClr val="000000">
                    <a:alpha val="100000"/>
                  </a:srgbClr>
                </a:solidFill>
                <a:latin typeface="Microsoft YaHei" pitchFamily="34" charset="-122"/>
                <a:ea typeface="Microsoft YaHei" pitchFamily="34" charset="-122"/>
                <a:cs typeface="黑体"/>
              </a:rPr>
              <a:t>)</a:t>
            </a:r>
            <a:endParaRPr sz="2000" dirty="0">
              <a:latin typeface="Microsoft YaHei" pitchFamily="34" charset="-122"/>
              <a:ea typeface="Microsoft YaHei" pitchFamily="34" charset="-122"/>
              <a:cs typeface="黑体"/>
            </a:endParaRPr>
          </a:p>
        </p:txBody>
      </p:sp>
      <p:sp>
        <p:nvSpPr>
          <p:cNvPr id="11" name="textbox 52"/>
          <p:cNvSpPr/>
          <p:nvPr/>
        </p:nvSpPr>
        <p:spPr>
          <a:xfrm>
            <a:off x="4727766" y="4920780"/>
            <a:ext cx="2217792" cy="830997"/>
          </a:xfrm>
          <a:prstGeom prst="rect">
            <a:avLst/>
          </a:prstGeom>
          <a:noFill/>
          <a:ln w="0" cap="flat">
            <a:noFill/>
            <a:prstDash val="solid"/>
            <a:miter lim="0"/>
          </a:ln>
        </p:spPr>
        <p:txBody>
          <a:bodyPr vert="horz" wrap="square" lIns="0" tIns="0" rIns="0" bIns="0">
            <a:spAutoFit/>
          </a:bodyPr>
          <a:lstStyle/>
          <a:p>
            <a:pPr marL="367030" algn="ctr" eaLnBrk="0"/>
            <a:r>
              <a:rPr lang="en-US" altLang="zh-CN" dirty="0">
                <a:solidFill>
                  <a:schemeClr val="bg2"/>
                </a:solidFill>
                <a:latin typeface="Microsoft YaHei" pitchFamily="34" charset="-122"/>
                <a:ea typeface="Microsoft YaHei" pitchFamily="34" charset="-122"/>
              </a:rPr>
              <a:t>day7</a:t>
            </a:r>
            <a:r>
              <a:rPr lang="zh-CN" altLang="en-US" dirty="0">
                <a:solidFill>
                  <a:schemeClr val="bg2"/>
                </a:solidFill>
                <a:latin typeface="Microsoft YaHei" pitchFamily="34" charset="-122"/>
                <a:ea typeface="Microsoft YaHei" pitchFamily="34" charset="-122"/>
              </a:rPr>
              <a:t>留存提升</a:t>
            </a:r>
            <a:r>
              <a:rPr lang="en-US" altLang="zh-CN" dirty="0">
                <a:solidFill>
                  <a:schemeClr val="bg2"/>
                </a:solidFill>
                <a:latin typeface="Microsoft YaHei" pitchFamily="34" charset="-122"/>
                <a:ea typeface="Microsoft YaHei" pitchFamily="34" charset="-122"/>
              </a:rPr>
              <a:t>2.96%</a:t>
            </a:r>
            <a:endParaRPr lang="en-US" altLang="zh-CN" dirty="0">
              <a:solidFill>
                <a:schemeClr val="bg2"/>
              </a:solidFill>
              <a:latin typeface="Microsoft YaHei" pitchFamily="34" charset="-122"/>
              <a:ea typeface="Microsoft YaHei" pitchFamily="34" charset="-122"/>
            </a:endParaRPr>
          </a:p>
          <a:p>
            <a:pPr marL="367030" algn="ctr" eaLnBrk="0"/>
            <a:r>
              <a:rPr lang="en-US" altLang="zh-CN" dirty="0">
                <a:solidFill>
                  <a:schemeClr val="bg2"/>
                </a:solidFill>
                <a:latin typeface="Microsoft YaHei" pitchFamily="34" charset="-122"/>
                <a:ea typeface="Microsoft YaHei" pitchFamily="34" charset="-122"/>
              </a:rPr>
              <a:t>LTV</a:t>
            </a:r>
            <a:r>
              <a:rPr lang="zh-CN" altLang="en-US" dirty="0">
                <a:solidFill>
                  <a:schemeClr val="bg2"/>
                </a:solidFill>
                <a:latin typeface="Microsoft YaHei" pitchFamily="34" charset="-122"/>
                <a:ea typeface="Microsoft YaHei" pitchFamily="34" charset="-122"/>
              </a:rPr>
              <a:t>提升</a:t>
            </a:r>
            <a:r>
              <a:rPr lang="en-US" altLang="zh-CN" dirty="0">
                <a:solidFill>
                  <a:schemeClr val="bg2"/>
                </a:solidFill>
                <a:latin typeface="Microsoft YaHei" pitchFamily="34" charset="-122"/>
                <a:ea typeface="Microsoft YaHei" pitchFamily="34" charset="-122"/>
              </a:rPr>
              <a:t>23%</a:t>
            </a:r>
            <a:endParaRPr lang="en-US" kern="0" spc="-56" dirty="0">
              <a:solidFill>
                <a:schemeClr val="bg2"/>
              </a:solidFill>
              <a:latin typeface="Microsoft YaHei" pitchFamily="34" charset="-122"/>
              <a:ea typeface="Microsoft YaHei" pitchFamily="34" charset="-122"/>
              <a:cs typeface="黑体"/>
            </a:endParaRPr>
          </a:p>
        </p:txBody>
      </p:sp>
      <p:sp>
        <p:nvSpPr>
          <p:cNvPr id="12" name="textbox 54"/>
          <p:cNvSpPr/>
          <p:nvPr/>
        </p:nvSpPr>
        <p:spPr>
          <a:xfrm>
            <a:off x="663487" y="2377568"/>
            <a:ext cx="2264303" cy="1574115"/>
          </a:xfrm>
          <a:prstGeom prst="rect">
            <a:avLst/>
          </a:prstGeom>
          <a:noFill/>
          <a:ln w="0" cap="flat">
            <a:noFill/>
            <a:prstDash val="solid"/>
            <a:miter lim="0"/>
          </a:ln>
        </p:spPr>
        <p:txBody>
          <a:bodyPr vert="horz" wrap="square" lIns="0" tIns="0" rIns="0" bIns="0"/>
          <a:lstStyle/>
          <a:p>
            <a:pPr algn="ctr" rtl="0" eaLnBrk="0">
              <a:lnSpc>
                <a:spcPct val="69000"/>
              </a:lnSpc>
            </a:pPr>
            <a:endParaRPr sz="2000" dirty="0">
              <a:latin typeface="Microsoft YaHei" pitchFamily="34" charset="-122"/>
              <a:ea typeface="Microsoft YaHei" pitchFamily="34" charset="-122"/>
              <a:cs typeface="Arial" panose="020B0604020202090204"/>
            </a:endParaRPr>
          </a:p>
          <a:p>
            <a:pPr marL="8890" algn="ctr" eaLnBrk="0">
              <a:lnSpc>
                <a:spcPct val="98000"/>
              </a:lnSpc>
            </a:pPr>
            <a:r>
              <a:rPr sz="2000" b="1" kern="0" spc="21" dirty="0">
                <a:solidFill>
                  <a:srgbClr val="000000">
                    <a:alpha val="100000"/>
                  </a:srgbClr>
                </a:solidFill>
                <a:latin typeface="Microsoft YaHei" pitchFamily="34" charset="-122"/>
                <a:ea typeface="Microsoft YaHei" pitchFamily="34" charset="-122"/>
                <a:cs typeface="黑体"/>
              </a:rPr>
              <a:t>私域直播重构</a:t>
            </a:r>
            <a:endParaRPr sz="2000" b="1" dirty="0">
              <a:latin typeface="Microsoft YaHei" pitchFamily="34" charset="-122"/>
              <a:ea typeface="Microsoft YaHei" pitchFamily="34" charset="-122"/>
              <a:cs typeface="黑体"/>
            </a:endParaRPr>
          </a:p>
          <a:p>
            <a:pPr algn="ctr" rtl="0" eaLnBrk="0">
              <a:lnSpc>
                <a:spcPct val="108000"/>
              </a:lnSpc>
            </a:pPr>
            <a:endParaRPr sz="2000" dirty="0">
              <a:latin typeface="Microsoft YaHei" pitchFamily="34" charset="-122"/>
              <a:ea typeface="Microsoft YaHei" pitchFamily="34" charset="-122"/>
              <a:cs typeface="Arial" panose="020B0604020202090204"/>
            </a:endParaRPr>
          </a:p>
          <a:p>
            <a:pPr marL="160020" algn="ctr" eaLnBrk="0">
              <a:lnSpc>
                <a:spcPct val="99000"/>
              </a:lnSpc>
              <a:spcBef>
                <a:spcPts val="5"/>
              </a:spcBef>
            </a:pPr>
            <a:r>
              <a:rPr sz="2000" kern="0" spc="35" dirty="0">
                <a:solidFill>
                  <a:srgbClr val="000000">
                    <a:alpha val="100000"/>
                  </a:srgbClr>
                </a:solidFill>
                <a:latin typeface="Microsoft YaHei" pitchFamily="34" charset="-122"/>
                <a:ea typeface="Microsoft YaHei" pitchFamily="34" charset="-122"/>
                <a:cs typeface="黑体"/>
              </a:rPr>
              <a:t>(1.0</a:t>
            </a:r>
            <a:r>
              <a:rPr lang="en-US" altLang="zh-CN" sz="2000" kern="0" spc="35" dirty="0">
                <a:solidFill>
                  <a:srgbClr val="000000">
                    <a:alpha val="100000"/>
                  </a:srgbClr>
                </a:solidFill>
                <a:latin typeface="Microsoft YaHei" pitchFamily="34" charset="-122"/>
                <a:ea typeface="Microsoft YaHei" pitchFamily="34" charset="-122"/>
                <a:cs typeface="黑体"/>
              </a:rPr>
              <a:t>—</a:t>
            </a:r>
            <a:r>
              <a:rPr sz="2000" kern="0" spc="35" dirty="0">
                <a:solidFill>
                  <a:srgbClr val="000000">
                    <a:alpha val="100000"/>
                  </a:srgbClr>
                </a:solidFill>
                <a:latin typeface="Microsoft YaHei" pitchFamily="34" charset="-122"/>
                <a:ea typeface="Microsoft YaHei" pitchFamily="34" charset="-122"/>
                <a:cs typeface="黑体"/>
              </a:rPr>
              <a:t>2.0)</a:t>
            </a:r>
            <a:endParaRPr sz="2000" dirty="0">
              <a:latin typeface="Microsoft YaHei" pitchFamily="34" charset="-122"/>
              <a:ea typeface="Microsoft YaHei" pitchFamily="34" charset="-122"/>
              <a:cs typeface="黑体"/>
            </a:endParaRPr>
          </a:p>
        </p:txBody>
      </p:sp>
      <p:sp>
        <p:nvSpPr>
          <p:cNvPr id="13" name="textbox 56"/>
          <p:cNvSpPr/>
          <p:nvPr/>
        </p:nvSpPr>
        <p:spPr>
          <a:xfrm>
            <a:off x="3492321" y="2312416"/>
            <a:ext cx="2264303" cy="1574115"/>
          </a:xfrm>
          <a:prstGeom prst="rect">
            <a:avLst/>
          </a:prstGeom>
          <a:noFill/>
          <a:ln w="0" cap="flat">
            <a:noFill/>
            <a:prstDash val="solid"/>
            <a:miter lim="0"/>
          </a:ln>
        </p:spPr>
        <p:txBody>
          <a:bodyPr vert="horz" wrap="square" lIns="0" tIns="0" rIns="0" bIns="0"/>
          <a:lstStyle/>
          <a:p>
            <a:pPr algn="ctr" rtl="0" eaLnBrk="0">
              <a:lnSpc>
                <a:spcPct val="90000"/>
              </a:lnSpc>
            </a:pPr>
            <a:endParaRPr sz="2000" dirty="0">
              <a:latin typeface="Microsoft YaHei" pitchFamily="34" charset="-122"/>
              <a:ea typeface="Microsoft YaHei" pitchFamily="34" charset="-122"/>
              <a:cs typeface="Arial" panose="020B0604020202090204"/>
            </a:endParaRPr>
          </a:p>
          <a:p>
            <a:pPr marL="8890" algn="ctr" eaLnBrk="0">
              <a:lnSpc>
                <a:spcPct val="97000"/>
              </a:lnSpc>
            </a:pPr>
            <a:r>
              <a:rPr sz="2000" b="1" kern="0" spc="14" dirty="0">
                <a:solidFill>
                  <a:srgbClr val="000000">
                    <a:alpha val="100000"/>
                  </a:srgbClr>
                </a:solidFill>
                <a:latin typeface="Microsoft YaHei" pitchFamily="34" charset="-122"/>
                <a:ea typeface="Microsoft YaHei" pitchFamily="34" charset="-122"/>
                <a:cs typeface="黑体"/>
              </a:rPr>
              <a:t>留存旅程激活</a:t>
            </a:r>
            <a:endParaRPr sz="2000" b="1" dirty="0">
              <a:latin typeface="Microsoft YaHei" pitchFamily="34" charset="-122"/>
              <a:ea typeface="Microsoft YaHei" pitchFamily="34" charset="-122"/>
              <a:cs typeface="黑体"/>
            </a:endParaRPr>
          </a:p>
          <a:p>
            <a:pPr algn="ctr" rtl="0" eaLnBrk="0">
              <a:lnSpc>
                <a:spcPct val="105000"/>
              </a:lnSpc>
            </a:pPr>
            <a:endParaRPr sz="2000" dirty="0">
              <a:latin typeface="Microsoft YaHei" pitchFamily="34" charset="-122"/>
              <a:ea typeface="Microsoft YaHei" pitchFamily="34" charset="-122"/>
              <a:cs typeface="Arial" panose="020B0604020202090204"/>
            </a:endParaRPr>
          </a:p>
          <a:p>
            <a:pPr marL="53340" algn="ctr" eaLnBrk="0">
              <a:lnSpc>
                <a:spcPct val="97000"/>
              </a:lnSpc>
              <a:spcBef>
                <a:spcPts val="5"/>
              </a:spcBef>
            </a:pPr>
            <a:r>
              <a:rPr sz="2000" kern="0" spc="56" dirty="0">
                <a:solidFill>
                  <a:srgbClr val="000000">
                    <a:alpha val="100000"/>
                  </a:srgbClr>
                </a:solidFill>
                <a:latin typeface="Microsoft YaHei" pitchFamily="34" charset="-122"/>
                <a:ea typeface="Microsoft YaHei" pitchFamily="34" charset="-122"/>
                <a:cs typeface="黑体"/>
              </a:rPr>
              <a:t>(新用户环岛设计)</a:t>
            </a:r>
            <a:endParaRPr sz="2000" dirty="0">
              <a:latin typeface="Microsoft YaHei" pitchFamily="34" charset="-122"/>
              <a:ea typeface="Microsoft YaHei" pitchFamily="34" charset="-122"/>
              <a:cs typeface="黑体"/>
            </a:endParaRPr>
          </a:p>
        </p:txBody>
      </p:sp>
      <p:sp>
        <p:nvSpPr>
          <p:cNvPr id="14" name="textbox 58"/>
          <p:cNvSpPr/>
          <p:nvPr/>
        </p:nvSpPr>
        <p:spPr>
          <a:xfrm>
            <a:off x="2368075" y="4910521"/>
            <a:ext cx="2619030" cy="933589"/>
          </a:xfrm>
          <a:prstGeom prst="rect">
            <a:avLst/>
          </a:prstGeom>
          <a:noFill/>
          <a:ln w="0" cap="flat">
            <a:noFill/>
            <a:prstDash val="solid"/>
            <a:miter lim="0"/>
          </a:ln>
        </p:spPr>
        <p:txBody>
          <a:bodyPr vert="horz" wrap="square" lIns="0" tIns="0" rIns="0" bIns="0">
            <a:spAutoFit/>
          </a:bodyPr>
          <a:lstStyle/>
          <a:p>
            <a:pPr marL="218440" algn="ctr" eaLnBrk="0"/>
            <a:r>
              <a:rPr kern="0" spc="35" dirty="0">
                <a:solidFill>
                  <a:srgbClr val="FFFFFF">
                    <a:alpha val="100000"/>
                  </a:srgbClr>
                </a:solidFill>
                <a:latin typeface="Microsoft YaHei" pitchFamily="34" charset="-122"/>
                <a:ea typeface="Microsoft YaHei" pitchFamily="34" charset="-122"/>
                <a:cs typeface="Arial" panose="020B0604020202090204"/>
              </a:rPr>
              <a:t>Q1</a:t>
            </a:r>
            <a:r>
              <a:rPr kern="0" spc="35" dirty="0">
                <a:solidFill>
                  <a:srgbClr val="FFFFFF">
                    <a:alpha val="100000"/>
                  </a:srgbClr>
                </a:solidFill>
                <a:latin typeface="Microsoft YaHei" pitchFamily="34" charset="-122"/>
                <a:ea typeface="Microsoft YaHei" pitchFamily="34" charset="-122"/>
                <a:cs typeface="黑体"/>
              </a:rPr>
              <a:t>直播</a:t>
            </a:r>
            <a:r>
              <a:rPr kern="0" dirty="0">
                <a:solidFill>
                  <a:srgbClr val="FFFFFF">
                    <a:alpha val="100000"/>
                  </a:srgbClr>
                </a:solidFill>
                <a:latin typeface="Microsoft YaHei" pitchFamily="34" charset="-122"/>
                <a:ea typeface="Microsoft YaHei" pitchFamily="34" charset="-122"/>
                <a:cs typeface="Arial" panose="020B0604020202090204"/>
              </a:rPr>
              <a:t>GMV</a:t>
            </a:r>
            <a:r>
              <a:rPr kern="0" spc="35" dirty="0">
                <a:solidFill>
                  <a:srgbClr val="FFFFFF">
                    <a:alpha val="100000"/>
                  </a:srgbClr>
                </a:solidFill>
                <a:latin typeface="Microsoft YaHei" pitchFamily="34" charset="-122"/>
                <a:ea typeface="Microsoft YaHei" pitchFamily="34" charset="-122"/>
                <a:cs typeface="Arial" panose="020B0604020202090204"/>
              </a:rPr>
              <a:t>:</a:t>
            </a:r>
            <a:endParaRPr dirty="0">
              <a:latin typeface="Microsoft YaHei" pitchFamily="34" charset="-122"/>
              <a:ea typeface="Microsoft YaHei" pitchFamily="34" charset="-122"/>
              <a:cs typeface="Arial" panose="020B0604020202090204"/>
            </a:endParaRPr>
          </a:p>
          <a:p>
            <a:pPr marL="8890" algn="ctr" eaLnBrk="0">
              <a:spcBef>
                <a:spcPts val="435"/>
              </a:spcBef>
            </a:pPr>
            <a:r>
              <a:rPr lang="en-US" altLang="zh-CN" kern="0" spc="14" dirty="0">
                <a:solidFill>
                  <a:srgbClr val="FFFFFF">
                    <a:alpha val="100000"/>
                  </a:srgbClr>
                </a:solidFill>
                <a:latin typeface="Microsoft YaHei" pitchFamily="34" charset="-122"/>
                <a:ea typeface="Microsoft YaHei" pitchFamily="34" charset="-122"/>
                <a:cs typeface="黑体"/>
              </a:rPr>
              <a:t>232w</a:t>
            </a:r>
            <a:endParaRPr lang="en-US" altLang="zh-CN" kern="0" spc="14" dirty="0">
              <a:solidFill>
                <a:srgbClr val="FFFFFF">
                  <a:alpha val="100000"/>
                </a:srgbClr>
              </a:solidFill>
              <a:latin typeface="Microsoft YaHei" pitchFamily="34" charset="-122"/>
              <a:ea typeface="Microsoft YaHei" pitchFamily="34" charset="-122"/>
              <a:cs typeface="黑体"/>
            </a:endParaRPr>
          </a:p>
          <a:p>
            <a:pPr marL="8890" algn="ctr" eaLnBrk="0">
              <a:spcBef>
                <a:spcPts val="435"/>
              </a:spcBef>
            </a:pPr>
            <a:r>
              <a:rPr lang="zh-CN" altLang="en-US" kern="0" spc="14" dirty="0">
                <a:solidFill>
                  <a:srgbClr val="FFFFFF">
                    <a:alpha val="100000"/>
                  </a:srgbClr>
                </a:solidFill>
                <a:latin typeface="Microsoft YaHei" pitchFamily="34" charset="-122"/>
                <a:ea typeface="Microsoft YaHei" pitchFamily="34" charset="-122"/>
                <a:cs typeface="黑体"/>
              </a:rPr>
              <a:t>（环比提升</a:t>
            </a:r>
            <a:r>
              <a:rPr lang="en-US" altLang="zh-CN" kern="0" spc="14" dirty="0">
                <a:solidFill>
                  <a:srgbClr val="FFFFFF">
                    <a:alpha val="100000"/>
                  </a:srgbClr>
                </a:solidFill>
                <a:latin typeface="Microsoft YaHei" pitchFamily="34" charset="-122"/>
                <a:ea typeface="Microsoft YaHei" pitchFamily="34" charset="-122"/>
                <a:cs typeface="黑体"/>
              </a:rPr>
              <a:t>1.5%</a:t>
            </a:r>
            <a:r>
              <a:rPr lang="zh-CN" altLang="en-US" kern="0" spc="14" dirty="0">
                <a:solidFill>
                  <a:srgbClr val="FFFFFF">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p:txBody>
      </p:sp>
      <p:sp>
        <p:nvSpPr>
          <p:cNvPr id="15" name="textbox 60"/>
          <p:cNvSpPr/>
          <p:nvPr/>
        </p:nvSpPr>
        <p:spPr>
          <a:xfrm>
            <a:off x="7124149" y="4824060"/>
            <a:ext cx="2297424" cy="830997"/>
          </a:xfrm>
          <a:prstGeom prst="rect">
            <a:avLst/>
          </a:prstGeom>
          <a:noFill/>
          <a:ln w="0" cap="flat">
            <a:noFill/>
            <a:prstDash val="solid"/>
            <a:miter lim="0"/>
          </a:ln>
        </p:spPr>
        <p:txBody>
          <a:bodyPr vert="horz" wrap="square" lIns="0" tIns="0" rIns="0" bIns="0">
            <a:spAutoFit/>
          </a:bodyPr>
          <a:lstStyle/>
          <a:p>
            <a:pPr algn="ctr" rtl="0" eaLnBrk="0"/>
            <a:endParaRPr dirty="0">
              <a:latin typeface="Microsoft YaHei" pitchFamily="34" charset="-122"/>
              <a:ea typeface="Microsoft YaHei" pitchFamily="34" charset="-122"/>
              <a:cs typeface="Arial" panose="020B0604020202090204"/>
            </a:endParaRPr>
          </a:p>
          <a:p>
            <a:pPr marL="8890" algn="ctr" eaLnBrk="0"/>
            <a:r>
              <a:rPr lang="en-US" altLang="zh-CN" kern="0" spc="-105" dirty="0">
                <a:solidFill>
                  <a:srgbClr val="FFFFFF">
                    <a:alpha val="100000"/>
                  </a:srgbClr>
                </a:solidFill>
                <a:latin typeface="Microsoft YaHei" pitchFamily="34" charset="-122"/>
                <a:ea typeface="Microsoft YaHei" pitchFamily="34" charset="-122"/>
                <a:cs typeface="宋体"/>
              </a:rPr>
              <a:t>APP</a:t>
            </a:r>
            <a:r>
              <a:rPr lang="zh-CN" altLang="en-US" kern="0" spc="-105" dirty="0">
                <a:solidFill>
                  <a:srgbClr val="FFFFFF">
                    <a:alpha val="100000"/>
                  </a:srgbClr>
                </a:solidFill>
                <a:latin typeface="Microsoft YaHei" pitchFamily="34" charset="-122"/>
                <a:ea typeface="Microsoft YaHei" pitchFamily="34" charset="-122"/>
                <a:cs typeface="宋体"/>
              </a:rPr>
              <a:t>商业化阶段</a:t>
            </a:r>
            <a:endParaRPr lang="en-US" altLang="zh-CN" kern="0" spc="-105" dirty="0">
              <a:solidFill>
                <a:srgbClr val="FFFFFF">
                  <a:alpha val="100000"/>
                </a:srgbClr>
              </a:solidFill>
              <a:latin typeface="Microsoft YaHei" pitchFamily="34" charset="-122"/>
              <a:ea typeface="Microsoft YaHei" pitchFamily="34" charset="-122"/>
              <a:cs typeface="宋体"/>
            </a:endParaRPr>
          </a:p>
          <a:p>
            <a:pPr marL="8890" algn="ctr" eaLnBrk="0"/>
            <a:r>
              <a:rPr lang="zh-CN" altLang="en-US" kern="0" spc="-105" dirty="0">
                <a:solidFill>
                  <a:srgbClr val="FFFFFF">
                    <a:alpha val="100000"/>
                  </a:srgbClr>
                </a:solidFill>
                <a:latin typeface="Microsoft YaHei" pitchFamily="34" charset="-122"/>
                <a:ea typeface="Microsoft YaHei" pitchFamily="34" charset="-122"/>
                <a:cs typeface="宋体"/>
              </a:rPr>
              <a:t>规划</a:t>
            </a:r>
            <a:endParaRPr dirty="0">
              <a:latin typeface="Microsoft YaHei" pitchFamily="34" charset="-122"/>
              <a:ea typeface="Microsoft YaHei" pitchFamily="34" charset="-122"/>
              <a:cs typeface="Times New Roman" panose="02020503050405090304"/>
            </a:endParaRPr>
          </a:p>
        </p:txBody>
      </p:sp>
      <p:sp>
        <p:nvSpPr>
          <p:cNvPr id="16" name="textbox 62"/>
          <p:cNvSpPr/>
          <p:nvPr/>
        </p:nvSpPr>
        <p:spPr>
          <a:xfrm>
            <a:off x="9488612" y="5059279"/>
            <a:ext cx="1766894" cy="553998"/>
          </a:xfrm>
          <a:prstGeom prst="rect">
            <a:avLst/>
          </a:prstGeom>
          <a:noFill/>
          <a:ln w="0" cap="flat">
            <a:noFill/>
            <a:prstDash val="solid"/>
            <a:miter lim="0"/>
          </a:ln>
        </p:spPr>
        <p:txBody>
          <a:bodyPr vert="horz" wrap="square" lIns="0" tIns="0" rIns="0" bIns="0">
            <a:spAutoFit/>
          </a:bodyPr>
          <a:lstStyle/>
          <a:p>
            <a:pPr marL="8890" algn="ctr" eaLnBrk="0"/>
            <a:r>
              <a:rPr lang="en-US" kern="0" spc="-105" dirty="0" err="1">
                <a:solidFill>
                  <a:srgbClr val="FFFFFF">
                    <a:alpha val="100000"/>
                  </a:srgbClr>
                </a:solidFill>
                <a:latin typeface="Microsoft YaHei" pitchFamily="34" charset="-122"/>
                <a:ea typeface="Microsoft YaHei" pitchFamily="34" charset="-122"/>
              </a:rPr>
              <a:t>AI完成阶段性落地成果</a:t>
            </a:r>
            <a:endParaRPr kern="0" spc="-105" dirty="0">
              <a:solidFill>
                <a:srgbClr val="FFFFFF">
                  <a:alpha val="100000"/>
                </a:srgbClr>
              </a:solidFill>
              <a:latin typeface="Microsoft YaHei" pitchFamily="34" charset="-122"/>
              <a:ea typeface="Microsoft YaHei" pitchFamily="34" charset="-122"/>
            </a:endParaRPr>
          </a:p>
        </p:txBody>
      </p:sp>
      <p:sp>
        <p:nvSpPr>
          <p:cNvPr id="17" name="textbox 64"/>
          <p:cNvSpPr/>
          <p:nvPr/>
        </p:nvSpPr>
        <p:spPr>
          <a:xfrm>
            <a:off x="936494" y="5015222"/>
            <a:ext cx="1455331" cy="726381"/>
          </a:xfrm>
          <a:prstGeom prst="rect">
            <a:avLst/>
          </a:prstGeom>
          <a:noFill/>
          <a:ln w="0" cap="flat">
            <a:noFill/>
            <a:prstDash val="solid"/>
            <a:miter lim="0"/>
          </a:ln>
        </p:spPr>
        <p:txBody>
          <a:bodyPr vert="horz" wrap="square" lIns="0" tIns="0" rIns="0" bIns="0"/>
          <a:lstStyle/>
          <a:p>
            <a:pPr algn="l" rtl="0" eaLnBrk="0">
              <a:lnSpc>
                <a:spcPct val="96000"/>
              </a:lnSpc>
            </a:pPr>
            <a:endParaRPr sz="2000" dirty="0">
              <a:latin typeface="Microsoft YaHei" pitchFamily="34" charset="-122"/>
              <a:ea typeface="Microsoft YaHei" pitchFamily="34" charset="-122"/>
              <a:cs typeface="Arial" panose="020B0604020202090204"/>
            </a:endParaRPr>
          </a:p>
          <a:p>
            <a:pPr algn="r" rtl="0" eaLnBrk="0">
              <a:lnSpc>
                <a:spcPct val="96000"/>
              </a:lnSpc>
            </a:pPr>
            <a:r>
              <a:rPr sz="2000" kern="0" spc="-167" dirty="0">
                <a:solidFill>
                  <a:srgbClr val="FFFFFF">
                    <a:alpha val="100000"/>
                  </a:srgbClr>
                </a:solidFill>
                <a:latin typeface="Microsoft YaHei" pitchFamily="34" charset="-122"/>
                <a:ea typeface="Microsoft YaHei" pitchFamily="34" charset="-122"/>
                <a:cs typeface="黑体"/>
              </a:rPr>
              <a:t>四</a:t>
            </a:r>
            <a:r>
              <a:rPr sz="2000" kern="0" spc="-160" dirty="0">
                <a:solidFill>
                  <a:srgbClr val="FFFFFF">
                    <a:alpha val="100000"/>
                  </a:srgbClr>
                </a:solidFill>
                <a:latin typeface="Microsoft YaHei" pitchFamily="34" charset="-122"/>
                <a:ea typeface="Microsoft YaHei" pitchFamily="34" charset="-122"/>
                <a:cs typeface="黑体"/>
              </a:rPr>
              <a:t>大核心战</a:t>
            </a:r>
            <a:r>
              <a:rPr sz="2000" kern="0" spc="-112" dirty="0">
                <a:solidFill>
                  <a:srgbClr val="FFFFFF">
                    <a:alpha val="100000"/>
                  </a:srgbClr>
                </a:solidFill>
                <a:latin typeface="Microsoft YaHei" pitchFamily="34" charset="-122"/>
                <a:ea typeface="Microsoft YaHei" pitchFamily="34" charset="-122"/>
                <a:cs typeface="黑体"/>
              </a:rPr>
              <a:t>果</a:t>
            </a:r>
            <a:endParaRPr sz="2000" dirty="0">
              <a:latin typeface="Microsoft YaHei" pitchFamily="34" charset="-122"/>
              <a:ea typeface="Microsoft YaHei" pitchFamily="34" charset="-122"/>
              <a:cs typeface="黑体"/>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26564" y="396498"/>
            <a:ext cx="11318926" cy="561185"/>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dirty="0">
                <a:latin typeface="Microsoft YaHei" pitchFamily="34" charset="-122"/>
                <a:ea typeface="Microsoft YaHei" pitchFamily="34" charset="-122"/>
                <a:sym typeface="+mn-ea"/>
              </a:rPr>
              <a:t>私域直播：</a:t>
            </a:r>
            <a:r>
              <a:rPr lang="en-US" altLang="zh-CN" dirty="0">
                <a:latin typeface="Microsoft YaHei" pitchFamily="34" charset="-122"/>
                <a:ea typeface="Microsoft YaHei" pitchFamily="34" charset="-122"/>
                <a:sym typeface="+mn-ea"/>
              </a:rPr>
              <a:t>Q1</a:t>
            </a:r>
            <a:r>
              <a:rPr lang="zh-CN" altLang="en-US" dirty="0">
                <a:latin typeface="Microsoft YaHei" pitchFamily="34" charset="-122"/>
                <a:ea typeface="Microsoft YaHei" pitchFamily="34" charset="-122"/>
                <a:sym typeface="+mn-ea"/>
              </a:rPr>
              <a:t>流水环比</a:t>
            </a:r>
            <a:r>
              <a:rPr lang="en-US" altLang="zh-CN" dirty="0">
                <a:latin typeface="Microsoft YaHei" pitchFamily="34" charset="-122"/>
                <a:ea typeface="Microsoft YaHei" pitchFamily="34" charset="-122"/>
                <a:sym typeface="+mn-ea"/>
              </a:rPr>
              <a:t>Q4</a:t>
            </a:r>
            <a:r>
              <a:rPr lang="zh-CN" altLang="en-US" dirty="0">
                <a:latin typeface="Microsoft YaHei" pitchFamily="34" charset="-122"/>
                <a:ea typeface="Microsoft YaHei" pitchFamily="34" charset="-122"/>
                <a:sym typeface="+mn-ea"/>
              </a:rPr>
              <a:t>提升</a:t>
            </a:r>
            <a:r>
              <a:rPr lang="en-US" altLang="zh-CN" dirty="0">
                <a:latin typeface="Microsoft YaHei" pitchFamily="34" charset="-122"/>
                <a:ea typeface="Microsoft YaHei" pitchFamily="34" charset="-122"/>
                <a:sym typeface="+mn-ea"/>
              </a:rPr>
              <a:t>1.53%</a:t>
            </a:r>
            <a:r>
              <a:rPr lang="zh-CN" altLang="en-US" dirty="0">
                <a:latin typeface="Microsoft YaHei" pitchFamily="34" charset="-122"/>
                <a:ea typeface="Microsoft YaHei" pitchFamily="34" charset="-122"/>
                <a:sym typeface="+mn-ea"/>
              </a:rPr>
              <a:t>，</a:t>
            </a:r>
            <a:r>
              <a:rPr lang="en-US" altLang="zh-CN" dirty="0">
                <a:latin typeface="Microsoft YaHei" pitchFamily="34" charset="-122"/>
                <a:ea typeface="Microsoft YaHei" pitchFamily="34" charset="-122"/>
                <a:sym typeface="+mn-ea"/>
              </a:rPr>
              <a:t>3</a:t>
            </a:r>
            <a:r>
              <a:rPr lang="zh-CN" altLang="en-US" dirty="0">
                <a:latin typeface="Microsoft YaHei" pitchFamily="34" charset="-122"/>
                <a:ea typeface="Microsoft YaHei" pitchFamily="34" charset="-122"/>
                <a:sym typeface="+mn-ea"/>
              </a:rPr>
              <a:t>月完成进度达</a:t>
            </a:r>
            <a:r>
              <a:rPr lang="en-US" altLang="zh-CN" dirty="0">
                <a:latin typeface="Microsoft YaHei" pitchFamily="34" charset="-122"/>
                <a:ea typeface="Microsoft YaHei" pitchFamily="34" charset="-122"/>
                <a:sym typeface="+mn-ea"/>
              </a:rPr>
              <a:t>140%</a:t>
            </a:r>
            <a:endParaRPr lang="zh-CN" altLang="en-US" dirty="0">
              <a:latin typeface="Microsoft YaHei" pitchFamily="34" charset="-122"/>
              <a:ea typeface="Microsoft YaHei" pitchFamily="34" charset="-122"/>
            </a:endParaRPr>
          </a:p>
        </p:txBody>
      </p:sp>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sp>
        <p:nvSpPr>
          <p:cNvPr id="17" name="文本框 16"/>
          <p:cNvSpPr txBox="1"/>
          <p:nvPr/>
        </p:nvSpPr>
        <p:spPr>
          <a:xfrm>
            <a:off x="764217" y="3602381"/>
            <a:ext cx="10079575" cy="461665"/>
          </a:xfrm>
          <a:prstGeom prst="rect">
            <a:avLst/>
          </a:prstGeom>
          <a:noFill/>
        </p:spPr>
        <p:txBody>
          <a:bodyPr wrap="square">
            <a:spAutoFit/>
          </a:bodyPr>
          <a:lstStyle/>
          <a:p>
            <a:pPr>
              <a:defRPr/>
            </a:pPr>
            <a:r>
              <a:rPr kumimoji="0" lang="zh-CN" altLang="en-US" sz="2400" u="none" strike="noStrike" kern="1200" cap="none" spc="0" normalizeH="0" baseline="0" noProof="0" dirty="0">
                <a:ln>
                  <a:noFill/>
                </a:ln>
                <a:gradFill flip="none" rotWithShape="1">
                  <a:gsLst>
                    <a:gs pos="5000">
                      <a:schemeClr val="accent2"/>
                    </a:gs>
                    <a:gs pos="66000">
                      <a:schemeClr val="accent1"/>
                    </a:gs>
                  </a:gsLst>
                  <a:lin ang="0" scaled="1"/>
                  <a:tileRect/>
                </a:gradFill>
                <a:effectLst/>
                <a:uLnTx/>
                <a:uFillTx/>
                <a:latin typeface="Microsoft YaHei" pitchFamily="34" charset="-122"/>
                <a:ea typeface="Microsoft YaHei" pitchFamily="34" charset="-122"/>
              </a:rPr>
              <a:t>探索</a:t>
            </a:r>
            <a:r>
              <a:rPr kumimoji="0" lang="en-US" altLang="zh-CN" sz="2400" u="none" strike="noStrike" kern="1200" cap="none" spc="0" normalizeH="0" baseline="0" noProof="0" dirty="0">
                <a:ln>
                  <a:noFill/>
                </a:ln>
                <a:gradFill flip="none" rotWithShape="1">
                  <a:gsLst>
                    <a:gs pos="5000">
                      <a:schemeClr val="accent2"/>
                    </a:gs>
                    <a:gs pos="66000">
                      <a:schemeClr val="accent1"/>
                    </a:gs>
                  </a:gsLst>
                  <a:lin ang="0" scaled="1"/>
                  <a:tileRect/>
                </a:gradFill>
                <a:effectLst/>
                <a:uLnTx/>
                <a:uFillTx/>
                <a:latin typeface="Microsoft YaHei" pitchFamily="34" charset="-122"/>
                <a:ea typeface="Microsoft YaHei" pitchFamily="34" charset="-122"/>
              </a:rPr>
              <a:t>GMV</a:t>
            </a:r>
            <a:r>
              <a:rPr lang="zh-CN" altLang="en-US"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增量因素（私域端）</a:t>
            </a:r>
            <a:r>
              <a:rPr lang="en-US" altLang="zh-CN"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a:t>
            </a:r>
            <a:r>
              <a:rPr lang="zh-CN" altLang="en-US"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直播场次</a:t>
            </a:r>
            <a:r>
              <a:rPr lang="en-US" altLang="zh-CN"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X</a:t>
            </a:r>
            <a:r>
              <a:rPr lang="zh-CN" altLang="en-US"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场观</a:t>
            </a:r>
            <a:r>
              <a:rPr lang="en-GB" altLang="zh-CN"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X</a:t>
            </a:r>
            <a:r>
              <a:rPr lang="zh-CN" altLang="en-US"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预约率</a:t>
            </a:r>
            <a:r>
              <a:rPr lang="en-US" altLang="zh-CN"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X</a:t>
            </a:r>
            <a:r>
              <a:rPr lang="zh-CN" altLang="en-US" sz="2400" dirty="0">
                <a:gradFill flip="none" rotWithShape="1">
                  <a:gsLst>
                    <a:gs pos="5000">
                      <a:schemeClr val="accent2"/>
                    </a:gs>
                    <a:gs pos="66000">
                      <a:schemeClr val="accent1"/>
                    </a:gs>
                  </a:gsLst>
                  <a:lin ang="0" scaled="1"/>
                  <a:tileRect/>
                </a:gradFill>
                <a:latin typeface="Microsoft YaHei" pitchFamily="34" charset="-122"/>
                <a:ea typeface="Microsoft YaHei" pitchFamily="34" charset="-122"/>
              </a:rPr>
              <a:t>到课率</a:t>
            </a:r>
            <a:endParaRPr kumimoji="0" lang="zh-CN" altLang="en-US" sz="2400" u="none" strike="noStrike" kern="1200" cap="none" spc="0" normalizeH="0" baseline="0" noProof="0" dirty="0">
              <a:ln>
                <a:noFill/>
              </a:ln>
              <a:gradFill flip="none" rotWithShape="1">
                <a:gsLst>
                  <a:gs pos="5000">
                    <a:schemeClr val="accent2"/>
                  </a:gs>
                  <a:gs pos="66000">
                    <a:schemeClr val="accent1"/>
                  </a:gs>
                </a:gsLst>
                <a:lin ang="0" scaled="1"/>
                <a:tileRect/>
              </a:gradFill>
              <a:effectLst/>
              <a:uLnTx/>
              <a:uFillTx/>
              <a:latin typeface="Microsoft YaHei" pitchFamily="34" charset="-122"/>
              <a:ea typeface="Microsoft YaHei" pitchFamily="34" charset="-122"/>
            </a:endParaRPr>
          </a:p>
        </p:txBody>
      </p:sp>
      <p:cxnSp>
        <p:nvCxnSpPr>
          <p:cNvPr id="20" name="直接连接符 20"/>
          <p:cNvCxnSpPr/>
          <p:nvPr/>
        </p:nvCxnSpPr>
        <p:spPr>
          <a:xfrm>
            <a:off x="890702" y="3531145"/>
            <a:ext cx="2538052" cy="0"/>
          </a:xfrm>
          <a:prstGeom prst="line">
            <a:avLst/>
          </a:prstGeom>
          <a:gradFill flip="none" rotWithShape="1">
            <a:gsLst>
              <a:gs pos="24490">
                <a:srgbClr val="E1D5C9">
                  <a:alpha val="28000"/>
                </a:srgbClr>
              </a:gs>
              <a:gs pos="100000">
                <a:srgbClr val="E1D5C9">
                  <a:alpha val="0"/>
                </a:srgbClr>
              </a:gs>
            </a:gsLst>
            <a:lin ang="5400000" scaled="1"/>
            <a:tileRect/>
          </a:gradFill>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1"/>
          <p:cNvCxnSpPr/>
          <p:nvPr/>
        </p:nvCxnSpPr>
        <p:spPr>
          <a:xfrm>
            <a:off x="3519687" y="3531145"/>
            <a:ext cx="2288769" cy="0"/>
          </a:xfrm>
          <a:prstGeom prst="line">
            <a:avLst/>
          </a:prstGeom>
          <a:gradFill flip="none" rotWithShape="1">
            <a:gsLst>
              <a:gs pos="24490">
                <a:srgbClr val="E1D5C9">
                  <a:alpha val="28000"/>
                </a:srgbClr>
              </a:gs>
              <a:gs pos="100000">
                <a:srgbClr val="E1D5C9">
                  <a:alpha val="0"/>
                </a:srgbClr>
              </a:gs>
            </a:gsLst>
            <a:lin ang="5400000" scaled="1"/>
            <a:tileRect/>
          </a:gradFill>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2"/>
          <p:cNvCxnSpPr/>
          <p:nvPr/>
        </p:nvCxnSpPr>
        <p:spPr>
          <a:xfrm>
            <a:off x="8320204" y="3531145"/>
            <a:ext cx="3006046" cy="0"/>
          </a:xfrm>
          <a:prstGeom prst="line">
            <a:avLst/>
          </a:prstGeom>
          <a:gradFill flip="none" rotWithShape="1">
            <a:gsLst>
              <a:gs pos="24490">
                <a:srgbClr val="E1D5C9">
                  <a:alpha val="28000"/>
                </a:srgbClr>
              </a:gs>
              <a:gs pos="100000">
                <a:srgbClr val="E1D5C9">
                  <a:alpha val="0"/>
                </a:srgbClr>
              </a:gs>
            </a:gsLst>
            <a:lin ang="5400000" scaled="1"/>
            <a:tileRect/>
          </a:gradFill>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3" name="直接连接符 23"/>
          <p:cNvCxnSpPr/>
          <p:nvPr/>
        </p:nvCxnSpPr>
        <p:spPr>
          <a:xfrm>
            <a:off x="5887749" y="3531145"/>
            <a:ext cx="2171198" cy="0"/>
          </a:xfrm>
          <a:prstGeom prst="line">
            <a:avLst/>
          </a:prstGeom>
          <a:gradFill flip="none" rotWithShape="1">
            <a:gsLst>
              <a:gs pos="24490">
                <a:srgbClr val="E1D5C9">
                  <a:alpha val="28000"/>
                </a:srgbClr>
              </a:gs>
              <a:gs pos="100000">
                <a:srgbClr val="E1D5C9">
                  <a:alpha val="0"/>
                </a:srgbClr>
              </a:gs>
            </a:gsLst>
            <a:lin ang="5400000" scaled="1"/>
            <a:tileRect/>
          </a:gradFill>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400241" y="4150940"/>
            <a:ext cx="2152634" cy="646331"/>
          </a:xfrm>
          <a:prstGeom prst="rect">
            <a:avLst/>
          </a:prstGeom>
          <a:gradFill>
            <a:gsLst>
              <a:gs pos="69984">
                <a:srgbClr val="F6884B">
                  <a:alpha val="83423"/>
                </a:srgbClr>
              </a:gs>
              <a:gs pos="33000">
                <a:srgbClr val="F2684A">
                  <a:alpha val="92138"/>
                </a:srgbClr>
              </a:gs>
              <a:gs pos="0">
                <a:srgbClr val="FD4444">
                  <a:alpha val="86805"/>
                </a:srgbClr>
              </a:gs>
              <a:gs pos="100000">
                <a:srgbClr val="FE9140">
                  <a:alpha val="32000"/>
                </a:srgbClr>
              </a:gs>
            </a:gsLst>
            <a:lin ang="0" scaled="0"/>
          </a:gradFill>
        </p:spPr>
        <p:txBody>
          <a:bodyPr wrap="square">
            <a:spAutoFit/>
          </a:bodyPr>
          <a:lstStyle>
            <a:defPPr>
              <a:defRPr lang="zh-CN"/>
            </a:defPPr>
            <a:lvl1pPr marR="0" lvl="0" fontAlgn="auto">
              <a:lnSpc>
                <a:spcPct val="100000"/>
              </a:lnSpc>
              <a:spcBef>
                <a:spcPts val="0"/>
              </a:spcBef>
              <a:spcAft>
                <a:spcPts val="0"/>
              </a:spcAft>
              <a:buClrTx/>
              <a:buSzTx/>
              <a:defRPr kumimoji="0" sz="2000" i="0" u="none" strike="noStrike" cap="none" spc="0" normalizeH="0" baseline="0">
                <a:ln>
                  <a:noFill/>
                </a:ln>
                <a:solidFill>
                  <a:srgbClr val="FEFEFE"/>
                </a:solidFill>
                <a:effectLst/>
                <a:uLnTx/>
                <a:uFillTx/>
                <a:latin typeface="SimHei" pitchFamily="49" charset="-122"/>
                <a:ea typeface="SimHei" pitchFamily="49" charset="-122"/>
              </a:defRPr>
            </a:lvl1pPr>
          </a:lstStyle>
          <a:p>
            <a:r>
              <a:rPr lang="zh-CN" altLang="en-US" sz="1800" dirty="0">
                <a:latin typeface="Microsoft YaHei" pitchFamily="34" charset="-122"/>
                <a:ea typeface="Microsoft YaHei" pitchFamily="34" charset="-122"/>
              </a:rPr>
              <a:t>创新增量</a:t>
            </a:r>
            <a:r>
              <a:rPr lang="en-US" altLang="zh-CN" sz="1800" dirty="0">
                <a:latin typeface="Microsoft YaHei" pitchFamily="34" charset="-122"/>
                <a:ea typeface="Microsoft YaHei" pitchFamily="34" charset="-122"/>
              </a:rPr>
              <a:t>2:</a:t>
            </a:r>
            <a:endParaRPr lang="en-US" altLang="zh-CN" sz="1800" dirty="0">
              <a:latin typeface="Microsoft YaHei" pitchFamily="34" charset="-122"/>
              <a:ea typeface="Microsoft YaHei" pitchFamily="34" charset="-122"/>
            </a:endParaRPr>
          </a:p>
          <a:p>
            <a:r>
              <a:rPr lang="zh-CN" altLang="en-US" sz="1800" dirty="0">
                <a:latin typeface="Microsoft YaHei" pitchFamily="34" charset="-122"/>
                <a:ea typeface="Microsoft YaHei" pitchFamily="34" charset="-122"/>
              </a:rPr>
              <a:t>新用户策略直播</a:t>
            </a:r>
            <a:endParaRPr lang="en-US" altLang="zh-CN" sz="1800" dirty="0">
              <a:latin typeface="Microsoft YaHei" pitchFamily="34" charset="-122"/>
              <a:ea typeface="Microsoft YaHei" pitchFamily="34" charset="-122"/>
            </a:endParaRPr>
          </a:p>
        </p:txBody>
      </p:sp>
      <p:sp>
        <p:nvSpPr>
          <p:cNvPr id="38" name="文本框 37"/>
          <p:cNvSpPr txBox="1"/>
          <p:nvPr/>
        </p:nvSpPr>
        <p:spPr>
          <a:xfrm>
            <a:off x="8791760" y="4150940"/>
            <a:ext cx="2426367" cy="646331"/>
          </a:xfrm>
          <a:prstGeom prst="rect">
            <a:avLst/>
          </a:prstGeom>
          <a:gradFill>
            <a:gsLst>
              <a:gs pos="69984">
                <a:srgbClr val="F6884B">
                  <a:alpha val="83423"/>
                </a:srgbClr>
              </a:gs>
              <a:gs pos="33000">
                <a:srgbClr val="F2684A">
                  <a:alpha val="92138"/>
                </a:srgbClr>
              </a:gs>
              <a:gs pos="0">
                <a:srgbClr val="FD4444">
                  <a:alpha val="86805"/>
                </a:srgbClr>
              </a:gs>
              <a:gs pos="100000">
                <a:srgbClr val="FE9140">
                  <a:alpha val="32000"/>
                </a:srgbClr>
              </a:gs>
            </a:gsLst>
            <a:lin ang="0" scaled="0"/>
          </a:gradFill>
        </p:spPr>
        <p:txBody>
          <a:bodyPr wrap="square">
            <a:spAutoFit/>
          </a:bodyPr>
          <a:lstStyle>
            <a:defPPr>
              <a:defRPr lang="zh-CN"/>
            </a:defPPr>
            <a:lvl1pPr marR="0" lvl="0" fontAlgn="auto">
              <a:lnSpc>
                <a:spcPct val="100000"/>
              </a:lnSpc>
              <a:spcBef>
                <a:spcPts val="0"/>
              </a:spcBef>
              <a:spcAft>
                <a:spcPts val="0"/>
              </a:spcAft>
              <a:buClrTx/>
              <a:buSzTx/>
              <a:defRPr kumimoji="0" sz="2000" i="0" u="none" strike="noStrike" cap="none" spc="0" normalizeH="0" baseline="0">
                <a:ln>
                  <a:noFill/>
                </a:ln>
                <a:solidFill>
                  <a:srgbClr val="FEFEFE"/>
                </a:solidFill>
                <a:effectLst/>
                <a:uLnTx/>
                <a:uFillTx/>
                <a:latin typeface="SimHei" pitchFamily="49" charset="-122"/>
                <a:ea typeface="SimHei" pitchFamily="49" charset="-122"/>
              </a:defRPr>
            </a:lvl1pPr>
          </a:lstStyle>
          <a:p>
            <a:r>
              <a:rPr lang="zh-CN" altLang="en-US" sz="1800" dirty="0">
                <a:latin typeface="Microsoft YaHei" pitchFamily="34" charset="-122"/>
                <a:ea typeface="Microsoft YaHei" pitchFamily="34" charset="-122"/>
              </a:rPr>
              <a:t>质量：</a:t>
            </a:r>
            <a:endParaRPr lang="en-US" altLang="zh-CN" sz="1800" dirty="0">
              <a:latin typeface="Microsoft YaHei" pitchFamily="34" charset="-122"/>
              <a:ea typeface="Microsoft YaHei" pitchFamily="34" charset="-122"/>
            </a:endParaRPr>
          </a:p>
          <a:p>
            <a:r>
              <a:rPr lang="zh-CN" altLang="en-US" sz="1800" dirty="0">
                <a:latin typeface="Microsoft YaHei" pitchFamily="34" charset="-122"/>
                <a:ea typeface="Microsoft YaHei" pitchFamily="34" charset="-122"/>
              </a:rPr>
              <a:t>统一直播文案方法论</a:t>
            </a:r>
            <a:endParaRPr lang="en-US" altLang="zh-CN" sz="1800" dirty="0">
              <a:latin typeface="Microsoft YaHei" pitchFamily="34" charset="-122"/>
              <a:ea typeface="Microsoft YaHei" pitchFamily="34" charset="-122"/>
            </a:endParaRPr>
          </a:p>
        </p:txBody>
      </p:sp>
      <p:sp>
        <p:nvSpPr>
          <p:cNvPr id="31" name="文本框 30"/>
          <p:cNvSpPr txBox="1"/>
          <p:nvPr/>
        </p:nvSpPr>
        <p:spPr>
          <a:xfrm>
            <a:off x="679777" y="4150940"/>
            <a:ext cx="2152634" cy="646331"/>
          </a:xfrm>
          <a:prstGeom prst="rect">
            <a:avLst/>
          </a:prstGeom>
          <a:gradFill>
            <a:gsLst>
              <a:gs pos="69984">
                <a:srgbClr val="F6884B">
                  <a:alpha val="83423"/>
                </a:srgbClr>
              </a:gs>
              <a:gs pos="33000">
                <a:srgbClr val="F2684A">
                  <a:alpha val="92138"/>
                </a:srgbClr>
              </a:gs>
              <a:gs pos="0">
                <a:srgbClr val="FD4444">
                  <a:alpha val="86805"/>
                </a:srgbClr>
              </a:gs>
              <a:gs pos="100000">
                <a:srgbClr val="FE9140">
                  <a:alpha val="32000"/>
                </a:srgbClr>
              </a:gs>
            </a:gsLst>
            <a:lin ang="0" scaled="0"/>
          </a:gradFill>
        </p:spPr>
        <p:txBody>
          <a:bodyPr wrap="square">
            <a:spAutoFit/>
          </a:bodyPr>
          <a:lstStyle/>
          <a:p>
            <a:pPr marR="0" lvl="0" algn="l" defTabSz="914400" rtl="0" eaLnBrk="1" fontAlgn="auto" latinLnBrk="0" hangingPunct="1">
              <a:lnSpc>
                <a:spcPct val="100000"/>
              </a:lnSpc>
              <a:spcBef>
                <a:spcPts val="0"/>
              </a:spcBef>
              <a:spcAft>
                <a:spcPts val="0"/>
              </a:spcAft>
              <a:buClrTx/>
              <a:buSzTx/>
              <a:defRPr/>
            </a:pPr>
            <a:r>
              <a:rPr kumimoji="0" lang="zh-CN" altLang="en-US" u="none" strike="noStrike" kern="1200" cap="none" spc="0" normalizeH="0" baseline="0" noProof="0" dirty="0">
                <a:ln>
                  <a:noFill/>
                </a:ln>
                <a:solidFill>
                  <a:srgbClr val="FEFEFE"/>
                </a:solidFill>
                <a:effectLst/>
                <a:uLnTx/>
                <a:uFillTx/>
                <a:latin typeface="Microsoft YaHei" pitchFamily="34" charset="-122"/>
                <a:ea typeface="Microsoft YaHei" pitchFamily="34" charset="-122"/>
              </a:rPr>
              <a:t>创新增量</a:t>
            </a:r>
            <a:r>
              <a:rPr kumimoji="0" lang="en-US" altLang="zh-CN" u="none" strike="noStrike" kern="1200" cap="none" spc="0" normalizeH="0" baseline="0" noProof="0" dirty="0">
                <a:ln>
                  <a:noFill/>
                </a:ln>
                <a:solidFill>
                  <a:srgbClr val="FEFEFE"/>
                </a:solidFill>
                <a:effectLst/>
                <a:uLnTx/>
                <a:uFillTx/>
                <a:latin typeface="Microsoft YaHei" pitchFamily="34" charset="-122"/>
                <a:ea typeface="Microsoft YaHei" pitchFamily="34" charset="-122"/>
              </a:rPr>
              <a:t>1</a:t>
            </a:r>
            <a:r>
              <a:rPr kumimoji="0" lang="zh-CN" altLang="en-US" u="none" strike="noStrike" kern="1200" cap="none" spc="0" normalizeH="0" baseline="0" noProof="0" dirty="0">
                <a:ln>
                  <a:noFill/>
                </a:ln>
                <a:solidFill>
                  <a:srgbClr val="FEFEFE"/>
                </a:solidFill>
                <a:effectLst/>
                <a:uLnTx/>
                <a:uFillTx/>
                <a:latin typeface="Microsoft YaHei" pitchFamily="34" charset="-122"/>
                <a:ea typeface="Microsoft YaHei" pitchFamily="34" charset="-122"/>
              </a:rPr>
              <a:t>：</a:t>
            </a:r>
            <a:endParaRPr kumimoji="0" lang="en-US" altLang="zh-CN" u="none" strike="noStrike" kern="1200" cap="none" spc="0" normalizeH="0" baseline="0" noProof="0" dirty="0">
              <a:ln>
                <a:noFill/>
              </a:ln>
              <a:solidFill>
                <a:srgbClr val="FEFEFE"/>
              </a:solidFill>
              <a:effectLst/>
              <a:uLnTx/>
              <a:uFillTx/>
              <a:latin typeface="Microsoft YaHei" pitchFamily="34" charset="-122"/>
              <a:ea typeface="Microsoft YaHei" pitchFamily="34" charset="-122"/>
            </a:endParaRPr>
          </a:p>
          <a:p>
            <a:pPr marR="0" lvl="0" algn="l" defTabSz="914400" rtl="0" eaLnBrk="1" fontAlgn="auto" latinLnBrk="0" hangingPunct="1">
              <a:lnSpc>
                <a:spcPct val="100000"/>
              </a:lnSpc>
              <a:spcBef>
                <a:spcPts val="0"/>
              </a:spcBef>
              <a:spcAft>
                <a:spcPts val="0"/>
              </a:spcAft>
              <a:buClrTx/>
              <a:buSzTx/>
              <a:defRPr/>
            </a:pPr>
            <a:r>
              <a:rPr kumimoji="0" lang="zh-CN" altLang="en-US" u="none" strike="noStrike" kern="1200" cap="none" spc="0" normalizeH="0" baseline="0" noProof="0" dirty="0">
                <a:ln>
                  <a:noFill/>
                </a:ln>
                <a:solidFill>
                  <a:srgbClr val="FEFEFE"/>
                </a:solidFill>
                <a:effectLst/>
                <a:uLnTx/>
                <a:uFillTx/>
                <a:latin typeface="Microsoft YaHei" pitchFamily="34" charset="-122"/>
                <a:ea typeface="Microsoft YaHei" pitchFamily="34" charset="-122"/>
              </a:rPr>
              <a:t>每周高转直播复用</a:t>
            </a:r>
            <a:endParaRPr kumimoji="0" lang="zh-CN" altLang="en-US" u="none" strike="noStrike" kern="1200" cap="none" spc="0" normalizeH="0" baseline="0" noProof="0" dirty="0">
              <a:ln>
                <a:noFill/>
              </a:ln>
              <a:solidFill>
                <a:srgbClr val="FEFEFE"/>
              </a:solidFill>
              <a:effectLst/>
              <a:uLnTx/>
              <a:uFillTx/>
              <a:latin typeface="Microsoft YaHei" pitchFamily="34" charset="-122"/>
              <a:ea typeface="Microsoft YaHei" pitchFamily="34" charset="-122"/>
            </a:endParaRPr>
          </a:p>
        </p:txBody>
      </p:sp>
      <p:sp>
        <p:nvSpPr>
          <p:cNvPr id="36" name="文本框 35"/>
          <p:cNvSpPr txBox="1"/>
          <p:nvPr/>
        </p:nvSpPr>
        <p:spPr>
          <a:xfrm>
            <a:off x="6096001" y="4150940"/>
            <a:ext cx="2152634" cy="646331"/>
          </a:xfrm>
          <a:prstGeom prst="rect">
            <a:avLst/>
          </a:prstGeom>
          <a:gradFill>
            <a:gsLst>
              <a:gs pos="69984">
                <a:srgbClr val="F6884B">
                  <a:alpha val="83423"/>
                </a:srgbClr>
              </a:gs>
              <a:gs pos="33000">
                <a:srgbClr val="F2684A">
                  <a:alpha val="92138"/>
                </a:srgbClr>
              </a:gs>
              <a:gs pos="0">
                <a:srgbClr val="FD4444">
                  <a:alpha val="86805"/>
                </a:srgbClr>
              </a:gs>
              <a:gs pos="100000">
                <a:srgbClr val="FE9140">
                  <a:alpha val="32000"/>
                </a:srgbClr>
              </a:gs>
            </a:gsLst>
            <a:lin ang="0" scaled="0"/>
          </a:gradFill>
        </p:spPr>
        <p:txBody>
          <a:bodyPr wrap="square">
            <a:spAutoFit/>
          </a:bodyPr>
          <a:lstStyle>
            <a:defPPr>
              <a:defRPr lang="zh-CN"/>
            </a:defPPr>
            <a:lvl1pPr marR="0" lvl="0" fontAlgn="auto">
              <a:lnSpc>
                <a:spcPct val="100000"/>
              </a:lnSpc>
              <a:spcBef>
                <a:spcPts val="0"/>
              </a:spcBef>
              <a:spcAft>
                <a:spcPts val="0"/>
              </a:spcAft>
              <a:buClrTx/>
              <a:buSzTx/>
              <a:defRPr kumimoji="0" sz="2000" i="0" u="none" strike="noStrike" cap="none" spc="0" normalizeH="0" baseline="0">
                <a:ln>
                  <a:noFill/>
                </a:ln>
                <a:solidFill>
                  <a:srgbClr val="FEFEFE"/>
                </a:solidFill>
                <a:effectLst/>
                <a:uLnTx/>
                <a:uFillTx/>
                <a:latin typeface="SimHei" pitchFamily="49" charset="-122"/>
                <a:ea typeface="SimHei" pitchFamily="49" charset="-122"/>
              </a:defRPr>
            </a:lvl1pPr>
          </a:lstStyle>
          <a:p>
            <a:r>
              <a:rPr lang="zh-CN" altLang="en-US" sz="1800" dirty="0">
                <a:latin typeface="Microsoft YaHei" pitchFamily="34" charset="-122"/>
                <a:ea typeface="Microsoft YaHei" pitchFamily="34" charset="-122"/>
              </a:rPr>
              <a:t>效率：</a:t>
            </a:r>
            <a:endParaRPr lang="en-US" altLang="zh-CN" sz="1800" dirty="0">
              <a:latin typeface="Microsoft YaHei" pitchFamily="34" charset="-122"/>
              <a:ea typeface="Microsoft YaHei" pitchFamily="34" charset="-122"/>
            </a:endParaRPr>
          </a:p>
          <a:p>
            <a:r>
              <a:rPr lang="zh-CN" altLang="en-US" sz="1800" dirty="0">
                <a:latin typeface="Microsoft YaHei" pitchFamily="34" charset="-122"/>
                <a:ea typeface="Microsoft YaHei" pitchFamily="34" charset="-122"/>
              </a:rPr>
              <a:t>私域资源整合</a:t>
            </a:r>
            <a:endParaRPr lang="en-US" altLang="zh-CN" sz="1800" dirty="0">
              <a:latin typeface="Microsoft YaHei" pitchFamily="34" charset="-122"/>
              <a:ea typeface="Microsoft YaHei" pitchFamily="34" charset="-122"/>
            </a:endParaRPr>
          </a:p>
        </p:txBody>
      </p:sp>
      <p:sp>
        <p:nvSpPr>
          <p:cNvPr id="37" name="文本框 36"/>
          <p:cNvSpPr txBox="1"/>
          <p:nvPr/>
        </p:nvSpPr>
        <p:spPr>
          <a:xfrm>
            <a:off x="642244" y="4854612"/>
            <a:ext cx="2288769" cy="1323439"/>
          </a:xfrm>
          <a:prstGeom prst="rect">
            <a:avLst/>
          </a:prstGeom>
          <a:noFill/>
        </p:spPr>
        <p:txBody>
          <a:bodyPr wrap="square" rtlCol="0">
            <a:spAutoFit/>
          </a:bodyPr>
          <a:lstStyle/>
          <a:p>
            <a:r>
              <a:rPr lang="zh-CN" altLang="en-US" sz="1600" dirty="0">
                <a:latin typeface="Microsoft YaHei" pitchFamily="34" charset="-122"/>
                <a:ea typeface="Microsoft YaHei" pitchFamily="34" charset="-122"/>
              </a:rPr>
              <a:t>设定复用规则与频率</a:t>
            </a:r>
            <a:endParaRPr lang="en-US" altLang="zh-CN" sz="1600" dirty="0">
              <a:latin typeface="Microsoft YaHei" pitchFamily="34" charset="-122"/>
              <a:ea typeface="Microsoft YaHei" pitchFamily="34" charset="-122"/>
            </a:endParaRPr>
          </a:p>
          <a:p>
            <a:r>
              <a:rPr lang="en-US" altLang="zh-CN" sz="1600" dirty="0">
                <a:latin typeface="Microsoft YaHei" pitchFamily="34" charset="-122"/>
                <a:ea typeface="Microsoft YaHei" pitchFamily="34" charset="-122"/>
              </a:rPr>
              <a:t>1</a:t>
            </a:r>
            <a:r>
              <a:rPr lang="zh-CN" altLang="en-US" sz="1600" dirty="0">
                <a:latin typeface="Microsoft YaHei" pitchFamily="34" charset="-122"/>
                <a:ea typeface="Microsoft YaHei" pitchFamily="34" charset="-122"/>
              </a:rPr>
              <a:t>）规则：历史跨科率 </a:t>
            </a:r>
            <a:r>
              <a:rPr lang="en-US" altLang="zh-CN" sz="1600" dirty="0">
                <a:latin typeface="Microsoft YaHei" pitchFamily="34" charset="-122"/>
                <a:ea typeface="Microsoft YaHei" pitchFamily="34" charset="-122"/>
              </a:rPr>
              <a:t>&amp;</a:t>
            </a:r>
            <a:r>
              <a:rPr lang="zh-CN" altLang="en-US" sz="1600" dirty="0">
                <a:latin typeface="Microsoft YaHei" pitchFamily="34" charset="-122"/>
                <a:ea typeface="Microsoft YaHei" pitchFamily="34" charset="-122"/>
              </a:rPr>
              <a:t>品类偏好属性</a:t>
            </a:r>
            <a:r>
              <a:rPr lang="en-US" altLang="zh-CN" sz="1600" dirty="0">
                <a:latin typeface="Microsoft YaHei" pitchFamily="34" charset="-122"/>
                <a:ea typeface="Microsoft YaHei" pitchFamily="34" charset="-122"/>
              </a:rPr>
              <a:t>&amp;</a:t>
            </a:r>
            <a:r>
              <a:rPr lang="zh-CN" altLang="en-US" sz="1600" dirty="0">
                <a:latin typeface="Microsoft YaHei" pitchFamily="34" charset="-122"/>
                <a:ea typeface="Microsoft YaHei" pitchFamily="34" charset="-122"/>
              </a:rPr>
              <a:t>转化率</a:t>
            </a:r>
            <a:endParaRPr lang="en-US" altLang="zh-CN" sz="1600" dirty="0">
              <a:latin typeface="Microsoft YaHei" pitchFamily="34" charset="-122"/>
              <a:ea typeface="Microsoft YaHei" pitchFamily="34" charset="-122"/>
            </a:endParaRPr>
          </a:p>
          <a:p>
            <a:r>
              <a:rPr lang="en-US" altLang="zh-CN" sz="1600" dirty="0">
                <a:latin typeface="Microsoft YaHei" pitchFamily="34" charset="-122"/>
                <a:ea typeface="Microsoft YaHei" pitchFamily="34" charset="-122"/>
              </a:rPr>
              <a:t>2</a:t>
            </a:r>
            <a:r>
              <a:rPr lang="zh-CN" altLang="en-US" sz="1600" dirty="0">
                <a:latin typeface="Microsoft YaHei" pitchFamily="34" charset="-122"/>
                <a:ea typeface="Microsoft YaHei" pitchFamily="34" charset="-122"/>
              </a:rPr>
              <a:t>）频率：每周</a:t>
            </a:r>
            <a:r>
              <a:rPr lang="en-US" altLang="zh-CN" sz="1600" dirty="0">
                <a:latin typeface="Microsoft YaHei" pitchFamily="34" charset="-122"/>
                <a:ea typeface="Microsoft YaHei" pitchFamily="34" charset="-122"/>
              </a:rPr>
              <a:t>3-5</a:t>
            </a:r>
            <a:r>
              <a:rPr lang="zh-CN" altLang="en-US" sz="1600" dirty="0">
                <a:latin typeface="Microsoft YaHei" pitchFamily="34" charset="-122"/>
                <a:ea typeface="Microsoft YaHei" pitchFamily="34" charset="-122"/>
              </a:rPr>
              <a:t>场</a:t>
            </a:r>
            <a:endParaRPr lang="zh-CN" altLang="en-US" sz="1600" dirty="0">
              <a:latin typeface="Microsoft YaHei" pitchFamily="34" charset="-122"/>
              <a:ea typeface="Microsoft YaHei" pitchFamily="34" charset="-122"/>
            </a:endParaRPr>
          </a:p>
        </p:txBody>
      </p:sp>
      <p:sp>
        <p:nvSpPr>
          <p:cNvPr id="39" name="文本框 38"/>
          <p:cNvSpPr txBox="1"/>
          <p:nvPr/>
        </p:nvSpPr>
        <p:spPr>
          <a:xfrm>
            <a:off x="8791759" y="4977723"/>
            <a:ext cx="2426367" cy="1077218"/>
          </a:xfrm>
          <a:prstGeom prst="rect">
            <a:avLst/>
          </a:prstGeom>
          <a:noFill/>
        </p:spPr>
        <p:txBody>
          <a:bodyPr wrap="square" rtlCol="0">
            <a:spAutoFit/>
          </a:bodyPr>
          <a:lstStyle/>
          <a:p>
            <a:r>
              <a:rPr lang="zh-CN" altLang="en-US" sz="1600" dirty="0">
                <a:latin typeface="Microsoft YaHei" pitchFamily="34" charset="-122"/>
                <a:ea typeface="Microsoft YaHei" pitchFamily="34" charset="-122"/>
              </a:rPr>
              <a:t>基于用户洞察，通过赋予人设，依据触达文案框架</a:t>
            </a:r>
            <a:r>
              <a:rPr kumimoji="1" lang="zh-CN" altLang="en-US" sz="1600" dirty="0">
                <a:latin typeface="Microsoft YaHei" pitchFamily="34" charset="-122"/>
                <a:ea typeface="Microsoft YaHei" pitchFamily="34" charset="-122"/>
              </a:rPr>
              <a:t>形成标准的场景化触达策略</a:t>
            </a:r>
            <a:endParaRPr lang="zh-CN" altLang="en-US" sz="1600" dirty="0">
              <a:latin typeface="Microsoft YaHei" pitchFamily="34" charset="-122"/>
              <a:ea typeface="Microsoft YaHei" pitchFamily="34" charset="-122"/>
            </a:endParaRPr>
          </a:p>
        </p:txBody>
      </p:sp>
      <p:sp>
        <p:nvSpPr>
          <p:cNvPr id="40" name="文本框 39"/>
          <p:cNvSpPr txBox="1"/>
          <p:nvPr/>
        </p:nvSpPr>
        <p:spPr>
          <a:xfrm>
            <a:off x="3400240" y="4977723"/>
            <a:ext cx="2288769" cy="1077218"/>
          </a:xfrm>
          <a:prstGeom prst="rect">
            <a:avLst/>
          </a:prstGeom>
          <a:noFill/>
        </p:spPr>
        <p:txBody>
          <a:bodyPr wrap="square" rtlCol="0">
            <a:spAutoFit/>
          </a:bodyPr>
          <a:lstStyle/>
          <a:p>
            <a:r>
              <a:rPr lang="zh-CN" altLang="en-US" sz="1600" dirty="0">
                <a:latin typeface="Microsoft YaHei" pitchFamily="34" charset="-122"/>
                <a:ea typeface="Microsoft YaHei" pitchFamily="34" charset="-122"/>
              </a:rPr>
              <a:t>根据转继承公海新量用户的历史跨科偏好得出新用户首个深度种草直播</a:t>
            </a:r>
            <a:endParaRPr lang="zh-CN" altLang="en-US" sz="1600" dirty="0">
              <a:latin typeface="Microsoft YaHei" pitchFamily="34" charset="-122"/>
              <a:ea typeface="Microsoft YaHei" pitchFamily="34" charset="-122"/>
            </a:endParaRPr>
          </a:p>
        </p:txBody>
      </p:sp>
      <p:sp>
        <p:nvSpPr>
          <p:cNvPr id="41" name="文本框 40"/>
          <p:cNvSpPr txBox="1"/>
          <p:nvPr/>
        </p:nvSpPr>
        <p:spPr>
          <a:xfrm>
            <a:off x="6161339" y="4854611"/>
            <a:ext cx="2288769" cy="1323439"/>
          </a:xfrm>
          <a:prstGeom prst="rect">
            <a:avLst/>
          </a:prstGeom>
          <a:noFill/>
        </p:spPr>
        <p:txBody>
          <a:bodyPr wrap="square" rtlCol="0">
            <a:spAutoFit/>
          </a:bodyPr>
          <a:lstStyle/>
          <a:p>
            <a:r>
              <a:rPr lang="en-US" altLang="zh-CN" sz="1600" dirty="0">
                <a:latin typeface="Microsoft YaHei" pitchFamily="34" charset="-122"/>
                <a:ea typeface="Microsoft YaHei" pitchFamily="34" charset="-122"/>
              </a:rPr>
              <a:t>1</a:t>
            </a:r>
            <a:r>
              <a:rPr lang="zh-CN" altLang="en-US" sz="1600" dirty="0">
                <a:latin typeface="Microsoft YaHei" pitchFamily="34" charset="-122"/>
                <a:ea typeface="Microsoft YaHei" pitchFamily="34" charset="-122"/>
              </a:rPr>
              <a:t>）内部：</a:t>
            </a:r>
            <a:endParaRPr lang="en-US" altLang="zh-CN" sz="1600" dirty="0">
              <a:latin typeface="Microsoft YaHei" pitchFamily="34" charset="-122"/>
              <a:ea typeface="Microsoft YaHei" pitchFamily="34" charset="-122"/>
            </a:endParaRPr>
          </a:p>
          <a:p>
            <a:r>
              <a:rPr lang="zh-CN" altLang="en-US" sz="1600" dirty="0">
                <a:latin typeface="Microsoft YaHei" pitchFamily="34" charset="-122"/>
                <a:ea typeface="Microsoft YaHei" pitchFamily="34" charset="-122"/>
              </a:rPr>
              <a:t>整合三线资源排期</a:t>
            </a:r>
            <a:endParaRPr lang="en-US" altLang="zh-CN" sz="1600" dirty="0">
              <a:latin typeface="Microsoft YaHei" pitchFamily="34" charset="-122"/>
              <a:ea typeface="Microsoft YaHei" pitchFamily="34" charset="-122"/>
            </a:endParaRPr>
          </a:p>
          <a:p>
            <a:r>
              <a:rPr lang="en-US" altLang="zh-CN" sz="1600" dirty="0">
                <a:latin typeface="Microsoft YaHei" pitchFamily="34" charset="-122"/>
                <a:ea typeface="Microsoft YaHei" pitchFamily="34" charset="-122"/>
              </a:rPr>
              <a:t>2</a:t>
            </a:r>
            <a:r>
              <a:rPr lang="zh-CN" altLang="en-US" sz="1600" dirty="0">
                <a:latin typeface="Microsoft YaHei" pitchFamily="34" charset="-122"/>
                <a:ea typeface="Microsoft YaHei" pitchFamily="34" charset="-122"/>
              </a:rPr>
              <a:t>）外部：</a:t>
            </a:r>
            <a:endParaRPr lang="en-US" altLang="zh-CN" sz="1600" dirty="0">
              <a:latin typeface="Microsoft YaHei" pitchFamily="34" charset="-122"/>
              <a:ea typeface="Microsoft YaHei" pitchFamily="34" charset="-122"/>
            </a:endParaRPr>
          </a:p>
          <a:p>
            <a:r>
              <a:rPr lang="zh-CN" altLang="en-US" sz="1600" dirty="0">
                <a:latin typeface="Microsoft YaHei" pitchFamily="34" charset="-122"/>
                <a:ea typeface="Microsoft YaHei" pitchFamily="34" charset="-122"/>
              </a:rPr>
              <a:t>利用</a:t>
            </a:r>
            <a:r>
              <a:rPr lang="en-US" altLang="zh-CN" sz="1600" dirty="0">
                <a:latin typeface="Microsoft YaHei" pitchFamily="34" charset="-122"/>
                <a:ea typeface="Microsoft YaHei" pitchFamily="34" charset="-122"/>
              </a:rPr>
              <a:t>MA</a:t>
            </a:r>
            <a:r>
              <a:rPr lang="zh-CN" altLang="en-US" sz="1600" dirty="0">
                <a:latin typeface="Microsoft YaHei" pitchFamily="34" charset="-122"/>
                <a:ea typeface="Microsoft YaHei" pitchFamily="34" charset="-122"/>
              </a:rPr>
              <a:t>完成直播分层触达</a:t>
            </a:r>
            <a:endParaRPr lang="en-US" altLang="zh-CN" sz="1600" dirty="0">
              <a:latin typeface="Microsoft YaHei" pitchFamily="34" charset="-122"/>
              <a:ea typeface="Microsoft YaHei" pitchFamily="34" charset="-122"/>
            </a:endParaRPr>
          </a:p>
        </p:txBody>
      </p:sp>
      <p:graphicFrame>
        <p:nvGraphicFramePr>
          <p:cNvPr id="42" name="图表 41"/>
          <p:cNvGraphicFramePr/>
          <p:nvPr/>
        </p:nvGraphicFramePr>
        <p:xfrm>
          <a:off x="477188" y="1149086"/>
          <a:ext cx="11368302" cy="2228751"/>
        </p:xfrm>
        <a:graphic>
          <a:graphicData uri="http://schemas.openxmlformats.org/drawingml/2006/chart">
            <c:chart xmlns:c="http://schemas.openxmlformats.org/drawingml/2006/chart" xmlns:r="http://schemas.openxmlformats.org/officeDocument/2006/relationships" r:id="rId1"/>
          </a:graphicData>
        </a:graphic>
      </p:graphicFrame>
      <p:sp>
        <p:nvSpPr>
          <p:cNvPr id="5" name="文本框 4"/>
          <p:cNvSpPr txBox="1"/>
          <p:nvPr/>
        </p:nvSpPr>
        <p:spPr>
          <a:xfrm>
            <a:off x="9575450" y="1039564"/>
            <a:ext cx="1750800" cy="369332"/>
          </a:xfrm>
          <a:prstGeom prst="rect">
            <a:avLst/>
          </a:prstGeom>
          <a:noFill/>
        </p:spPr>
        <p:txBody>
          <a:bodyPr wrap="none" rtlCol="0">
            <a:spAutoFit/>
          </a:bodyPr>
          <a:lstStyle/>
          <a:p>
            <a:r>
              <a:rPr kumimoji="1" lang="zh-CN" altLang="en-US" b="1" dirty="0">
                <a:latin typeface="+mj-ea"/>
                <a:ea typeface="+mj-ea"/>
              </a:rPr>
              <a:t>完成率：</a:t>
            </a:r>
            <a:r>
              <a:rPr kumimoji="1" lang="en-US" altLang="zh-CN" b="1" dirty="0">
                <a:latin typeface="+mj-ea"/>
                <a:ea typeface="+mj-ea"/>
              </a:rPr>
              <a:t>140%</a:t>
            </a:r>
            <a:endParaRPr kumimoji="1" lang="zh-CN" altLang="en-US" b="1" dirty="0">
              <a:latin typeface="+mj-ea"/>
              <a:ea typeface="+mj-ea"/>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203178"/>
            <a:ext cx="12192000" cy="6804836"/>
          </a:xfrm>
          <a:prstGeom prst="rect">
            <a:avLst/>
          </a:prstGeom>
        </p:spPr>
      </p:pic>
      <p:sp>
        <p:nvSpPr>
          <p:cNvPr id="2" name="文本框 1"/>
          <p:cNvSpPr txBox="1"/>
          <p:nvPr/>
        </p:nvSpPr>
        <p:spPr>
          <a:xfrm>
            <a:off x="550863" y="441748"/>
            <a:ext cx="912162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kern="0" spc="21" dirty="0">
                <a:solidFill>
                  <a:srgbClr val="000000">
                    <a:alpha val="100000"/>
                  </a:srgbClr>
                </a:solidFill>
                <a:latin typeface="Microsoft YaHei" pitchFamily="34" charset="-122"/>
                <a:ea typeface="Microsoft YaHei" pitchFamily="34" charset="-122"/>
                <a:cs typeface="黑体"/>
              </a:rPr>
              <a:t>私域直播策略前后对比</a:t>
            </a:r>
            <a:endParaRPr lang="zh-CN" altLang="en-US" sz="3200" dirty="0">
              <a:latin typeface="Microsoft YaHei" pitchFamily="34" charset="-122"/>
              <a:ea typeface="Microsoft YaHei" pitchFamily="34" charset="-122"/>
            </a:endParaRPr>
          </a:p>
        </p:txBody>
      </p:sp>
      <p:sp>
        <p:nvSpPr>
          <p:cNvPr id="6" name="文本框 5"/>
          <p:cNvSpPr txBox="1"/>
          <p:nvPr/>
        </p:nvSpPr>
        <p:spPr>
          <a:xfrm>
            <a:off x="2302933" y="1303866"/>
            <a:ext cx="1456267" cy="523220"/>
          </a:xfrm>
          <a:prstGeom prst="rect">
            <a:avLst/>
          </a:prstGeom>
          <a:noFill/>
        </p:spPr>
        <p:txBody>
          <a:bodyPr wrap="square" rtlCol="0">
            <a:spAutoFit/>
          </a:bodyPr>
          <a:lstStyle/>
          <a:p>
            <a:r>
              <a:rPr kumimoji="1" lang="zh-CN" altLang="en-US" sz="2800" dirty="0">
                <a:latin typeface="Microsoft YaHei" pitchFamily="34" charset="-122"/>
                <a:ea typeface="Microsoft YaHei" pitchFamily="34" charset="-122"/>
              </a:rPr>
              <a:t>改之前</a:t>
            </a:r>
            <a:endParaRPr kumimoji="1" lang="zh-CN" altLang="en-US" sz="2800" dirty="0">
              <a:latin typeface="Microsoft YaHei" pitchFamily="34" charset="-122"/>
              <a:ea typeface="Microsoft YaHei" pitchFamily="34" charset="-122"/>
            </a:endParaRPr>
          </a:p>
        </p:txBody>
      </p:sp>
      <p:sp>
        <p:nvSpPr>
          <p:cNvPr id="7" name="文本框 6"/>
          <p:cNvSpPr txBox="1"/>
          <p:nvPr/>
        </p:nvSpPr>
        <p:spPr>
          <a:xfrm>
            <a:off x="8432802" y="1303866"/>
            <a:ext cx="1456267" cy="523220"/>
          </a:xfrm>
          <a:prstGeom prst="rect">
            <a:avLst/>
          </a:prstGeom>
          <a:noFill/>
        </p:spPr>
        <p:txBody>
          <a:bodyPr wrap="square" rtlCol="0">
            <a:spAutoFit/>
          </a:bodyPr>
          <a:lstStyle/>
          <a:p>
            <a:r>
              <a:rPr kumimoji="1" lang="zh-CN" altLang="en-US" sz="2800" dirty="0">
                <a:latin typeface="Microsoft YaHei" pitchFamily="34" charset="-122"/>
                <a:ea typeface="Microsoft YaHei" pitchFamily="34" charset="-122"/>
              </a:rPr>
              <a:t>改之后</a:t>
            </a:r>
            <a:endParaRPr kumimoji="1" lang="zh-CN" altLang="en-US" sz="2800" dirty="0">
              <a:latin typeface="Microsoft YaHei" pitchFamily="34" charset="-122"/>
              <a:ea typeface="Microsoft YaHei" pitchFamily="34" charset="-122"/>
            </a:endParaRPr>
          </a:p>
        </p:txBody>
      </p:sp>
      <p:sp>
        <p:nvSpPr>
          <p:cNvPr id="8" name="文本框 7"/>
          <p:cNvSpPr txBox="1"/>
          <p:nvPr/>
        </p:nvSpPr>
        <p:spPr>
          <a:xfrm>
            <a:off x="1542868" y="2286000"/>
            <a:ext cx="3826934" cy="646331"/>
          </a:xfrm>
          <a:prstGeom prst="rect">
            <a:avLst/>
          </a:prstGeom>
          <a:noFill/>
        </p:spPr>
        <p:txBody>
          <a:bodyPr wrap="square" rtlCol="0">
            <a:spAutoFit/>
          </a:bodyPr>
          <a:lstStyle/>
          <a:p>
            <a:r>
              <a:rPr lang="zh-CN" altLang="en-US" dirty="0">
                <a:latin typeface="Microsoft YaHei" pitchFamily="34" charset="-122"/>
                <a:ea typeface="Microsoft YaHei" pitchFamily="34" charset="-122"/>
              </a:rPr>
              <a:t>资源位分配：三线按品类私域跨科优先级各自排期，没有统一规则 </a:t>
            </a:r>
            <a:endParaRPr lang="zh-CN" altLang="en-US" dirty="0">
              <a:latin typeface="Microsoft YaHei" pitchFamily="34" charset="-122"/>
              <a:ea typeface="Microsoft YaHei" pitchFamily="34" charset="-122"/>
            </a:endParaRPr>
          </a:p>
        </p:txBody>
      </p:sp>
      <p:sp>
        <p:nvSpPr>
          <p:cNvPr id="9" name="文本框 8"/>
          <p:cNvSpPr txBox="1"/>
          <p:nvPr/>
        </p:nvSpPr>
        <p:spPr>
          <a:xfrm>
            <a:off x="7588068" y="2286000"/>
            <a:ext cx="3826934" cy="923330"/>
          </a:xfrm>
          <a:prstGeom prst="rect">
            <a:avLst/>
          </a:prstGeom>
          <a:noFill/>
        </p:spPr>
        <p:txBody>
          <a:bodyPr wrap="square" rtlCol="0">
            <a:spAutoFit/>
          </a:bodyPr>
          <a:lstStyle/>
          <a:p>
            <a:r>
              <a:rPr lang="zh-CN" altLang="en-US" dirty="0">
                <a:latin typeface="Microsoft YaHei" pitchFamily="34" charset="-122"/>
                <a:ea typeface="Microsoft YaHei" pitchFamily="34" charset="-122"/>
              </a:rPr>
              <a:t>三线资源位打通实现效率最大化</a:t>
            </a:r>
            <a:endParaRPr lang="en-US" altLang="zh-CN" dirty="0">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且</a:t>
            </a:r>
            <a:r>
              <a:rPr lang="zh-CN" altLang="en-US" dirty="0">
                <a:solidFill>
                  <a:schemeClr val="accent2"/>
                </a:solidFill>
                <a:latin typeface="Microsoft YaHei" pitchFamily="34" charset="-122"/>
                <a:ea typeface="Microsoft YaHei" pitchFamily="34" charset="-122"/>
              </a:rPr>
              <a:t>排期耗时从</a:t>
            </a:r>
            <a:r>
              <a:rPr lang="en-US" altLang="zh-CN" dirty="0">
                <a:solidFill>
                  <a:schemeClr val="accent2"/>
                </a:solidFill>
                <a:latin typeface="Microsoft YaHei" pitchFamily="34" charset="-122"/>
                <a:ea typeface="Microsoft YaHei" pitchFamily="34" charset="-122"/>
              </a:rPr>
              <a:t>12</a:t>
            </a:r>
            <a:r>
              <a:rPr lang="en-GB" altLang="zh-CN" dirty="0">
                <a:solidFill>
                  <a:schemeClr val="accent2"/>
                </a:solidFill>
                <a:latin typeface="Microsoft YaHei" pitchFamily="34" charset="-122"/>
                <a:ea typeface="Microsoft YaHei" pitchFamily="34" charset="-122"/>
              </a:rPr>
              <a:t>h/</a:t>
            </a:r>
            <a:r>
              <a:rPr lang="zh-CN" altLang="en-US" dirty="0">
                <a:solidFill>
                  <a:schemeClr val="accent2"/>
                </a:solidFill>
                <a:latin typeface="Microsoft YaHei" pitchFamily="34" charset="-122"/>
                <a:ea typeface="Microsoft YaHei" pitchFamily="34" charset="-122"/>
              </a:rPr>
              <a:t>周：</a:t>
            </a:r>
            <a:r>
              <a:rPr lang="en-US" altLang="zh-CN" dirty="0">
                <a:solidFill>
                  <a:schemeClr val="accent2"/>
                </a:solidFill>
                <a:latin typeface="Microsoft YaHei" pitchFamily="34" charset="-122"/>
                <a:ea typeface="Microsoft YaHei" pitchFamily="34" charset="-122"/>
              </a:rPr>
              <a:t>4</a:t>
            </a:r>
            <a:r>
              <a:rPr lang="en-GB" altLang="zh-CN" dirty="0">
                <a:solidFill>
                  <a:schemeClr val="accent2"/>
                </a:solidFill>
                <a:latin typeface="Microsoft YaHei" pitchFamily="34" charset="-122"/>
                <a:ea typeface="Microsoft YaHei" pitchFamily="34" charset="-122"/>
              </a:rPr>
              <a:t>h/</a:t>
            </a:r>
            <a:r>
              <a:rPr lang="zh-CN" altLang="en-US" dirty="0">
                <a:solidFill>
                  <a:schemeClr val="accent2"/>
                </a:solidFill>
                <a:latin typeface="Microsoft YaHei" pitchFamily="34" charset="-122"/>
                <a:ea typeface="Microsoft YaHei" pitchFamily="34" charset="-122"/>
              </a:rPr>
              <a:t>周（↓</a:t>
            </a:r>
            <a:r>
              <a:rPr lang="en-US" altLang="zh-CN" dirty="0">
                <a:solidFill>
                  <a:schemeClr val="accent2"/>
                </a:solidFill>
                <a:latin typeface="Microsoft YaHei" pitchFamily="34" charset="-122"/>
                <a:ea typeface="Microsoft YaHei" pitchFamily="34" charset="-122"/>
              </a:rPr>
              <a:t>67%</a:t>
            </a:r>
            <a:r>
              <a:rPr lang="zh-CN" altLang="en-US" dirty="0">
                <a:solidFill>
                  <a:schemeClr val="accent2"/>
                </a:solidFill>
                <a:latin typeface="Microsoft YaHei" pitchFamily="34" charset="-122"/>
                <a:ea typeface="Microsoft YaHei" pitchFamily="34" charset="-122"/>
              </a:rPr>
              <a:t>） </a:t>
            </a:r>
            <a:endParaRPr lang="zh-CN" altLang="en-US" dirty="0">
              <a:solidFill>
                <a:schemeClr val="accent2"/>
              </a:solidFill>
              <a:latin typeface="Microsoft YaHei" pitchFamily="34" charset="-122"/>
              <a:ea typeface="Microsoft YaHei" pitchFamily="34" charset="-122"/>
            </a:endParaRPr>
          </a:p>
        </p:txBody>
      </p:sp>
      <p:sp>
        <p:nvSpPr>
          <p:cNvPr id="10" name="文本框 9"/>
          <p:cNvSpPr txBox="1"/>
          <p:nvPr/>
        </p:nvSpPr>
        <p:spPr>
          <a:xfrm>
            <a:off x="1542868" y="3602504"/>
            <a:ext cx="3826934" cy="646331"/>
          </a:xfrm>
          <a:prstGeom prst="rect">
            <a:avLst/>
          </a:prstGeom>
          <a:noFill/>
        </p:spPr>
        <p:txBody>
          <a:bodyPr wrap="square" rtlCol="0">
            <a:spAutoFit/>
          </a:bodyPr>
          <a:lstStyle/>
          <a:p>
            <a:r>
              <a:rPr lang="zh-CN" altLang="en-US" dirty="0">
                <a:latin typeface="Microsoft YaHei" pitchFamily="34" charset="-122"/>
                <a:ea typeface="Microsoft YaHei" pitchFamily="34" charset="-122"/>
              </a:rPr>
              <a:t>复用缺失：高转化直播内容没有标准化封装，每场从 </a:t>
            </a:r>
            <a:r>
              <a:rPr lang="en-US" altLang="zh-CN" dirty="0">
                <a:latin typeface="Microsoft YaHei" pitchFamily="34" charset="-122"/>
                <a:ea typeface="Microsoft YaHei" pitchFamily="34" charset="-122"/>
              </a:rPr>
              <a:t>0 </a:t>
            </a:r>
            <a:r>
              <a:rPr lang="zh-CN" altLang="en-US" dirty="0">
                <a:latin typeface="Microsoft YaHei" pitchFamily="34" charset="-122"/>
                <a:ea typeface="Microsoft YaHei" pitchFamily="34" charset="-122"/>
              </a:rPr>
              <a:t>开始</a:t>
            </a:r>
            <a:endParaRPr lang="zh-CN" altLang="en-US" dirty="0">
              <a:latin typeface="Microsoft YaHei" pitchFamily="34" charset="-122"/>
              <a:ea typeface="Microsoft YaHei" pitchFamily="34" charset="-122"/>
            </a:endParaRPr>
          </a:p>
        </p:txBody>
      </p:sp>
      <p:sp>
        <p:nvSpPr>
          <p:cNvPr id="11" name="文本框 10"/>
          <p:cNvSpPr txBox="1"/>
          <p:nvPr/>
        </p:nvSpPr>
        <p:spPr>
          <a:xfrm>
            <a:off x="7588068" y="3487431"/>
            <a:ext cx="3826934" cy="923330"/>
          </a:xfrm>
          <a:prstGeom prst="rect">
            <a:avLst/>
          </a:prstGeom>
          <a:noFill/>
        </p:spPr>
        <p:txBody>
          <a:bodyPr wrap="square" rtlCol="0">
            <a:spAutoFit/>
          </a:bodyPr>
          <a:lstStyle/>
          <a:p>
            <a:r>
              <a:rPr lang="zh-CN" altLang="en-US" dirty="0">
                <a:latin typeface="Microsoft YaHei" pitchFamily="34" charset="-122"/>
                <a:ea typeface="Microsoft YaHei" pitchFamily="34" charset="-122"/>
              </a:rPr>
              <a:t>高转化直播内容封装为可复用模板 ，复用至日常直播</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新用户策略</a:t>
            </a:r>
            <a:endParaRPr lang="en-US" altLang="zh-CN" dirty="0">
              <a:latin typeface="Microsoft YaHei" pitchFamily="34" charset="-122"/>
              <a:ea typeface="Microsoft YaHei" pitchFamily="34" charset="-122"/>
            </a:endParaRPr>
          </a:p>
          <a:p>
            <a:r>
              <a:rPr lang="zh-CN" altLang="en-US" dirty="0">
                <a:solidFill>
                  <a:schemeClr val="accent2"/>
                </a:solidFill>
                <a:latin typeface="Microsoft YaHei" pitchFamily="34" charset="-122"/>
                <a:ea typeface="Microsoft YaHei" pitchFamily="34" charset="-122"/>
              </a:rPr>
              <a:t>月度购物车</a:t>
            </a:r>
            <a:r>
              <a:rPr lang="en-US" altLang="zh-CN" dirty="0">
                <a:solidFill>
                  <a:schemeClr val="accent2"/>
                </a:solidFill>
                <a:latin typeface="Microsoft YaHei" pitchFamily="34" charset="-122"/>
                <a:ea typeface="Microsoft YaHei" pitchFamily="34" charset="-122"/>
              </a:rPr>
              <a:t>GMV</a:t>
            </a:r>
            <a:r>
              <a:rPr lang="zh-CN" altLang="en-US" dirty="0">
                <a:solidFill>
                  <a:schemeClr val="accent2"/>
                </a:solidFill>
                <a:latin typeface="Microsoft YaHei" pitchFamily="34" charset="-122"/>
                <a:ea typeface="Microsoft YaHei" pitchFamily="34" charset="-122"/>
              </a:rPr>
              <a:t>贡献占比</a:t>
            </a:r>
            <a:r>
              <a:rPr lang="en-US" altLang="zh-CN" dirty="0">
                <a:solidFill>
                  <a:schemeClr val="accent2"/>
                </a:solidFill>
                <a:latin typeface="Microsoft YaHei" pitchFamily="34" charset="-122"/>
                <a:ea typeface="Microsoft YaHei" pitchFamily="34" charset="-122"/>
              </a:rPr>
              <a:t>20%</a:t>
            </a:r>
            <a:endParaRPr lang="en-US" altLang="zh-CN" dirty="0">
              <a:solidFill>
                <a:schemeClr val="accent2"/>
              </a:solidFill>
              <a:latin typeface="Microsoft YaHei" pitchFamily="34" charset="-122"/>
              <a:ea typeface="Microsoft YaHei" pitchFamily="34" charset="-122"/>
            </a:endParaRPr>
          </a:p>
        </p:txBody>
      </p:sp>
      <p:sp>
        <p:nvSpPr>
          <p:cNvPr id="12" name="文本框 11"/>
          <p:cNvSpPr txBox="1"/>
          <p:nvPr/>
        </p:nvSpPr>
        <p:spPr>
          <a:xfrm>
            <a:off x="1542868" y="4907803"/>
            <a:ext cx="3826934" cy="646331"/>
          </a:xfrm>
          <a:prstGeom prst="rect">
            <a:avLst/>
          </a:prstGeom>
          <a:noFill/>
        </p:spPr>
        <p:txBody>
          <a:bodyPr wrap="square" rtlCol="0">
            <a:spAutoFit/>
          </a:bodyPr>
          <a:lstStyle/>
          <a:p>
            <a:r>
              <a:rPr lang="zh-CN" altLang="en-US" dirty="0">
                <a:latin typeface="Microsoft YaHei" pitchFamily="34" charset="-122"/>
                <a:ea typeface="Microsoft YaHei" pitchFamily="34" charset="-122"/>
              </a:rPr>
              <a:t>触达低效：高级群发限制导致触达用户速度慢，整体到课率不高 </a:t>
            </a:r>
            <a:endParaRPr lang="zh-CN" altLang="en-US" dirty="0">
              <a:latin typeface="Microsoft YaHei" pitchFamily="34" charset="-122"/>
              <a:ea typeface="Microsoft YaHei" pitchFamily="34" charset="-122"/>
            </a:endParaRPr>
          </a:p>
        </p:txBody>
      </p:sp>
      <p:sp>
        <p:nvSpPr>
          <p:cNvPr id="14" name="文本框 13"/>
          <p:cNvSpPr txBox="1"/>
          <p:nvPr/>
        </p:nvSpPr>
        <p:spPr>
          <a:xfrm>
            <a:off x="7588068" y="4859878"/>
            <a:ext cx="3826934" cy="646331"/>
          </a:xfrm>
          <a:prstGeom prst="rect">
            <a:avLst/>
          </a:prstGeom>
          <a:noFill/>
        </p:spPr>
        <p:txBody>
          <a:bodyPr wrap="square" rtlCol="0">
            <a:spAutoFit/>
          </a:bodyPr>
          <a:lstStyle/>
          <a:p>
            <a:r>
              <a:rPr lang="en-US" altLang="zh-CN" dirty="0">
                <a:latin typeface="Microsoft YaHei" pitchFamily="34" charset="-122"/>
                <a:ea typeface="Microsoft YaHei" pitchFamily="34" charset="-122"/>
              </a:rPr>
              <a:t>MA</a:t>
            </a:r>
            <a:r>
              <a:rPr lang="zh-CN" altLang="en-US" dirty="0">
                <a:latin typeface="Microsoft YaHei" pitchFamily="34" charset="-122"/>
                <a:ea typeface="Microsoft YaHei" pitchFamily="34" charset="-122"/>
              </a:rPr>
              <a:t>主要赋能场景</a:t>
            </a:r>
            <a:r>
              <a:rPr lang="zh-CN" altLang="en-US" dirty="0">
                <a:solidFill>
                  <a:schemeClr val="accent2"/>
                </a:solidFill>
                <a:latin typeface="Microsoft YaHei" pitchFamily="34" charset="-122"/>
                <a:ea typeface="Microsoft YaHei" pitchFamily="34" charset="-122"/>
              </a:rPr>
              <a:t>（触达率达</a:t>
            </a:r>
            <a:r>
              <a:rPr lang="en-US" altLang="zh-CN" dirty="0">
                <a:solidFill>
                  <a:schemeClr val="accent2"/>
                </a:solidFill>
                <a:latin typeface="Microsoft YaHei" pitchFamily="34" charset="-122"/>
                <a:ea typeface="Microsoft YaHei" pitchFamily="34" charset="-122"/>
              </a:rPr>
              <a:t>97%</a:t>
            </a:r>
            <a:r>
              <a:rPr lang="zh-CN" altLang="en-US" dirty="0">
                <a:solidFill>
                  <a:schemeClr val="accent2"/>
                </a:solidFill>
                <a:latin typeface="Microsoft YaHei" pitchFamily="34" charset="-122"/>
                <a:ea typeface="Microsoft YaHei" pitchFamily="34" charset="-122"/>
              </a:rPr>
              <a:t>）</a:t>
            </a:r>
            <a:endParaRPr lang="en-US" altLang="zh-CN" dirty="0">
              <a:solidFill>
                <a:schemeClr val="accent2"/>
              </a:solidFill>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日常直播分层</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针对已预约催到课</a:t>
            </a:r>
            <a:endParaRPr lang="en-US" altLang="zh-CN" dirty="0">
              <a:latin typeface="Microsoft YaHei" pitchFamily="34" charset="-122"/>
              <a:ea typeface="Microsoft YaHei" pitchFamily="34" charset="-122"/>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4310" y="327708"/>
            <a:ext cx="12829998" cy="49360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2400" dirty="0">
                <a:solidFill>
                  <a:schemeClr val="tx1"/>
                </a:solidFill>
                <a:latin typeface="Microsoft YaHei" pitchFamily="34" charset="-122"/>
                <a:ea typeface="Microsoft YaHei" pitchFamily="34" charset="-122"/>
              </a:rPr>
              <a:t>新用户策略突破</a:t>
            </a:r>
            <a:r>
              <a:rPr lang="en-US" altLang="zh-CN" sz="2400" dirty="0">
                <a:solidFill>
                  <a:schemeClr val="tx1"/>
                </a:solidFill>
                <a:latin typeface="Microsoft YaHei" pitchFamily="34" charset="-122"/>
                <a:ea typeface="Microsoft YaHei" pitchFamily="34" charset="-122"/>
              </a:rPr>
              <a:t>-day7</a:t>
            </a:r>
            <a:r>
              <a:rPr lang="zh-CN" altLang="en-US" sz="2400" dirty="0">
                <a:solidFill>
                  <a:schemeClr val="tx1"/>
                </a:solidFill>
                <a:latin typeface="Microsoft YaHei" pitchFamily="34" charset="-122"/>
                <a:ea typeface="Microsoft YaHei" pitchFamily="34" charset="-122"/>
              </a:rPr>
              <a:t>留存提升</a:t>
            </a:r>
            <a:r>
              <a:rPr lang="en-US" altLang="zh-CN" sz="2400" dirty="0">
                <a:solidFill>
                  <a:schemeClr val="tx1"/>
                </a:solidFill>
                <a:latin typeface="Microsoft YaHei" pitchFamily="34" charset="-122"/>
                <a:ea typeface="Microsoft YaHei" pitchFamily="34" charset="-122"/>
              </a:rPr>
              <a:t>3%</a:t>
            </a:r>
            <a:r>
              <a:rPr lang="zh-CN" altLang="en-US" sz="2400" dirty="0">
                <a:solidFill>
                  <a:schemeClr val="tx1"/>
                </a:solidFill>
                <a:latin typeface="Microsoft YaHei" pitchFamily="34" charset="-122"/>
                <a:ea typeface="Microsoft YaHei" pitchFamily="34" charset="-122"/>
              </a:rPr>
              <a:t>，</a:t>
            </a:r>
            <a:r>
              <a:rPr lang="en-US" altLang="zh-CN" sz="2400" dirty="0" err="1">
                <a:solidFill>
                  <a:schemeClr val="tx1"/>
                </a:solidFill>
                <a:latin typeface="Microsoft YaHei" pitchFamily="34" charset="-122"/>
                <a:ea typeface="Microsoft YaHei" pitchFamily="34" charset="-122"/>
              </a:rPr>
              <a:t>ltv</a:t>
            </a:r>
            <a:r>
              <a:rPr lang="zh-CN" altLang="en-US" sz="2400" dirty="0">
                <a:solidFill>
                  <a:schemeClr val="tx1"/>
                </a:solidFill>
                <a:latin typeface="Microsoft YaHei" pitchFamily="34" charset="-122"/>
                <a:ea typeface="Microsoft YaHei" pitchFamily="34" charset="-122"/>
              </a:rPr>
              <a:t>提升</a:t>
            </a:r>
            <a:r>
              <a:rPr lang="en-US" altLang="zh-CN" sz="2400" dirty="0">
                <a:solidFill>
                  <a:schemeClr val="tx1"/>
                </a:solidFill>
                <a:latin typeface="Microsoft YaHei" pitchFamily="34" charset="-122"/>
                <a:ea typeface="Microsoft YaHei" pitchFamily="34" charset="-122"/>
              </a:rPr>
              <a:t>23%</a:t>
            </a:r>
            <a:r>
              <a:rPr lang="zh-CN" altLang="en-US" sz="2400" dirty="0">
                <a:solidFill>
                  <a:schemeClr val="tx1"/>
                </a:solidFill>
                <a:latin typeface="Microsoft YaHei" pitchFamily="34" charset="-122"/>
                <a:ea typeface="Microsoft YaHei" pitchFamily="34" charset="-122"/>
              </a:rPr>
              <a:t>，</a:t>
            </a:r>
            <a:r>
              <a:rPr kumimoji="1" lang="zh-CN" altLang="en-US" sz="2400" dirty="0">
                <a:solidFill>
                  <a:schemeClr val="tx1"/>
                </a:solidFill>
              </a:rPr>
              <a:t>私域</a:t>
            </a:r>
            <a:r>
              <a:rPr kumimoji="1" lang="en-GB" altLang="zh-CN" sz="2400" dirty="0">
                <a:solidFill>
                  <a:schemeClr val="tx1"/>
                </a:solidFill>
              </a:rPr>
              <a:t>day7</a:t>
            </a:r>
            <a:r>
              <a:rPr kumimoji="1" lang="zh-CN" altLang="en-US" sz="2400" dirty="0">
                <a:solidFill>
                  <a:schemeClr val="tx1"/>
                </a:solidFill>
              </a:rPr>
              <a:t>营收占比提升</a:t>
            </a:r>
            <a:r>
              <a:rPr kumimoji="1" lang="en-US" altLang="zh-CN" sz="2400" dirty="0">
                <a:solidFill>
                  <a:schemeClr val="accent2"/>
                </a:solidFill>
              </a:rPr>
              <a:t>44%</a:t>
            </a:r>
            <a:endParaRPr lang="zh-CN" altLang="en-US" sz="2400" dirty="0">
              <a:latin typeface="Microsoft YaHei" pitchFamily="34" charset="-122"/>
              <a:ea typeface="Microsoft YaHei" pitchFamily="34" charset="-122"/>
            </a:endParaRPr>
          </a:p>
        </p:txBody>
      </p:sp>
      <p:sp>
        <p:nvSpPr>
          <p:cNvPr id="3" name="文本框 2"/>
          <p:cNvSpPr txBox="1"/>
          <p:nvPr/>
        </p:nvSpPr>
        <p:spPr>
          <a:xfrm>
            <a:off x="649853" y="1135126"/>
            <a:ext cx="4353339" cy="461665"/>
          </a:xfrm>
          <a:prstGeom prst="rect">
            <a:avLst/>
          </a:prstGeom>
          <a:noFill/>
        </p:spPr>
        <p:txBody>
          <a:bodyPr wrap="square" rtlCol="0">
            <a:spAutoFit/>
          </a:bodyPr>
          <a:lstStyle/>
          <a:p>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留存</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私域新用户留存</a:t>
            </a:r>
            <a:endParaRPr kumimoji="1" lang="zh-CN" altLang="en-US" sz="2400" b="1" dirty="0">
              <a:latin typeface="Microsoft YaHei" pitchFamily="34" charset="-122"/>
              <a:ea typeface="Microsoft YaHei" pitchFamily="34" charset="-122"/>
            </a:endParaRPr>
          </a:p>
        </p:txBody>
      </p:sp>
      <p:grpSp>
        <p:nvGrpSpPr>
          <p:cNvPr id="18" name="组合 17"/>
          <p:cNvGrpSpPr/>
          <p:nvPr/>
        </p:nvGrpSpPr>
        <p:grpSpPr>
          <a:xfrm>
            <a:off x="534310" y="1306314"/>
            <a:ext cx="5734225" cy="2951356"/>
            <a:chOff x="6344993" y="1787386"/>
            <a:chExt cx="5154090" cy="2054410"/>
          </a:xfrm>
        </p:grpSpPr>
        <p:graphicFrame>
          <p:nvGraphicFramePr>
            <p:cNvPr id="12" name="图表 11"/>
            <p:cNvGraphicFramePr/>
            <p:nvPr/>
          </p:nvGraphicFramePr>
          <p:xfrm>
            <a:off x="6344993" y="1787386"/>
            <a:ext cx="5063249" cy="2054410"/>
          </p:xfrm>
          <a:graphic>
            <a:graphicData uri="http://schemas.openxmlformats.org/drawingml/2006/chart">
              <c:chart xmlns:c="http://schemas.openxmlformats.org/drawingml/2006/chart" xmlns:r="http://schemas.openxmlformats.org/officeDocument/2006/relationships" r:id="rId1"/>
            </a:graphicData>
          </a:graphic>
        </p:graphicFrame>
        <p:sp>
          <p:nvSpPr>
            <p:cNvPr id="15" name="文本框 14"/>
            <p:cNvSpPr txBox="1"/>
            <p:nvPr/>
          </p:nvSpPr>
          <p:spPr>
            <a:xfrm>
              <a:off x="7996225" y="2753947"/>
              <a:ext cx="1073609" cy="257088"/>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89.28%</a:t>
              </a:r>
              <a:endParaRPr kumimoji="1" lang="zh-CN" altLang="en-US" dirty="0">
                <a:latin typeface="Microsoft YaHei" pitchFamily="34" charset="-122"/>
                <a:ea typeface="Microsoft YaHei" pitchFamily="34" charset="-122"/>
              </a:endParaRPr>
            </a:p>
          </p:txBody>
        </p:sp>
        <p:sp>
          <p:nvSpPr>
            <p:cNvPr id="16" name="文本框 15"/>
            <p:cNvSpPr txBox="1"/>
            <p:nvPr/>
          </p:nvSpPr>
          <p:spPr>
            <a:xfrm>
              <a:off x="10425474" y="2191783"/>
              <a:ext cx="1073609" cy="257088"/>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91.97%</a:t>
              </a:r>
              <a:endParaRPr kumimoji="1" lang="zh-CN" altLang="en-US" dirty="0">
                <a:latin typeface="Microsoft YaHei" pitchFamily="34" charset="-122"/>
                <a:ea typeface="Microsoft YaHei" pitchFamily="34" charset="-122"/>
              </a:endParaRPr>
            </a:p>
          </p:txBody>
        </p:sp>
        <p:sp>
          <p:nvSpPr>
            <p:cNvPr id="17" name="文本框 16"/>
            <p:cNvSpPr txBox="1"/>
            <p:nvPr/>
          </p:nvSpPr>
          <p:spPr>
            <a:xfrm>
              <a:off x="9882889" y="2994334"/>
              <a:ext cx="1458828" cy="557025"/>
            </a:xfrm>
            <a:prstGeom prst="rect">
              <a:avLst/>
            </a:prstGeom>
            <a:noFill/>
          </p:spPr>
          <p:txBody>
            <a:bodyPr wrap="square" rtlCol="0">
              <a:spAutoFit/>
            </a:bodyPr>
            <a:lstStyle/>
            <a:p>
              <a:pPr algn="ctr"/>
              <a:r>
                <a:rPr kumimoji="1" lang="zh-CN" altLang="en-US" dirty="0">
                  <a:latin typeface="Microsoft YaHei" pitchFamily="34" charset="-122"/>
                  <a:ea typeface="Microsoft YaHei" pitchFamily="34" charset="-122"/>
                </a:rPr>
                <a:t>环比</a:t>
              </a:r>
              <a:r>
                <a:rPr kumimoji="1" lang="en-US" altLang="zh-CN" dirty="0">
                  <a:latin typeface="Microsoft YaHei" pitchFamily="34" charset="-122"/>
                  <a:ea typeface="Microsoft YaHei" pitchFamily="34" charset="-122"/>
                </a:rPr>
                <a:t>12</a:t>
              </a:r>
              <a:r>
                <a:rPr kumimoji="1" lang="zh-CN" altLang="en-US" dirty="0">
                  <a:latin typeface="Microsoft YaHei" pitchFamily="34" charset="-122"/>
                  <a:ea typeface="Microsoft YaHei" pitchFamily="34" charset="-122"/>
                </a:rPr>
                <a:t>月提升</a:t>
              </a:r>
              <a:endParaRPr kumimoji="1" lang="en-US" altLang="zh-CN" dirty="0">
                <a:latin typeface="Microsoft YaHei" pitchFamily="34" charset="-122"/>
                <a:ea typeface="Microsoft YaHei" pitchFamily="34" charset="-122"/>
              </a:endParaRPr>
            </a:p>
            <a:p>
              <a:pPr algn="ctr"/>
              <a:r>
                <a:rPr kumimoji="1" lang="en-US" altLang="zh-CN" sz="2800" b="1" dirty="0">
                  <a:solidFill>
                    <a:schemeClr val="accent2"/>
                  </a:solidFill>
                  <a:latin typeface="Microsoft YaHei" pitchFamily="34" charset="-122"/>
                  <a:ea typeface="Microsoft YaHei" pitchFamily="34" charset="-122"/>
                </a:rPr>
                <a:t>3%</a:t>
              </a:r>
              <a:endParaRPr kumimoji="1" lang="zh-CN" altLang="en-US" b="1" dirty="0">
                <a:solidFill>
                  <a:schemeClr val="accent2"/>
                </a:solidFill>
                <a:latin typeface="Microsoft YaHei" pitchFamily="34" charset="-122"/>
                <a:ea typeface="Microsoft YaHei" pitchFamily="34" charset="-122"/>
              </a:endParaRPr>
            </a:p>
          </p:txBody>
        </p:sp>
      </p:grpSp>
      <p:grpSp>
        <p:nvGrpSpPr>
          <p:cNvPr id="50" name="组合 49"/>
          <p:cNvGrpSpPr/>
          <p:nvPr/>
        </p:nvGrpSpPr>
        <p:grpSpPr>
          <a:xfrm>
            <a:off x="845709" y="4857832"/>
            <a:ext cx="10845650" cy="1096573"/>
            <a:chOff x="805797" y="4429981"/>
            <a:chExt cx="10845650" cy="1096573"/>
          </a:xfrm>
        </p:grpSpPr>
        <p:sp>
          <p:nvSpPr>
            <p:cNvPr id="33" name="圆角矩形 32"/>
            <p:cNvSpPr/>
            <p:nvPr/>
          </p:nvSpPr>
          <p:spPr>
            <a:xfrm>
              <a:off x="814587" y="5157222"/>
              <a:ext cx="2775936" cy="368201"/>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4" name="圆角矩形 33"/>
            <p:cNvSpPr/>
            <p:nvPr/>
          </p:nvSpPr>
          <p:spPr>
            <a:xfrm>
              <a:off x="814588" y="5157222"/>
              <a:ext cx="909838" cy="368201"/>
            </a:xfrm>
            <a:prstGeom prst="roundRect">
              <a:avLst>
                <a:gd name="adj" fmla="val 50000"/>
              </a:avLst>
            </a:prstGeom>
            <a:gradFill>
              <a:gsLst>
                <a:gs pos="0">
                  <a:schemeClr val="accent1"/>
                </a:gs>
                <a:gs pos="50000">
                  <a:schemeClr val="accent2"/>
                </a:gs>
                <a:gs pos="100000">
                  <a:schemeClr val="accent3"/>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5" name="TextBox 30"/>
            <p:cNvSpPr txBox="1"/>
            <p:nvPr/>
          </p:nvSpPr>
          <p:spPr>
            <a:xfrm>
              <a:off x="805797" y="4614081"/>
              <a:ext cx="2709481" cy="289274"/>
            </a:xfrm>
            <a:prstGeom prst="rect">
              <a:avLst/>
            </a:prstGeom>
            <a:noFill/>
          </p:spPr>
          <p:txBody>
            <a:bodyPr wrap="none" lIns="0" tIns="0" rIns="0" bIns="0"/>
            <a:lstStyle/>
            <a:p>
              <a:pPr algn="just">
                <a:lnSpc>
                  <a:spcPct val="108000"/>
                </a:lnSpc>
                <a:spcBef>
                  <a:spcPts val="0"/>
                </a:spcBef>
                <a:spcAft>
                  <a:spcPts val="0"/>
                </a:spcAft>
              </a:pPr>
              <a:r>
                <a:rPr sz="2100" dirty="0">
                  <a:solidFill>
                    <a:srgbClr val="000000"/>
                  </a:solidFill>
                  <a:latin typeface="Microsoft YaHei" pitchFamily="34" charset="-122"/>
                  <a:ea typeface="Microsoft YaHei" pitchFamily="34" charset="-122"/>
                </a:rPr>
                <a:t>1月:手机摄影BCD试点</a:t>
              </a:r>
              <a:endParaRPr sz="2100" dirty="0">
                <a:solidFill>
                  <a:srgbClr val="000000"/>
                </a:solidFill>
                <a:latin typeface="Microsoft YaHei" pitchFamily="34" charset="-122"/>
                <a:ea typeface="Microsoft YaHei" pitchFamily="34" charset="-122"/>
              </a:endParaRPr>
            </a:p>
          </p:txBody>
        </p:sp>
        <p:sp>
          <p:nvSpPr>
            <p:cNvPr id="36" name="TextBox 31"/>
            <p:cNvSpPr txBox="1"/>
            <p:nvPr/>
          </p:nvSpPr>
          <p:spPr>
            <a:xfrm>
              <a:off x="4586460" y="4614081"/>
              <a:ext cx="2387155" cy="289274"/>
            </a:xfrm>
            <a:prstGeom prst="rect">
              <a:avLst/>
            </a:prstGeom>
            <a:noFill/>
          </p:spPr>
          <p:txBody>
            <a:bodyPr wrap="none" lIns="0" tIns="0" rIns="0" bIns="0"/>
            <a:lstStyle/>
            <a:p>
              <a:pPr algn="just">
                <a:lnSpc>
                  <a:spcPct val="108000"/>
                </a:lnSpc>
                <a:spcBef>
                  <a:spcPts val="0"/>
                </a:spcBef>
                <a:spcAft>
                  <a:spcPts val="0"/>
                </a:spcAft>
              </a:pPr>
              <a:r>
                <a:rPr sz="2100" dirty="0">
                  <a:solidFill>
                    <a:srgbClr val="000000"/>
                  </a:solidFill>
                  <a:latin typeface="Microsoft YaHei" pitchFamily="34" charset="-122"/>
                  <a:ea typeface="Microsoft YaHei" pitchFamily="34" charset="-122"/>
                </a:rPr>
                <a:t>2月:扩展至</a:t>
              </a:r>
              <a:r>
                <a:rPr lang="en-US" altLang="zh-CN" sz="2100" dirty="0">
                  <a:solidFill>
                    <a:srgbClr val="000000"/>
                  </a:solidFill>
                  <a:latin typeface="Microsoft YaHei" pitchFamily="34" charset="-122"/>
                  <a:ea typeface="Microsoft YaHei" pitchFamily="34" charset="-122"/>
                </a:rPr>
                <a:t>10</a:t>
              </a:r>
              <a:r>
                <a:rPr sz="2100" dirty="0">
                  <a:solidFill>
                    <a:srgbClr val="000000"/>
                  </a:solidFill>
                  <a:latin typeface="Microsoft YaHei" pitchFamily="34" charset="-122"/>
                  <a:ea typeface="Microsoft YaHei" pitchFamily="34" charset="-122"/>
                </a:rPr>
                <a:t>个品类</a:t>
              </a:r>
              <a:endParaRPr sz="2100" dirty="0">
                <a:solidFill>
                  <a:srgbClr val="000000"/>
                </a:solidFill>
                <a:latin typeface="Microsoft YaHei" pitchFamily="34" charset="-122"/>
                <a:ea typeface="Microsoft YaHei" pitchFamily="34" charset="-122"/>
              </a:endParaRPr>
            </a:p>
          </p:txBody>
        </p:sp>
        <p:sp>
          <p:nvSpPr>
            <p:cNvPr id="37" name="圆角矩形 36"/>
            <p:cNvSpPr/>
            <p:nvPr/>
          </p:nvSpPr>
          <p:spPr>
            <a:xfrm>
              <a:off x="4441707" y="5157222"/>
              <a:ext cx="2775936" cy="368201"/>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8" name="圆角矩形 37"/>
            <p:cNvSpPr/>
            <p:nvPr/>
          </p:nvSpPr>
          <p:spPr>
            <a:xfrm>
              <a:off x="4441706" y="5157222"/>
              <a:ext cx="1704663" cy="368201"/>
            </a:xfrm>
            <a:prstGeom prst="roundRect">
              <a:avLst>
                <a:gd name="adj" fmla="val 50000"/>
              </a:avLst>
            </a:prstGeom>
            <a:gradFill>
              <a:gsLst>
                <a:gs pos="0">
                  <a:schemeClr val="accent1"/>
                </a:gs>
                <a:gs pos="50000">
                  <a:schemeClr val="accent2"/>
                </a:gs>
                <a:gs pos="100000">
                  <a:schemeClr val="accent3"/>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9" name="文本框 38"/>
            <p:cNvSpPr txBox="1"/>
            <p:nvPr/>
          </p:nvSpPr>
          <p:spPr>
            <a:xfrm>
              <a:off x="2170337" y="5157222"/>
              <a:ext cx="946791" cy="369332"/>
            </a:xfrm>
            <a:prstGeom prst="rect">
              <a:avLst/>
            </a:prstGeom>
            <a:noFill/>
          </p:spPr>
          <p:txBody>
            <a:bodyPr wrap="square" rtlCol="0">
              <a:spAutoFit/>
            </a:bodyPr>
            <a:lstStyle/>
            <a:p>
              <a:r>
                <a:rPr kumimoji="1" lang="en-US" altLang="zh-CN" dirty="0">
                  <a:solidFill>
                    <a:schemeClr val="accent4"/>
                  </a:solidFill>
                  <a:latin typeface="Microsoft YaHei" pitchFamily="34" charset="-122"/>
                  <a:ea typeface="Microsoft YaHei" pitchFamily="34" charset="-122"/>
                </a:rPr>
                <a:t>13%</a:t>
              </a:r>
              <a:endParaRPr kumimoji="1" lang="zh-CN" altLang="en-US" dirty="0">
                <a:solidFill>
                  <a:schemeClr val="accent4"/>
                </a:solidFill>
                <a:latin typeface="Microsoft YaHei" pitchFamily="34" charset="-122"/>
                <a:ea typeface="Microsoft YaHei" pitchFamily="34" charset="-122"/>
              </a:endParaRPr>
            </a:p>
          </p:txBody>
        </p:sp>
        <p:sp>
          <p:nvSpPr>
            <p:cNvPr id="40" name="TextBox 31"/>
            <p:cNvSpPr txBox="1"/>
            <p:nvPr/>
          </p:nvSpPr>
          <p:spPr>
            <a:xfrm>
              <a:off x="8355273" y="4429981"/>
              <a:ext cx="3296174" cy="368200"/>
            </a:xfrm>
            <a:prstGeom prst="rect">
              <a:avLst/>
            </a:prstGeom>
            <a:noFill/>
          </p:spPr>
          <p:txBody>
            <a:bodyPr wrap="none" lIns="0" tIns="0" rIns="0" bIns="0"/>
            <a:lstStyle/>
            <a:p>
              <a:pPr algn="just">
                <a:lnSpc>
                  <a:spcPct val="108000"/>
                </a:lnSpc>
                <a:spcBef>
                  <a:spcPts val="0"/>
                </a:spcBef>
                <a:spcAft>
                  <a:spcPts val="0"/>
                </a:spcAft>
              </a:pPr>
              <a:r>
                <a:rPr lang="en-US" altLang="zh-CN" sz="2100" dirty="0">
                  <a:solidFill>
                    <a:srgbClr val="000000"/>
                  </a:solidFill>
                  <a:latin typeface="Microsoft YaHei" pitchFamily="34" charset="-122"/>
                  <a:ea typeface="Microsoft YaHei" pitchFamily="34" charset="-122"/>
                </a:rPr>
                <a:t>3</a:t>
              </a:r>
              <a:r>
                <a:rPr sz="2100" dirty="0">
                  <a:solidFill>
                    <a:srgbClr val="000000"/>
                  </a:solidFill>
                  <a:latin typeface="Microsoft YaHei" pitchFamily="34" charset="-122"/>
                  <a:ea typeface="Microsoft YaHei" pitchFamily="34" charset="-122"/>
                </a:rPr>
                <a:t>月:扩展至</a:t>
              </a:r>
              <a:r>
                <a:rPr lang="en-US" altLang="zh-CN" sz="2100" dirty="0">
                  <a:solidFill>
                    <a:srgbClr val="000000"/>
                  </a:solidFill>
                  <a:latin typeface="Microsoft YaHei" pitchFamily="34" charset="-122"/>
                  <a:ea typeface="Microsoft YaHei" pitchFamily="34" charset="-122"/>
                </a:rPr>
                <a:t>16</a:t>
              </a:r>
              <a:r>
                <a:rPr sz="2100" dirty="0">
                  <a:solidFill>
                    <a:srgbClr val="000000"/>
                  </a:solidFill>
                  <a:latin typeface="Microsoft YaHei" pitchFamily="34" charset="-122"/>
                  <a:ea typeface="Microsoft YaHei" pitchFamily="34" charset="-122"/>
                </a:rPr>
                <a:t>个品类</a:t>
              </a:r>
              <a:endParaRPr lang="en-US" sz="2100" dirty="0">
                <a:solidFill>
                  <a:srgbClr val="000000"/>
                </a:solidFill>
                <a:latin typeface="Microsoft YaHei" pitchFamily="34" charset="-122"/>
                <a:ea typeface="Microsoft YaHei" pitchFamily="34" charset="-122"/>
              </a:endParaRPr>
            </a:p>
            <a:p>
              <a:pPr algn="just">
                <a:lnSpc>
                  <a:spcPct val="108000"/>
                </a:lnSpc>
                <a:spcBef>
                  <a:spcPts val="0"/>
                </a:spcBef>
                <a:spcAft>
                  <a:spcPts val="0"/>
                </a:spcAft>
              </a:pPr>
              <a:r>
                <a:rPr lang="zh-CN" altLang="en-US" sz="2100" dirty="0">
                  <a:solidFill>
                    <a:srgbClr val="000000"/>
                  </a:solidFill>
                  <a:latin typeface="Microsoft YaHei" pitchFamily="34" charset="-122"/>
                  <a:ea typeface="Microsoft YaHei" pitchFamily="34" charset="-122"/>
                </a:rPr>
                <a:t>且趣小导人设</a:t>
              </a:r>
              <a:r>
                <a:rPr lang="en-US" altLang="zh-CN" sz="2100" dirty="0">
                  <a:solidFill>
                    <a:srgbClr val="000000"/>
                  </a:solidFill>
                  <a:latin typeface="Microsoft YaHei" pitchFamily="34" charset="-122"/>
                  <a:ea typeface="Microsoft YaHei" pitchFamily="34" charset="-122"/>
                </a:rPr>
                <a:t>100%</a:t>
              </a:r>
              <a:r>
                <a:rPr lang="zh-CN" altLang="en-US" sz="2100" dirty="0">
                  <a:solidFill>
                    <a:srgbClr val="000000"/>
                  </a:solidFill>
                  <a:latin typeface="Microsoft YaHei" pitchFamily="34" charset="-122"/>
                  <a:ea typeface="Microsoft YaHei" pitchFamily="34" charset="-122"/>
                </a:rPr>
                <a:t>覆盖</a:t>
              </a:r>
              <a:endParaRPr sz="2100" dirty="0">
                <a:solidFill>
                  <a:srgbClr val="000000"/>
                </a:solidFill>
                <a:latin typeface="Microsoft YaHei" pitchFamily="34" charset="-122"/>
                <a:ea typeface="Microsoft YaHei" pitchFamily="34" charset="-122"/>
              </a:endParaRPr>
            </a:p>
          </p:txBody>
        </p:sp>
        <p:sp>
          <p:nvSpPr>
            <p:cNvPr id="41" name="圆角矩形 40"/>
            <p:cNvSpPr/>
            <p:nvPr/>
          </p:nvSpPr>
          <p:spPr>
            <a:xfrm>
              <a:off x="8288825" y="5157222"/>
              <a:ext cx="2775936" cy="368201"/>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42" name="圆角矩形 41"/>
            <p:cNvSpPr/>
            <p:nvPr/>
          </p:nvSpPr>
          <p:spPr>
            <a:xfrm>
              <a:off x="8288824" y="5157222"/>
              <a:ext cx="2775935" cy="368201"/>
            </a:xfrm>
            <a:prstGeom prst="roundRect">
              <a:avLst>
                <a:gd name="adj" fmla="val 50000"/>
              </a:avLst>
            </a:prstGeom>
            <a:gradFill>
              <a:gsLst>
                <a:gs pos="0">
                  <a:schemeClr val="accent1"/>
                </a:gs>
                <a:gs pos="50000">
                  <a:schemeClr val="accent2"/>
                </a:gs>
                <a:gs pos="100000">
                  <a:schemeClr val="accent3"/>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43" name="文本框 42"/>
            <p:cNvSpPr txBox="1"/>
            <p:nvPr/>
          </p:nvSpPr>
          <p:spPr>
            <a:xfrm>
              <a:off x="6270852" y="5157222"/>
              <a:ext cx="946791" cy="369332"/>
            </a:xfrm>
            <a:prstGeom prst="rect">
              <a:avLst/>
            </a:prstGeom>
            <a:noFill/>
          </p:spPr>
          <p:txBody>
            <a:bodyPr wrap="square" rtlCol="0">
              <a:spAutoFit/>
            </a:bodyPr>
            <a:lstStyle/>
            <a:p>
              <a:r>
                <a:rPr kumimoji="1" lang="en-US" altLang="zh-CN" dirty="0">
                  <a:solidFill>
                    <a:schemeClr val="accent4"/>
                  </a:solidFill>
                  <a:latin typeface="Microsoft YaHei" pitchFamily="34" charset="-122"/>
                  <a:ea typeface="Microsoft YaHei" pitchFamily="34" charset="-122"/>
                </a:rPr>
                <a:t>67%</a:t>
              </a:r>
              <a:endParaRPr kumimoji="1" lang="zh-CN" altLang="en-US" dirty="0">
                <a:solidFill>
                  <a:schemeClr val="accent4"/>
                </a:solidFill>
                <a:latin typeface="Microsoft YaHei" pitchFamily="34" charset="-122"/>
                <a:ea typeface="Microsoft YaHei" pitchFamily="34" charset="-122"/>
              </a:endParaRPr>
            </a:p>
          </p:txBody>
        </p:sp>
        <p:sp>
          <p:nvSpPr>
            <p:cNvPr id="44" name="文本框 43"/>
            <p:cNvSpPr txBox="1"/>
            <p:nvPr/>
          </p:nvSpPr>
          <p:spPr>
            <a:xfrm>
              <a:off x="9873942" y="5157222"/>
              <a:ext cx="946791" cy="369332"/>
            </a:xfrm>
            <a:prstGeom prst="rect">
              <a:avLst/>
            </a:prstGeom>
            <a:noFill/>
          </p:spPr>
          <p:txBody>
            <a:bodyPr wrap="square" rtlCol="0">
              <a:spAutoFit/>
            </a:bodyPr>
            <a:lstStyle/>
            <a:p>
              <a:r>
                <a:rPr kumimoji="1" lang="en-US" altLang="zh-CN" dirty="0">
                  <a:solidFill>
                    <a:schemeClr val="bg1"/>
                  </a:solidFill>
                  <a:latin typeface="Microsoft YaHei" pitchFamily="34" charset="-122"/>
                  <a:ea typeface="Microsoft YaHei" pitchFamily="34" charset="-122"/>
                </a:rPr>
                <a:t>100%</a:t>
              </a:r>
              <a:endParaRPr kumimoji="1" lang="zh-CN" altLang="en-US" dirty="0">
                <a:solidFill>
                  <a:schemeClr val="bg1"/>
                </a:solidFill>
                <a:latin typeface="Microsoft YaHei" pitchFamily="34" charset="-122"/>
                <a:ea typeface="Microsoft YaHei" pitchFamily="34" charset="-122"/>
              </a:endParaRPr>
            </a:p>
          </p:txBody>
        </p:sp>
        <p:cxnSp>
          <p:nvCxnSpPr>
            <p:cNvPr id="45" name="直线箭头连接符 44"/>
            <p:cNvCxnSpPr/>
            <p:nvPr/>
          </p:nvCxnSpPr>
          <p:spPr>
            <a:xfrm>
              <a:off x="3707970" y="4813679"/>
              <a:ext cx="5579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线箭头连接符 45"/>
            <p:cNvCxnSpPr/>
            <p:nvPr/>
          </p:nvCxnSpPr>
          <p:spPr>
            <a:xfrm>
              <a:off x="7381069" y="4813679"/>
              <a:ext cx="5579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文本框 50"/>
          <p:cNvSpPr txBox="1"/>
          <p:nvPr/>
        </p:nvSpPr>
        <p:spPr>
          <a:xfrm>
            <a:off x="701242" y="4367473"/>
            <a:ext cx="6312285" cy="461665"/>
          </a:xfrm>
          <a:prstGeom prst="rect">
            <a:avLst/>
          </a:prstGeom>
          <a:noFill/>
        </p:spPr>
        <p:txBody>
          <a:bodyPr wrap="square" rtlCol="0">
            <a:spAutoFit/>
          </a:bodyPr>
          <a:lstStyle/>
          <a:p>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效率</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私域新用户策略覆盖率，达</a:t>
            </a:r>
            <a:r>
              <a:rPr kumimoji="1" lang="en-US" altLang="zh-CN" sz="2400" b="1" dirty="0">
                <a:latin typeface="Microsoft YaHei" pitchFamily="34" charset="-122"/>
                <a:ea typeface="Microsoft YaHei" pitchFamily="34" charset="-122"/>
              </a:rPr>
              <a:t>100%</a:t>
            </a:r>
            <a:endParaRPr kumimoji="1" lang="zh-CN" altLang="en-US" sz="2400" b="1" dirty="0">
              <a:latin typeface="Microsoft YaHei" pitchFamily="34" charset="-122"/>
              <a:ea typeface="Microsoft YaHei" pitchFamily="34" charset="-122"/>
            </a:endParaRPr>
          </a:p>
        </p:txBody>
      </p:sp>
      <p:sp>
        <p:nvSpPr>
          <p:cNvPr id="4" name="右箭头 3"/>
          <p:cNvSpPr/>
          <p:nvPr/>
        </p:nvSpPr>
        <p:spPr>
          <a:xfrm rot="16200000">
            <a:off x="3323894" y="1912154"/>
            <a:ext cx="568165" cy="279814"/>
          </a:xfrm>
          <a:prstGeom prst="rightArrow">
            <a:avLst/>
          </a:prstGeom>
          <a:solidFill>
            <a:srgbClr val="F779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右箭头 4"/>
          <p:cNvSpPr/>
          <p:nvPr/>
        </p:nvSpPr>
        <p:spPr>
          <a:xfrm rot="16200000">
            <a:off x="5247318" y="2510579"/>
            <a:ext cx="568165" cy="279814"/>
          </a:xfrm>
          <a:prstGeom prst="rightArrow">
            <a:avLst/>
          </a:prstGeom>
          <a:solidFill>
            <a:srgbClr val="F779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6391950" y="1135126"/>
            <a:ext cx="4353339" cy="461665"/>
          </a:xfrm>
          <a:prstGeom prst="rect">
            <a:avLst/>
          </a:prstGeom>
          <a:noFill/>
        </p:spPr>
        <p:txBody>
          <a:bodyPr wrap="square" rtlCol="0">
            <a:spAutoFit/>
          </a:bodyPr>
          <a:lstStyle/>
          <a:p>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营收</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私域新用户</a:t>
            </a:r>
            <a:r>
              <a:rPr kumimoji="1" lang="en-US" altLang="zh-CN" sz="2400" b="1" dirty="0">
                <a:latin typeface="Microsoft YaHei" pitchFamily="34" charset="-122"/>
                <a:ea typeface="Microsoft YaHei" pitchFamily="34" charset="-122"/>
              </a:rPr>
              <a:t>LTV</a:t>
            </a:r>
            <a:endParaRPr kumimoji="1" lang="zh-CN" altLang="en-US" sz="2400" b="1" dirty="0">
              <a:latin typeface="Microsoft YaHei" pitchFamily="34" charset="-122"/>
              <a:ea typeface="Microsoft YaHei" pitchFamily="34" charset="-122"/>
            </a:endParaRPr>
          </a:p>
        </p:txBody>
      </p:sp>
      <p:graphicFrame>
        <p:nvGraphicFramePr>
          <p:cNvPr id="8" name="图表 7"/>
          <p:cNvGraphicFramePr/>
          <p:nvPr/>
        </p:nvGraphicFramePr>
        <p:xfrm>
          <a:off x="6616572" y="1596791"/>
          <a:ext cx="4969312" cy="2729989"/>
        </p:xfrm>
        <a:graphic>
          <a:graphicData uri="http://schemas.openxmlformats.org/drawingml/2006/chart">
            <c:chart xmlns:c="http://schemas.openxmlformats.org/drawingml/2006/chart" xmlns:r="http://schemas.openxmlformats.org/officeDocument/2006/relationships" r:id="rId2"/>
          </a:graphicData>
        </a:graphic>
      </p:graphicFrame>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665246" y="-439557"/>
            <a:ext cx="13731498" cy="7664090"/>
          </a:xfrm>
          <a:prstGeom prst="rect">
            <a:avLst/>
          </a:prstGeom>
        </p:spPr>
      </p:pic>
      <p:sp>
        <p:nvSpPr>
          <p:cNvPr id="2" name="文本框 1"/>
          <p:cNvSpPr txBox="1"/>
          <p:nvPr/>
        </p:nvSpPr>
        <p:spPr>
          <a:xfrm>
            <a:off x="550720" y="443767"/>
            <a:ext cx="10554601"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dirty="0">
                <a:latin typeface="Microsoft YaHei" pitchFamily="34" charset="-122"/>
                <a:ea typeface="Microsoft YaHei" pitchFamily="34" charset="-122"/>
              </a:rPr>
              <a:t>新用户留存激活：环岛旅程与内容重构（人设：趣小导）</a:t>
            </a:r>
            <a:endParaRPr lang="zh-CN" altLang="en-US" sz="3200" dirty="0">
              <a:latin typeface="Microsoft YaHei" pitchFamily="34" charset="-122"/>
              <a:ea typeface="Microsoft YaHei" pitchFamily="34" charset="-122"/>
            </a:endParaRPr>
          </a:p>
        </p:txBody>
      </p:sp>
      <p:sp>
        <p:nvSpPr>
          <p:cNvPr id="7" name="椭圆 6"/>
          <p:cNvSpPr/>
          <p:nvPr/>
        </p:nvSpPr>
        <p:spPr>
          <a:xfrm>
            <a:off x="5276126" y="1857576"/>
            <a:ext cx="1639747" cy="1571424"/>
          </a:xfrm>
          <a:prstGeom prst="ellipse">
            <a:avLst/>
          </a:prstGeom>
          <a:solidFill>
            <a:srgbClr val="FEEEE1">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rcRect b="4167"/>
          <a:stretch>
            <a:fillRect/>
          </a:stretch>
        </p:blipFill>
        <p:spPr>
          <a:xfrm>
            <a:off x="5401519" y="1977744"/>
            <a:ext cx="1388962" cy="1331088"/>
          </a:xfrm>
          <a:custGeom>
            <a:avLst/>
            <a:gdLst>
              <a:gd name="csX0" fmla="*/ 694481 w 1388962"/>
              <a:gd name="csY0" fmla="*/ 0 h 1331088"/>
              <a:gd name="csX1" fmla="*/ 1388962 w 1388962"/>
              <a:gd name="csY1" fmla="*/ 665544 h 1331088"/>
              <a:gd name="csX2" fmla="*/ 694481 w 1388962"/>
              <a:gd name="csY2" fmla="*/ 1331088 h 1331088"/>
              <a:gd name="csX3" fmla="*/ 0 w 1388962"/>
              <a:gd name="csY3" fmla="*/ 665544 h 1331088"/>
              <a:gd name="csX4" fmla="*/ 694481 w 1388962"/>
              <a:gd name="csY4" fmla="*/ 0 h 1331088"/>
            </a:gdLst>
            <a:ahLst/>
            <a:cxnLst>
              <a:cxn ang="0">
                <a:pos x="csX0" y="csY0"/>
              </a:cxn>
              <a:cxn ang="0">
                <a:pos x="csX1" y="csY1"/>
              </a:cxn>
              <a:cxn ang="0">
                <a:pos x="csX2" y="csY2"/>
              </a:cxn>
              <a:cxn ang="0">
                <a:pos x="csX3" y="csY3"/>
              </a:cxn>
              <a:cxn ang="0">
                <a:pos x="csX4" y="csY4"/>
              </a:cxn>
            </a:cxnLst>
            <a:rect l="l" t="t" r="r" b="b"/>
            <a:pathLst>
              <a:path w="1388962" h="1331088">
                <a:moveTo>
                  <a:pt x="694481" y="0"/>
                </a:moveTo>
                <a:cubicBezTo>
                  <a:pt x="1078032" y="0"/>
                  <a:pt x="1388962" y="297974"/>
                  <a:pt x="1388962" y="665544"/>
                </a:cubicBezTo>
                <a:cubicBezTo>
                  <a:pt x="1388962" y="1033114"/>
                  <a:pt x="1078032" y="1331088"/>
                  <a:pt x="694481" y="1331088"/>
                </a:cubicBezTo>
                <a:cubicBezTo>
                  <a:pt x="310930" y="1331088"/>
                  <a:pt x="0" y="1033114"/>
                  <a:pt x="0" y="665544"/>
                </a:cubicBezTo>
                <a:cubicBezTo>
                  <a:pt x="0" y="297974"/>
                  <a:pt x="310930" y="0"/>
                  <a:pt x="694481" y="0"/>
                </a:cubicBezTo>
                <a:close/>
              </a:path>
            </a:pathLst>
          </a:custGeom>
        </p:spPr>
      </p:pic>
      <p:sp>
        <p:nvSpPr>
          <p:cNvPr id="14" name="文本框 13"/>
          <p:cNvSpPr txBox="1"/>
          <p:nvPr/>
        </p:nvSpPr>
        <p:spPr>
          <a:xfrm>
            <a:off x="3090774" y="1306286"/>
            <a:ext cx="6366277" cy="400110"/>
          </a:xfrm>
          <a:prstGeom prst="rect">
            <a:avLst/>
          </a:prstGeom>
          <a:noFill/>
        </p:spPr>
        <p:txBody>
          <a:bodyPr wrap="square" rtlCol="0">
            <a:spAutoFit/>
          </a:bodyPr>
          <a:lstStyle/>
          <a:p>
            <a:r>
              <a:rPr kumimoji="1" lang="zh-CN" altLang="en-US" sz="2000" b="1" dirty="0">
                <a:solidFill>
                  <a:schemeClr val="tx2"/>
                </a:solidFill>
                <a:latin typeface="Microsoft YaHei" pitchFamily="34" charset="-122"/>
                <a:ea typeface="Microsoft YaHei" pitchFamily="34" charset="-122"/>
              </a:rPr>
              <a:t>留存矛盾核心一用户 “怕伤、怕久、怕忙、怕推 ”</a:t>
            </a:r>
            <a:endParaRPr kumimoji="1" lang="zh-CN" altLang="en-US" sz="2000" b="1" dirty="0">
              <a:solidFill>
                <a:schemeClr val="tx2"/>
              </a:solidFill>
              <a:latin typeface="Microsoft YaHei" pitchFamily="34" charset="-122"/>
              <a:ea typeface="Microsoft YaHei" pitchFamily="34" charset="-122"/>
            </a:endParaRPr>
          </a:p>
        </p:txBody>
      </p:sp>
      <p:sp>
        <p:nvSpPr>
          <p:cNvPr id="19" name="文本框 18"/>
          <p:cNvSpPr txBox="1"/>
          <p:nvPr/>
        </p:nvSpPr>
        <p:spPr>
          <a:xfrm>
            <a:off x="1168668" y="4070985"/>
            <a:ext cx="1244332" cy="373224"/>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D0</a:t>
            </a:r>
            <a:r>
              <a:rPr kumimoji="1" lang="zh-CN" altLang="en-US" dirty="0">
                <a:latin typeface="Microsoft YaHei" pitchFamily="34" charset="-122"/>
                <a:ea typeface="Microsoft YaHei" pitchFamily="34" charset="-122"/>
              </a:rPr>
              <a:t>：破冰</a:t>
            </a:r>
            <a:endParaRPr kumimoji="1" lang="zh-CN" altLang="en-US" dirty="0">
              <a:latin typeface="Microsoft YaHei" pitchFamily="34" charset="-122"/>
              <a:ea typeface="Microsoft YaHei" pitchFamily="34" charset="-122"/>
            </a:endParaRPr>
          </a:p>
        </p:txBody>
      </p:sp>
      <p:sp>
        <p:nvSpPr>
          <p:cNvPr id="20" name="文本框 19"/>
          <p:cNvSpPr txBox="1"/>
          <p:nvPr/>
        </p:nvSpPr>
        <p:spPr>
          <a:xfrm>
            <a:off x="4074898" y="4070985"/>
            <a:ext cx="1447465" cy="373224"/>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D0-1</a:t>
            </a:r>
            <a:r>
              <a:rPr kumimoji="1" lang="zh-CN" altLang="en-US" dirty="0">
                <a:latin typeface="Microsoft YaHei" pitchFamily="34" charset="-122"/>
                <a:ea typeface="Microsoft YaHei" pitchFamily="34" charset="-122"/>
              </a:rPr>
              <a:t>：挖需</a:t>
            </a:r>
            <a:endParaRPr kumimoji="1" lang="zh-CN" altLang="en-US" dirty="0">
              <a:latin typeface="Microsoft YaHei" pitchFamily="34" charset="-122"/>
              <a:ea typeface="Microsoft YaHei" pitchFamily="34" charset="-122"/>
            </a:endParaRPr>
          </a:p>
        </p:txBody>
      </p:sp>
      <p:sp>
        <p:nvSpPr>
          <p:cNvPr id="21" name="文本框 20"/>
          <p:cNvSpPr txBox="1"/>
          <p:nvPr/>
        </p:nvSpPr>
        <p:spPr>
          <a:xfrm>
            <a:off x="6441235" y="4072931"/>
            <a:ext cx="2445840" cy="369332"/>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D2-3</a:t>
            </a:r>
            <a:r>
              <a:rPr kumimoji="1" lang="zh-CN" altLang="en-US" dirty="0">
                <a:latin typeface="Microsoft YaHei" pitchFamily="34" charset="-122"/>
                <a:ea typeface="Microsoft YaHei" pitchFamily="34" charset="-122"/>
              </a:rPr>
              <a:t>：深度种草直播</a:t>
            </a:r>
            <a:endParaRPr kumimoji="1" lang="zh-CN" altLang="en-US" dirty="0">
              <a:latin typeface="Microsoft YaHei" pitchFamily="34" charset="-122"/>
              <a:ea typeface="Microsoft YaHei" pitchFamily="34" charset="-122"/>
            </a:endParaRPr>
          </a:p>
        </p:txBody>
      </p:sp>
      <p:sp>
        <p:nvSpPr>
          <p:cNvPr id="22" name="文本框 21"/>
          <p:cNvSpPr txBox="1"/>
          <p:nvPr/>
        </p:nvSpPr>
        <p:spPr>
          <a:xfrm>
            <a:off x="9577543" y="4072931"/>
            <a:ext cx="2313989" cy="369332"/>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D5</a:t>
            </a:r>
            <a:r>
              <a:rPr kumimoji="1" lang="zh-CN" altLang="en-US" dirty="0">
                <a:latin typeface="Microsoft YaHei" pitchFamily="34" charset="-122"/>
                <a:ea typeface="Microsoft YaHei" pitchFamily="34" charset="-122"/>
              </a:rPr>
              <a:t>：名师种草推荐</a:t>
            </a:r>
            <a:endParaRPr kumimoji="1" lang="zh-CN" altLang="en-US" dirty="0">
              <a:latin typeface="Microsoft YaHei" pitchFamily="34" charset="-122"/>
              <a:ea typeface="Microsoft YaHei" pitchFamily="34" charset="-122"/>
            </a:endParaRPr>
          </a:p>
        </p:txBody>
      </p:sp>
      <p:sp>
        <p:nvSpPr>
          <p:cNvPr id="23" name="圆角矩形 22"/>
          <p:cNvSpPr/>
          <p:nvPr/>
        </p:nvSpPr>
        <p:spPr>
          <a:xfrm>
            <a:off x="2017644" y="2629962"/>
            <a:ext cx="2587472" cy="56118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crosoft YaHei" pitchFamily="34" charset="-122"/>
                <a:ea typeface="Microsoft YaHei" pitchFamily="34" charset="-122"/>
              </a:rPr>
              <a:t>5</a:t>
            </a:r>
            <a:r>
              <a:rPr lang="zh-CN" altLang="en-US" dirty="0">
                <a:latin typeface="Microsoft YaHei" pitchFamily="34" charset="-122"/>
                <a:ea typeface="Microsoft YaHei" pitchFamily="34" charset="-122"/>
              </a:rPr>
              <a:t>日轻复习旅程：</a:t>
            </a:r>
            <a:endParaRPr lang="en-US" altLang="zh-CN" dirty="0">
              <a:latin typeface="Microsoft YaHei" pitchFamily="34" charset="-122"/>
              <a:ea typeface="Microsoft YaHei" pitchFamily="34" charset="-122"/>
            </a:endParaRPr>
          </a:p>
          <a:p>
            <a:pPr algn="ctr"/>
            <a:r>
              <a:rPr lang="zh-CN" altLang="en-US" dirty="0">
                <a:latin typeface="Microsoft YaHei" pitchFamily="34" charset="-122"/>
                <a:ea typeface="Microsoft YaHei" pitchFamily="34" charset="-122"/>
              </a:rPr>
              <a:t>轻量</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可完成</a:t>
            </a:r>
            <a:endParaRPr kumimoji="1" lang="zh-CN" altLang="en-US" dirty="0">
              <a:latin typeface="Microsoft YaHei" pitchFamily="34" charset="-122"/>
              <a:ea typeface="Microsoft YaHei" pitchFamily="34" charset="-122"/>
            </a:endParaRPr>
          </a:p>
        </p:txBody>
      </p:sp>
      <p:sp>
        <p:nvSpPr>
          <p:cNvPr id="24" name="圆角矩形 23"/>
          <p:cNvSpPr/>
          <p:nvPr/>
        </p:nvSpPr>
        <p:spPr>
          <a:xfrm>
            <a:off x="7187228" y="2629962"/>
            <a:ext cx="3111015" cy="47623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icrosoft YaHei" pitchFamily="34" charset="-122"/>
                <a:ea typeface="Microsoft YaHei" pitchFamily="34" charset="-122"/>
              </a:rPr>
              <a:t>深度种草直播：沉浸 </a:t>
            </a:r>
            <a:r>
              <a:rPr lang="en-US"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体验 </a:t>
            </a:r>
            <a:endParaRPr kumimoji="1" lang="zh-CN" altLang="en-US" dirty="0">
              <a:latin typeface="Microsoft YaHei" pitchFamily="34" charset="-122"/>
              <a:ea typeface="Microsoft YaHei" pitchFamily="34" charset="-122"/>
            </a:endParaRPr>
          </a:p>
        </p:txBody>
      </p:sp>
      <p:sp>
        <p:nvSpPr>
          <p:cNvPr id="31" name="文本框 30"/>
          <p:cNvSpPr txBox="1"/>
          <p:nvPr/>
        </p:nvSpPr>
        <p:spPr>
          <a:xfrm>
            <a:off x="550721" y="4731211"/>
            <a:ext cx="2587472" cy="1200329"/>
          </a:xfrm>
          <a:prstGeom prst="rect">
            <a:avLst/>
          </a:prstGeom>
          <a:noFill/>
        </p:spPr>
        <p:txBody>
          <a:bodyPr wrap="square" rtlCol="0">
            <a:spAutoFit/>
          </a:bodyPr>
          <a:lstStyle>
            <a:defPPr>
              <a:defRPr lang="zh-CN"/>
            </a:defPPr>
            <a:lvl1pPr>
              <a:defRPr kumimoji="1"/>
            </a:lvl1pPr>
          </a:lstStyle>
          <a:p>
            <a:r>
              <a:rPr lang="zh-CN" altLang="en-US" dirty="0">
                <a:latin typeface="Microsoft YaHei" pitchFamily="34" charset="-122"/>
                <a:ea typeface="Microsoft YaHei" pitchFamily="34" charset="-122"/>
              </a:rPr>
              <a:t>趣小导人设</a:t>
            </a:r>
            <a:r>
              <a:rPr lang="zh-CN" altLang="en-GB" dirty="0">
                <a:latin typeface="Microsoft YaHei" pitchFamily="34" charset="-122"/>
                <a:ea typeface="Microsoft YaHei" pitchFamily="34" charset="-122"/>
              </a:rPr>
              <a:t>欢迎语</a:t>
            </a:r>
            <a:r>
              <a:rPr lang="en-GB"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钩子价值交付（学习课表）</a:t>
            </a:r>
            <a:endParaRPr lang="en-US" altLang="zh-CN" dirty="0">
              <a:latin typeface="Microsoft YaHei" pitchFamily="34" charset="-122"/>
              <a:ea typeface="Microsoft YaHei" pitchFamily="34" charset="-122"/>
            </a:endParaRPr>
          </a:p>
          <a:p>
            <a:endParaRPr lang="zh-CN" altLang="en-US" dirty="0">
              <a:latin typeface="Microsoft YaHei" pitchFamily="34" charset="-122"/>
              <a:ea typeface="Microsoft YaHei" pitchFamily="34" charset="-122"/>
            </a:endParaRPr>
          </a:p>
          <a:p>
            <a:r>
              <a:rPr lang="zh-CN" altLang="en-US" dirty="0">
                <a:solidFill>
                  <a:srgbClr val="FD4444"/>
                </a:solidFill>
                <a:latin typeface="Microsoft YaHei" pitchFamily="34" charset="-122"/>
                <a:ea typeface="Microsoft YaHei" pitchFamily="34" charset="-122"/>
              </a:rPr>
              <a:t>建立信任，解决</a:t>
            </a:r>
            <a:r>
              <a:rPr lang="en-US" altLang="zh-CN" dirty="0">
                <a:solidFill>
                  <a:srgbClr val="FD4444"/>
                </a:solidFill>
                <a:latin typeface="Microsoft YaHei" pitchFamily="34" charset="-122"/>
                <a:ea typeface="Microsoft YaHei" pitchFamily="34" charset="-122"/>
              </a:rPr>
              <a:t>"</a:t>
            </a:r>
            <a:r>
              <a:rPr lang="zh-CN" altLang="en-US" dirty="0">
                <a:solidFill>
                  <a:srgbClr val="FD4444"/>
                </a:solidFill>
                <a:latin typeface="Microsoft YaHei" pitchFamily="34" charset="-122"/>
                <a:ea typeface="Microsoft YaHei" pitchFamily="34" charset="-122"/>
              </a:rPr>
              <a:t>怕推</a:t>
            </a:r>
            <a:r>
              <a:rPr lang="en-US" altLang="zh-CN" dirty="0">
                <a:solidFill>
                  <a:srgbClr val="FD4444"/>
                </a:solidFill>
                <a:latin typeface="Microsoft YaHei" pitchFamily="34" charset="-122"/>
                <a:ea typeface="Microsoft YaHei" pitchFamily="34" charset="-122"/>
              </a:rPr>
              <a:t>"</a:t>
            </a:r>
            <a:endParaRPr lang="en-US" altLang="zh-CN" dirty="0">
              <a:solidFill>
                <a:srgbClr val="FD4444"/>
              </a:solidFill>
              <a:latin typeface="Microsoft YaHei" pitchFamily="34" charset="-122"/>
              <a:ea typeface="Microsoft YaHei" pitchFamily="34" charset="-122"/>
            </a:endParaRPr>
          </a:p>
        </p:txBody>
      </p:sp>
      <p:sp>
        <p:nvSpPr>
          <p:cNvPr id="32" name="文本框 31"/>
          <p:cNvSpPr txBox="1"/>
          <p:nvPr/>
        </p:nvSpPr>
        <p:spPr>
          <a:xfrm>
            <a:off x="3615537" y="4731211"/>
            <a:ext cx="2480463" cy="1200329"/>
          </a:xfrm>
          <a:prstGeom prst="rect">
            <a:avLst/>
          </a:prstGeom>
          <a:noFill/>
        </p:spPr>
        <p:txBody>
          <a:bodyPr wrap="square" rtlCol="0">
            <a:spAutoFit/>
          </a:bodyPr>
          <a:lstStyle>
            <a:defPPr>
              <a:defRPr lang="zh-CN"/>
            </a:defPPr>
            <a:lvl1pPr>
              <a:defRPr kumimoji="1"/>
            </a:lvl1pPr>
          </a:lstStyle>
          <a:p>
            <a:r>
              <a:rPr lang="zh-CN" altLang="en-US" dirty="0">
                <a:latin typeface="Microsoft YaHei" pitchFamily="34" charset="-122"/>
                <a:ea typeface="Microsoft YaHei" pitchFamily="34" charset="-122"/>
              </a:rPr>
              <a:t>根据挖需结果推送对应的名师带练干货</a:t>
            </a:r>
            <a:endParaRPr lang="en-US" altLang="zh-CN" dirty="0">
              <a:latin typeface="Microsoft YaHei" pitchFamily="34" charset="-122"/>
              <a:ea typeface="Microsoft YaHei" pitchFamily="34" charset="-122"/>
            </a:endParaRPr>
          </a:p>
          <a:p>
            <a:endParaRPr lang="en-US" altLang="zh-CN" dirty="0">
              <a:latin typeface="Microsoft YaHei" pitchFamily="34" charset="-122"/>
              <a:ea typeface="Microsoft YaHei" pitchFamily="34" charset="-122"/>
            </a:endParaRPr>
          </a:p>
          <a:p>
            <a:r>
              <a:rPr lang="zh-CN" altLang="en-US" dirty="0">
                <a:solidFill>
                  <a:srgbClr val="FD4444"/>
                </a:solidFill>
                <a:latin typeface="Microsoft YaHei" pitchFamily="34" charset="-122"/>
                <a:ea typeface="Microsoft YaHei" pitchFamily="34" charset="-122"/>
              </a:rPr>
              <a:t>价值匹配，解决</a:t>
            </a:r>
            <a:r>
              <a:rPr lang="en-US" altLang="zh-CN" dirty="0">
                <a:solidFill>
                  <a:srgbClr val="FD4444"/>
                </a:solidFill>
                <a:latin typeface="Microsoft YaHei" pitchFamily="34" charset="-122"/>
                <a:ea typeface="Microsoft YaHei" pitchFamily="34" charset="-122"/>
              </a:rPr>
              <a:t>"</a:t>
            </a:r>
            <a:r>
              <a:rPr lang="zh-CN" altLang="en-US" dirty="0">
                <a:solidFill>
                  <a:srgbClr val="FD4444"/>
                </a:solidFill>
                <a:latin typeface="Microsoft YaHei" pitchFamily="34" charset="-122"/>
                <a:ea typeface="Microsoft YaHei" pitchFamily="34" charset="-122"/>
              </a:rPr>
              <a:t>怕伤</a:t>
            </a:r>
            <a:r>
              <a:rPr lang="en-US" altLang="zh-CN" dirty="0">
                <a:solidFill>
                  <a:srgbClr val="FD4444"/>
                </a:solidFill>
                <a:latin typeface="Microsoft YaHei" pitchFamily="34" charset="-122"/>
                <a:ea typeface="Microsoft YaHei" pitchFamily="34" charset="-122"/>
              </a:rPr>
              <a:t>" </a:t>
            </a:r>
            <a:endParaRPr lang="en-US" altLang="zh-CN" dirty="0">
              <a:solidFill>
                <a:srgbClr val="FD4444"/>
              </a:solidFill>
              <a:latin typeface="Microsoft YaHei" pitchFamily="34" charset="-122"/>
              <a:ea typeface="Microsoft YaHei" pitchFamily="34" charset="-122"/>
            </a:endParaRPr>
          </a:p>
        </p:txBody>
      </p:sp>
      <p:sp>
        <p:nvSpPr>
          <p:cNvPr id="33" name="文本框 32"/>
          <p:cNvSpPr txBox="1"/>
          <p:nvPr/>
        </p:nvSpPr>
        <p:spPr>
          <a:xfrm>
            <a:off x="6441235" y="4731211"/>
            <a:ext cx="2445840" cy="1200329"/>
          </a:xfrm>
          <a:prstGeom prst="rect">
            <a:avLst/>
          </a:prstGeom>
          <a:noFill/>
        </p:spPr>
        <p:txBody>
          <a:bodyPr wrap="square" rtlCol="0">
            <a:spAutoFit/>
          </a:bodyPr>
          <a:lstStyle>
            <a:defPPr>
              <a:defRPr lang="zh-CN"/>
            </a:defPPr>
            <a:lvl1pPr>
              <a:defRPr kumimoji="1"/>
            </a:lvl1pPr>
          </a:lstStyle>
          <a:p>
            <a:r>
              <a:rPr lang="zh-CN" altLang="en-US" dirty="0">
                <a:latin typeface="Microsoft YaHei" pitchFamily="34" charset="-122"/>
                <a:ea typeface="Microsoft YaHei" pitchFamily="34" charset="-122"/>
              </a:rPr>
              <a:t>根据用户预约行为引导参与直播</a:t>
            </a:r>
            <a:endParaRPr lang="en-US" altLang="zh-CN" dirty="0">
              <a:latin typeface="Microsoft YaHei" pitchFamily="34" charset="-122"/>
              <a:ea typeface="Microsoft YaHei" pitchFamily="34" charset="-122"/>
            </a:endParaRPr>
          </a:p>
          <a:p>
            <a:endParaRPr lang="en-US" altLang="zh-CN" dirty="0">
              <a:latin typeface="Microsoft YaHei" pitchFamily="34" charset="-122"/>
              <a:ea typeface="Microsoft YaHei" pitchFamily="34" charset="-122"/>
            </a:endParaRPr>
          </a:p>
          <a:p>
            <a:r>
              <a:rPr lang="zh-CN" altLang="en-US" dirty="0">
                <a:solidFill>
                  <a:srgbClr val="FD4444"/>
                </a:solidFill>
                <a:latin typeface="Microsoft YaHei" pitchFamily="34" charset="-122"/>
                <a:ea typeface="Microsoft YaHei" pitchFamily="34" charset="-122"/>
              </a:rPr>
              <a:t>成果感知，解决</a:t>
            </a:r>
            <a:r>
              <a:rPr lang="en-US" altLang="zh-CN" dirty="0">
                <a:solidFill>
                  <a:srgbClr val="FD4444"/>
                </a:solidFill>
                <a:latin typeface="Microsoft YaHei" pitchFamily="34" charset="-122"/>
                <a:ea typeface="Microsoft YaHei" pitchFamily="34" charset="-122"/>
              </a:rPr>
              <a:t>"</a:t>
            </a:r>
            <a:r>
              <a:rPr lang="zh-CN" altLang="en-US" dirty="0">
                <a:solidFill>
                  <a:srgbClr val="FD4444"/>
                </a:solidFill>
                <a:latin typeface="Microsoft YaHei" pitchFamily="34" charset="-122"/>
                <a:ea typeface="Microsoft YaHei" pitchFamily="34" charset="-122"/>
              </a:rPr>
              <a:t>怕忙</a:t>
            </a:r>
            <a:r>
              <a:rPr lang="en-US" altLang="zh-CN" dirty="0">
                <a:solidFill>
                  <a:srgbClr val="FD4444"/>
                </a:solidFill>
                <a:latin typeface="Microsoft YaHei" pitchFamily="34" charset="-122"/>
                <a:ea typeface="Microsoft YaHei" pitchFamily="34" charset="-122"/>
              </a:rPr>
              <a:t>"</a:t>
            </a:r>
            <a:endParaRPr lang="en-US" altLang="zh-CN" dirty="0">
              <a:solidFill>
                <a:srgbClr val="FD4444"/>
              </a:solidFill>
              <a:latin typeface="Microsoft YaHei" pitchFamily="34" charset="-122"/>
              <a:ea typeface="Microsoft YaHei" pitchFamily="34" charset="-122"/>
            </a:endParaRPr>
          </a:p>
        </p:txBody>
      </p:sp>
      <p:sp>
        <p:nvSpPr>
          <p:cNvPr id="34" name="文本框 33"/>
          <p:cNvSpPr txBox="1"/>
          <p:nvPr/>
        </p:nvSpPr>
        <p:spPr>
          <a:xfrm>
            <a:off x="9203391" y="4731211"/>
            <a:ext cx="2780929" cy="1200329"/>
          </a:xfrm>
          <a:prstGeom prst="rect">
            <a:avLst/>
          </a:prstGeom>
          <a:noFill/>
        </p:spPr>
        <p:txBody>
          <a:bodyPr wrap="square" rtlCol="0">
            <a:spAutoFit/>
          </a:bodyPr>
          <a:lstStyle>
            <a:defPPr>
              <a:defRPr lang="zh-CN"/>
            </a:defPPr>
            <a:lvl1pPr>
              <a:defRPr kumimoji="1"/>
            </a:lvl1pPr>
          </a:lstStyle>
          <a:p>
            <a:r>
              <a:rPr lang="zh-CN" altLang="en-US" dirty="0">
                <a:latin typeface="Microsoft YaHei" pitchFamily="34" charset="-122"/>
                <a:ea typeface="Microsoft YaHei" pitchFamily="34" charset="-122"/>
              </a:rPr>
              <a:t>碎片化名师跟练种草引导横向跨科</a:t>
            </a:r>
            <a:endParaRPr lang="en-US" altLang="zh-CN" dirty="0">
              <a:latin typeface="Microsoft YaHei" pitchFamily="34" charset="-122"/>
              <a:ea typeface="Microsoft YaHei" pitchFamily="34" charset="-122"/>
            </a:endParaRPr>
          </a:p>
          <a:p>
            <a:endParaRPr lang="en-US" altLang="zh-CN" dirty="0">
              <a:latin typeface="Microsoft YaHei" pitchFamily="34" charset="-122"/>
              <a:ea typeface="Microsoft YaHei" pitchFamily="34" charset="-122"/>
            </a:endParaRPr>
          </a:p>
          <a:p>
            <a:r>
              <a:rPr lang="zh-CN" altLang="en-US" dirty="0">
                <a:solidFill>
                  <a:srgbClr val="FD4444"/>
                </a:solidFill>
                <a:latin typeface="Microsoft YaHei" pitchFamily="34" charset="-122"/>
                <a:ea typeface="Microsoft YaHei" pitchFamily="34" charset="-122"/>
              </a:rPr>
              <a:t>碎片化内容，解决</a:t>
            </a:r>
            <a:r>
              <a:rPr lang="en-US" altLang="zh-CN" dirty="0">
                <a:solidFill>
                  <a:srgbClr val="FD4444"/>
                </a:solidFill>
                <a:latin typeface="Microsoft YaHei" pitchFamily="34" charset="-122"/>
                <a:ea typeface="Microsoft YaHei" pitchFamily="34" charset="-122"/>
              </a:rPr>
              <a:t>"</a:t>
            </a:r>
            <a:r>
              <a:rPr lang="zh-CN" altLang="en-US" dirty="0">
                <a:solidFill>
                  <a:srgbClr val="FD4444"/>
                </a:solidFill>
                <a:latin typeface="Microsoft YaHei" pitchFamily="34" charset="-122"/>
                <a:ea typeface="Microsoft YaHei" pitchFamily="34" charset="-122"/>
              </a:rPr>
              <a:t>怕久</a:t>
            </a:r>
            <a:r>
              <a:rPr lang="en-US" altLang="zh-CN" dirty="0">
                <a:solidFill>
                  <a:srgbClr val="FD4444"/>
                </a:solidFill>
                <a:latin typeface="Microsoft YaHei" pitchFamily="34" charset="-122"/>
                <a:ea typeface="Microsoft YaHei" pitchFamily="34" charset="-122"/>
              </a:rPr>
              <a:t>" </a:t>
            </a:r>
            <a:endParaRPr lang="en-US" altLang="zh-CN" dirty="0">
              <a:solidFill>
                <a:srgbClr val="FD4444"/>
              </a:solidFill>
              <a:latin typeface="Microsoft YaHei" pitchFamily="34" charset="-122"/>
              <a:ea typeface="Microsoft YaHei" pitchFamily="34" charset="-122"/>
            </a:endParaRPr>
          </a:p>
        </p:txBody>
      </p:sp>
      <p:sp>
        <p:nvSpPr>
          <p:cNvPr id="3" name="椭圆 2"/>
          <p:cNvSpPr/>
          <p:nvPr/>
        </p:nvSpPr>
        <p:spPr>
          <a:xfrm>
            <a:off x="550863" y="1538807"/>
            <a:ext cx="972766" cy="772386"/>
          </a:xfrm>
          <a:prstGeom prst="ellipse">
            <a:avLst/>
          </a:prstGeom>
          <a:gradFill>
            <a:gsLst>
              <a:gs pos="0">
                <a:srgbClr val="FEEEE1"/>
              </a:gs>
              <a:gs pos="74000">
                <a:srgbClr val="FB8543"/>
              </a:gs>
              <a:gs pos="83000">
                <a:srgbClr val="FD8F41"/>
              </a:gs>
              <a:gs pos="100000">
                <a:srgbClr val="F6884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可掌控</a:t>
            </a:r>
            <a:endParaRPr kumimoji="1" lang="zh-CN" altLang="en-US" dirty="0">
              <a:solidFill>
                <a:schemeClr val="tx1"/>
              </a:solidFill>
            </a:endParaRPr>
          </a:p>
        </p:txBody>
      </p:sp>
      <p:sp>
        <p:nvSpPr>
          <p:cNvPr id="4" name="椭圆 3"/>
          <p:cNvSpPr/>
          <p:nvPr/>
        </p:nvSpPr>
        <p:spPr>
          <a:xfrm>
            <a:off x="10734537" y="1477986"/>
            <a:ext cx="972766" cy="772386"/>
          </a:xfrm>
          <a:prstGeom prst="ellipse">
            <a:avLst/>
          </a:prstGeom>
          <a:gradFill>
            <a:gsLst>
              <a:gs pos="0">
                <a:srgbClr val="FEEEE1"/>
              </a:gs>
              <a:gs pos="74000">
                <a:srgbClr val="FB8543"/>
              </a:gs>
              <a:gs pos="83000">
                <a:srgbClr val="FD8F41"/>
              </a:gs>
              <a:gs pos="100000">
                <a:srgbClr val="F6884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尊重</a:t>
            </a:r>
            <a:endParaRPr kumimoji="1" lang="zh-CN" altLang="en-US" dirty="0">
              <a:solidFill>
                <a:schemeClr val="tx1"/>
              </a:solidFill>
            </a:endParaRPr>
          </a:p>
        </p:txBody>
      </p:sp>
      <p:sp>
        <p:nvSpPr>
          <p:cNvPr id="5" name="椭圆 4"/>
          <p:cNvSpPr/>
          <p:nvPr/>
        </p:nvSpPr>
        <p:spPr>
          <a:xfrm>
            <a:off x="10734537" y="2508966"/>
            <a:ext cx="972766" cy="772386"/>
          </a:xfrm>
          <a:prstGeom prst="ellipse">
            <a:avLst/>
          </a:prstGeom>
          <a:gradFill>
            <a:gsLst>
              <a:gs pos="0">
                <a:srgbClr val="FEEEE1"/>
              </a:gs>
              <a:gs pos="74000">
                <a:srgbClr val="FB8543"/>
              </a:gs>
              <a:gs pos="83000">
                <a:srgbClr val="FD8F41"/>
              </a:gs>
              <a:gs pos="100000">
                <a:srgbClr val="F6884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有收获</a:t>
            </a:r>
            <a:endParaRPr kumimoji="1" lang="zh-CN" altLang="en-US" dirty="0">
              <a:solidFill>
                <a:schemeClr val="tx1"/>
              </a:solidFill>
            </a:endParaRPr>
          </a:p>
        </p:txBody>
      </p:sp>
      <p:sp>
        <p:nvSpPr>
          <p:cNvPr id="8" name="椭圆 7"/>
          <p:cNvSpPr/>
          <p:nvPr/>
        </p:nvSpPr>
        <p:spPr>
          <a:xfrm>
            <a:off x="550863" y="2484104"/>
            <a:ext cx="972766" cy="772386"/>
          </a:xfrm>
          <a:prstGeom prst="ellipse">
            <a:avLst/>
          </a:prstGeom>
          <a:gradFill>
            <a:gsLst>
              <a:gs pos="0">
                <a:srgbClr val="FEEEE1"/>
              </a:gs>
              <a:gs pos="74000">
                <a:srgbClr val="FB8543"/>
              </a:gs>
              <a:gs pos="83000">
                <a:srgbClr val="FD8F41"/>
              </a:gs>
              <a:gs pos="100000">
                <a:srgbClr val="F6884B"/>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rPr>
              <a:t>有陪伴</a:t>
            </a:r>
            <a:endParaRPr kumimoji="1" lang="zh-CN" altLang="en-US" dirty="0">
              <a:solidFill>
                <a:schemeClr val="tx1"/>
              </a:solidFill>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3303" y="458066"/>
            <a:ext cx="912162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en-US" altLang="zh-CN" sz="3200" dirty="0">
                <a:solidFill>
                  <a:srgbClr val="000000"/>
                </a:solidFill>
                <a:latin typeface="Microsoft YaHei" pitchFamily="34" charset="-122"/>
                <a:ea typeface="Microsoft YaHei" pitchFamily="34" charset="-122"/>
              </a:rPr>
              <a:t>APP</a:t>
            </a:r>
            <a:r>
              <a:rPr lang="zh-CN" altLang="en-US" sz="3200" dirty="0">
                <a:solidFill>
                  <a:srgbClr val="000000"/>
                </a:solidFill>
                <a:latin typeface="Microsoft YaHei" pitchFamily="34" charset="-122"/>
                <a:ea typeface="Microsoft YaHei" pitchFamily="34" charset="-122"/>
              </a:rPr>
              <a:t>商业化洞察与增长规划</a:t>
            </a:r>
            <a:endParaRPr lang="zh-CN" altLang="en-US" sz="3200" dirty="0">
              <a:solidFill>
                <a:srgbClr val="000000"/>
              </a:solidFill>
              <a:latin typeface="Microsoft YaHei" pitchFamily="34" charset="-122"/>
              <a:ea typeface="Microsoft YaHei" pitchFamily="34" charset="-122"/>
            </a:endParaRPr>
          </a:p>
        </p:txBody>
      </p:sp>
      <p:grpSp>
        <p:nvGrpSpPr>
          <p:cNvPr id="3" name="组合 2"/>
          <p:cNvGrpSpPr/>
          <p:nvPr/>
        </p:nvGrpSpPr>
        <p:grpSpPr>
          <a:xfrm>
            <a:off x="4777642" y="1131440"/>
            <a:ext cx="7022855" cy="5222513"/>
            <a:chOff x="331071" y="691064"/>
            <a:chExt cx="7754381" cy="5757330"/>
          </a:xfrm>
        </p:grpSpPr>
        <p:sp>
          <p:nvSpPr>
            <p:cNvPr id="4" name="矩形 3"/>
            <p:cNvSpPr/>
            <p:nvPr/>
          </p:nvSpPr>
          <p:spPr>
            <a:xfrm>
              <a:off x="583030" y="695159"/>
              <a:ext cx="4625816" cy="55086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sp>
          <p:nvSpPr>
            <p:cNvPr id="6" name="矩形 5"/>
            <p:cNvSpPr/>
            <p:nvPr/>
          </p:nvSpPr>
          <p:spPr>
            <a:xfrm>
              <a:off x="2924282" y="1398729"/>
              <a:ext cx="2051676" cy="2243780"/>
            </a:xfrm>
            <a:prstGeom prst="rect">
              <a:avLst/>
            </a:prstGeom>
            <a:solidFill>
              <a:schemeClr val="bg1">
                <a:lumMod val="85000"/>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cxnSp>
          <p:nvCxnSpPr>
            <p:cNvPr id="7" name="直接连接符 2"/>
            <p:cNvCxnSpPr/>
            <p:nvPr/>
          </p:nvCxnSpPr>
          <p:spPr>
            <a:xfrm>
              <a:off x="2924282" y="1398729"/>
              <a:ext cx="0" cy="4453415"/>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8" name="直接连接符 3"/>
            <p:cNvCxnSpPr/>
            <p:nvPr/>
          </p:nvCxnSpPr>
          <p:spPr>
            <a:xfrm>
              <a:off x="872604" y="3642507"/>
              <a:ext cx="4103354" cy="0"/>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9" name="矩形 8"/>
            <p:cNvSpPr/>
            <p:nvPr/>
          </p:nvSpPr>
          <p:spPr>
            <a:xfrm>
              <a:off x="872605" y="1398729"/>
              <a:ext cx="2051676" cy="2243780"/>
            </a:xfrm>
            <a:prstGeom prst="rect">
              <a:avLst/>
            </a:prstGeom>
            <a:solidFill>
              <a:schemeClr val="accent5">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sp>
          <p:nvSpPr>
            <p:cNvPr id="10" name="矩形 9"/>
            <p:cNvSpPr/>
            <p:nvPr/>
          </p:nvSpPr>
          <p:spPr>
            <a:xfrm>
              <a:off x="872605" y="3642509"/>
              <a:ext cx="2051676" cy="2209636"/>
            </a:xfrm>
            <a:prstGeom prst="rect">
              <a:avLst/>
            </a:prstGeom>
            <a:solidFill>
              <a:schemeClr val="bg1">
                <a:lumMod val="9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sp>
          <p:nvSpPr>
            <p:cNvPr id="11" name="矩形 10"/>
            <p:cNvSpPr/>
            <p:nvPr/>
          </p:nvSpPr>
          <p:spPr>
            <a:xfrm>
              <a:off x="2924282" y="3642509"/>
              <a:ext cx="2051676" cy="2209636"/>
            </a:xfrm>
            <a:prstGeom prst="rect">
              <a:avLst/>
            </a:prstGeom>
            <a:solidFill>
              <a:schemeClr val="bg1">
                <a:lumMod val="75000"/>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graphicFrame>
          <p:nvGraphicFramePr>
            <p:cNvPr id="12" name="图表 11"/>
            <p:cNvGraphicFramePr/>
            <p:nvPr/>
          </p:nvGraphicFramePr>
          <p:xfrm>
            <a:off x="872604" y="1398728"/>
            <a:ext cx="4070287" cy="4460993"/>
          </p:xfrm>
          <a:graphic>
            <a:graphicData uri="http://schemas.openxmlformats.org/drawingml/2006/chart">
              <c:chart xmlns:c="http://schemas.openxmlformats.org/drawingml/2006/chart" xmlns:r="http://schemas.openxmlformats.org/officeDocument/2006/relationships" r:id="rId1"/>
            </a:graphicData>
          </a:graphic>
        </p:graphicFrame>
        <p:cxnSp>
          <p:nvCxnSpPr>
            <p:cNvPr id="13" name="直接箭头连接符 13"/>
            <p:cNvCxnSpPr/>
            <p:nvPr/>
          </p:nvCxnSpPr>
          <p:spPr>
            <a:xfrm flipV="1">
              <a:off x="872605" y="1321691"/>
              <a:ext cx="0" cy="4535834"/>
            </a:xfrm>
            <a:prstGeom prst="straightConnector1">
              <a:avLst/>
            </a:prstGeom>
            <a:ln w="158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接箭头连接符 14"/>
            <p:cNvCxnSpPr/>
            <p:nvPr/>
          </p:nvCxnSpPr>
          <p:spPr>
            <a:xfrm>
              <a:off x="872604" y="5852144"/>
              <a:ext cx="4178306" cy="0"/>
            </a:xfrm>
            <a:prstGeom prst="straightConnector1">
              <a:avLst/>
            </a:prstGeom>
            <a:ln w="15875">
              <a:solidFill>
                <a:schemeClr val="bg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5" name="文本框 14"/>
            <p:cNvSpPr txBox="1"/>
            <p:nvPr/>
          </p:nvSpPr>
          <p:spPr>
            <a:xfrm>
              <a:off x="4252652" y="5871593"/>
              <a:ext cx="813044" cy="576801"/>
            </a:xfrm>
            <a:prstGeom prst="rect">
              <a:avLst/>
            </a:prstGeom>
            <a:noFill/>
          </p:spPr>
          <p:txBody>
            <a:bodyPr wrap="square" rtlCol="0">
              <a:spAutoFit/>
            </a:bodyPr>
            <a:lstStyle/>
            <a:p>
              <a:pPr algn="r"/>
              <a:r>
                <a:rPr lang="zh-CN" altLang="en-US" sz="1400" dirty="0">
                  <a:solidFill>
                    <a:schemeClr val="bg1">
                      <a:lumMod val="50000"/>
                    </a:schemeClr>
                  </a:solidFill>
                  <a:latin typeface="Microsoft YaHei" pitchFamily="34" charset="-122"/>
                  <a:ea typeface="Microsoft YaHei" pitchFamily="34" charset="-122"/>
                </a:rPr>
                <a:t>曝光</a:t>
              </a:r>
              <a:r>
                <a:rPr lang="en-US" altLang="zh-CN" sz="1400" dirty="0" err="1">
                  <a:solidFill>
                    <a:schemeClr val="bg1">
                      <a:lumMod val="50000"/>
                    </a:schemeClr>
                  </a:solidFill>
                  <a:latin typeface="Microsoft YaHei" pitchFamily="34" charset="-122"/>
                  <a:ea typeface="Microsoft YaHei" pitchFamily="34" charset="-122"/>
                </a:rPr>
                <a:t>uv</a:t>
              </a:r>
              <a:endParaRPr lang="en-US" sz="1400" dirty="0">
                <a:solidFill>
                  <a:schemeClr val="bg1">
                    <a:lumMod val="50000"/>
                  </a:schemeClr>
                </a:solidFill>
                <a:latin typeface="Microsoft YaHei" pitchFamily="34" charset="-122"/>
                <a:ea typeface="Microsoft YaHei" pitchFamily="34" charset="-122"/>
              </a:endParaRPr>
            </a:p>
          </p:txBody>
        </p:sp>
        <p:sp>
          <p:nvSpPr>
            <p:cNvPr id="16" name="文本框 15"/>
            <p:cNvSpPr txBox="1"/>
            <p:nvPr/>
          </p:nvSpPr>
          <p:spPr>
            <a:xfrm>
              <a:off x="331071" y="1357811"/>
              <a:ext cx="441787" cy="990015"/>
            </a:xfrm>
            <a:prstGeom prst="rect">
              <a:avLst/>
            </a:prstGeom>
            <a:noFill/>
          </p:spPr>
          <p:txBody>
            <a:bodyPr vert="eaVert" wrap="square" rtlCol="0">
              <a:spAutoFit/>
            </a:bodyPr>
            <a:lstStyle/>
            <a:p>
              <a:r>
                <a:rPr lang="zh-CN" altLang="en-US" sz="1400" dirty="0">
                  <a:solidFill>
                    <a:schemeClr val="bg1">
                      <a:lumMod val="50000"/>
                    </a:schemeClr>
                  </a:solidFill>
                  <a:latin typeface="Microsoft YaHei" pitchFamily="34" charset="-122"/>
                  <a:ea typeface="Microsoft YaHei" pitchFamily="34" charset="-122"/>
                </a:rPr>
                <a:t>单</a:t>
              </a:r>
              <a:r>
                <a:rPr lang="en-US" altLang="zh-CN" sz="1400" dirty="0" err="1">
                  <a:solidFill>
                    <a:schemeClr val="bg1">
                      <a:lumMod val="50000"/>
                    </a:schemeClr>
                  </a:solidFill>
                  <a:latin typeface="Microsoft YaHei" pitchFamily="34" charset="-122"/>
                  <a:ea typeface="Microsoft YaHei" pitchFamily="34" charset="-122"/>
                </a:rPr>
                <a:t>uv</a:t>
              </a:r>
              <a:r>
                <a:rPr lang="zh-CN" altLang="en-US" sz="1400" dirty="0">
                  <a:solidFill>
                    <a:schemeClr val="bg1">
                      <a:lumMod val="50000"/>
                    </a:schemeClr>
                  </a:solidFill>
                  <a:latin typeface="Microsoft YaHei" pitchFamily="34" charset="-122"/>
                  <a:ea typeface="Microsoft YaHei" pitchFamily="34" charset="-122"/>
                </a:rPr>
                <a:t>产出</a:t>
              </a:r>
              <a:endParaRPr lang="en-US" sz="1400" dirty="0">
                <a:solidFill>
                  <a:schemeClr val="bg1">
                    <a:lumMod val="50000"/>
                  </a:schemeClr>
                </a:solidFill>
                <a:latin typeface="Microsoft YaHei" pitchFamily="34" charset="-122"/>
                <a:ea typeface="Microsoft YaHei" pitchFamily="34" charset="-122"/>
              </a:endParaRPr>
            </a:p>
          </p:txBody>
        </p:sp>
        <p:sp>
          <p:nvSpPr>
            <p:cNvPr id="17" name="文本框 16"/>
            <p:cNvSpPr txBox="1"/>
            <p:nvPr/>
          </p:nvSpPr>
          <p:spPr>
            <a:xfrm>
              <a:off x="2024383" y="2198301"/>
              <a:ext cx="748923" cy="254471"/>
            </a:xfrm>
            <a:prstGeom prst="rect">
              <a:avLst/>
            </a:prstGeom>
            <a:noFill/>
          </p:spPr>
          <p:txBody>
            <a:bodyPr wrap="square" rtlCol="0">
              <a:spAutoFit/>
            </a:bodyPr>
            <a:lstStyle/>
            <a:p>
              <a:pPr algn="ctr"/>
              <a:endParaRPr lang="en-US" sz="900" dirty="0">
                <a:solidFill>
                  <a:schemeClr val="bg1"/>
                </a:solidFill>
                <a:latin typeface="Microsoft YaHei" pitchFamily="34" charset="-122"/>
                <a:ea typeface="Microsoft YaHei" pitchFamily="34" charset="-122"/>
              </a:endParaRPr>
            </a:p>
          </p:txBody>
        </p:sp>
        <p:sp>
          <p:nvSpPr>
            <p:cNvPr id="18" name="文本框 17"/>
            <p:cNvSpPr txBox="1"/>
            <p:nvPr/>
          </p:nvSpPr>
          <p:spPr>
            <a:xfrm>
              <a:off x="3297875" y="2270269"/>
              <a:ext cx="1006468" cy="254471"/>
            </a:xfrm>
            <a:prstGeom prst="rect">
              <a:avLst/>
            </a:prstGeom>
            <a:noFill/>
          </p:spPr>
          <p:txBody>
            <a:bodyPr wrap="square" rtlCol="0">
              <a:spAutoFit/>
            </a:bodyPr>
            <a:lstStyle/>
            <a:p>
              <a:pPr algn="ctr"/>
              <a:endParaRPr lang="en-US" sz="900" dirty="0">
                <a:solidFill>
                  <a:schemeClr val="bg1"/>
                </a:solidFill>
                <a:latin typeface="Microsoft YaHei" pitchFamily="34" charset="-122"/>
                <a:ea typeface="Microsoft YaHei" pitchFamily="34" charset="-122"/>
              </a:endParaRPr>
            </a:p>
          </p:txBody>
        </p:sp>
        <p:grpSp>
          <p:nvGrpSpPr>
            <p:cNvPr id="19" name="组合 18"/>
            <p:cNvGrpSpPr/>
            <p:nvPr/>
          </p:nvGrpSpPr>
          <p:grpSpPr>
            <a:xfrm>
              <a:off x="5224817" y="695159"/>
              <a:ext cx="2860635" cy="5508624"/>
              <a:chOff x="5767925" y="1016001"/>
              <a:chExt cx="2860635" cy="5508624"/>
            </a:xfrm>
          </p:grpSpPr>
          <p:sp>
            <p:nvSpPr>
              <p:cNvPr id="26" name="矩形 25"/>
              <p:cNvSpPr/>
              <p:nvPr/>
            </p:nvSpPr>
            <p:spPr>
              <a:xfrm>
                <a:off x="5829584" y="1016001"/>
                <a:ext cx="2687489" cy="5508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icrosoft YaHei" pitchFamily="34" charset="-122"/>
                  <a:ea typeface="Microsoft YaHei" pitchFamily="34" charset="-122"/>
                </a:endParaRPr>
              </a:p>
            </p:txBody>
          </p:sp>
          <p:sp>
            <p:nvSpPr>
              <p:cNvPr id="27" name="文本框 26"/>
              <p:cNvSpPr txBox="1"/>
              <p:nvPr/>
            </p:nvSpPr>
            <p:spPr>
              <a:xfrm>
                <a:off x="5919539" y="1149318"/>
                <a:ext cx="2413416" cy="492656"/>
              </a:xfrm>
              <a:prstGeom prst="rect">
                <a:avLst/>
              </a:prstGeom>
              <a:noFill/>
              <a:effectLst/>
            </p:spPr>
            <p:txBody>
              <a:bodyPr wrap="square" lIns="76810" tIns="38405" rIns="76810" bIns="38405">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2400" u="none" strike="noStrike" kern="1200" cap="none" spc="0" normalizeH="0" baseline="0" noProof="0" dirty="0">
                    <a:ln>
                      <a:noFill/>
                    </a:ln>
                    <a:solidFill>
                      <a:schemeClr val="bg1"/>
                    </a:solidFill>
                    <a:effectLst/>
                    <a:uLnTx/>
                    <a:uFillTx/>
                    <a:latin typeface="Microsoft YaHei" pitchFamily="34" charset="-122"/>
                    <a:ea typeface="Microsoft YaHei" pitchFamily="34" charset="-122"/>
                  </a:rPr>
                  <a:t>APP</a:t>
                </a:r>
                <a:r>
                  <a:rPr kumimoji="0" lang="zh-CN" altLang="en-US" sz="2400" u="none" strike="noStrike" kern="1200" cap="none" spc="0" normalizeH="0" baseline="0" noProof="0" dirty="0">
                    <a:ln>
                      <a:noFill/>
                    </a:ln>
                    <a:solidFill>
                      <a:schemeClr val="bg1"/>
                    </a:solidFill>
                    <a:effectLst/>
                    <a:uLnTx/>
                    <a:uFillTx/>
                    <a:latin typeface="Microsoft YaHei" pitchFamily="34" charset="-122"/>
                    <a:ea typeface="Microsoft YaHei" pitchFamily="34" charset="-122"/>
                  </a:rPr>
                  <a:t>效率</a:t>
                </a:r>
                <a:endParaRPr kumimoji="0" lang="zh-CN" altLang="en-US" sz="2400" u="none" strike="noStrike" kern="1200" cap="none" spc="0" normalizeH="0" baseline="0" noProof="0" dirty="0">
                  <a:ln>
                    <a:noFill/>
                  </a:ln>
                  <a:solidFill>
                    <a:schemeClr val="bg1"/>
                  </a:solidFill>
                  <a:effectLst/>
                  <a:uLnTx/>
                  <a:uFillTx/>
                  <a:latin typeface="Microsoft YaHei" pitchFamily="34" charset="-122"/>
                  <a:ea typeface="Microsoft YaHei" pitchFamily="34" charset="-122"/>
                </a:endParaRPr>
              </a:p>
            </p:txBody>
          </p:sp>
          <p:cxnSp>
            <p:nvCxnSpPr>
              <p:cNvPr id="28" name="直接连接符 30"/>
              <p:cNvCxnSpPr/>
              <p:nvPr/>
            </p:nvCxnSpPr>
            <p:spPr>
              <a:xfrm>
                <a:off x="5919539" y="3899996"/>
                <a:ext cx="2243983" cy="0"/>
              </a:xfrm>
              <a:prstGeom prst="line">
                <a:avLst/>
              </a:prstGeom>
              <a:ln w="9525">
                <a:solidFill>
                  <a:schemeClr val="bg1">
                    <a:alpha val="29000"/>
                  </a:schemeClr>
                </a:solidFill>
              </a:ln>
            </p:spPr>
            <p:style>
              <a:lnRef idx="2">
                <a:schemeClr val="accent1"/>
              </a:lnRef>
              <a:fillRef idx="0">
                <a:schemeClr val="accent1"/>
              </a:fillRef>
              <a:effectRef idx="1">
                <a:schemeClr val="accent1"/>
              </a:effectRef>
              <a:fontRef idx="minor">
                <a:schemeClr val="tx1"/>
              </a:fontRef>
            </p:style>
          </p:cxnSp>
          <p:grpSp>
            <p:nvGrpSpPr>
              <p:cNvPr id="29" name="组合 28"/>
              <p:cNvGrpSpPr/>
              <p:nvPr/>
            </p:nvGrpSpPr>
            <p:grpSpPr>
              <a:xfrm>
                <a:off x="5966620" y="1766002"/>
                <a:ext cx="2413416" cy="882538"/>
                <a:chOff x="6143081" y="1584816"/>
                <a:chExt cx="2413416" cy="882538"/>
              </a:xfrm>
            </p:grpSpPr>
            <p:sp>
              <p:nvSpPr>
                <p:cNvPr id="35" name="文本框 34"/>
                <p:cNvSpPr txBox="1"/>
                <p:nvPr/>
              </p:nvSpPr>
              <p:spPr>
                <a:xfrm>
                  <a:off x="6143081" y="2039870"/>
                  <a:ext cx="2413416" cy="427484"/>
                </a:xfrm>
                <a:prstGeom prst="rect">
                  <a:avLst/>
                </a:prstGeom>
                <a:noFill/>
                <a:effectLst/>
              </p:spPr>
              <p:txBody>
                <a:bodyPr wrap="square" lIns="76810" tIns="38405" rIns="76810" bIns="38405">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2015" u="none" strike="noStrike" kern="1200" cap="none" spc="0" normalizeH="0" baseline="0" noProof="0" dirty="0">
                      <a:ln>
                        <a:noFill/>
                      </a:ln>
                      <a:solidFill>
                        <a:schemeClr val="bg1"/>
                      </a:solidFill>
                      <a:effectLst/>
                      <a:uLnTx/>
                      <a:uFillTx/>
                      <a:latin typeface="Microsoft YaHei" pitchFamily="34" charset="-122"/>
                      <a:ea typeface="Microsoft YaHei" pitchFamily="34" charset="-122"/>
                    </a:rPr>
                    <a:t>48%</a:t>
                  </a:r>
                  <a:r>
                    <a:rPr kumimoji="0" lang="zh-CN" altLang="en-US" sz="2015" u="none" strike="noStrike" kern="1200" cap="none" spc="0" normalizeH="0" baseline="0" noProof="0" dirty="0">
                      <a:ln>
                        <a:noFill/>
                      </a:ln>
                      <a:solidFill>
                        <a:schemeClr val="bg1"/>
                      </a:solidFill>
                      <a:effectLst/>
                      <a:uLnTx/>
                      <a:uFillTx/>
                      <a:latin typeface="Microsoft YaHei" pitchFamily="34" charset="-122"/>
                      <a:ea typeface="Microsoft YaHei" pitchFamily="34" charset="-122"/>
                    </a:rPr>
                    <a:t>流水</a:t>
                  </a:r>
                  <a:endParaRPr kumimoji="0" lang="zh-CN" altLang="en-US" sz="2015" u="none" strike="noStrike" kern="1200" cap="none" spc="0" normalizeH="0" baseline="0" noProof="0" dirty="0">
                    <a:ln>
                      <a:noFill/>
                    </a:ln>
                    <a:solidFill>
                      <a:schemeClr val="bg1"/>
                    </a:solidFill>
                    <a:effectLst/>
                    <a:uLnTx/>
                    <a:uFillTx/>
                    <a:latin typeface="Microsoft YaHei" pitchFamily="34" charset="-122"/>
                    <a:ea typeface="Microsoft YaHei" pitchFamily="34" charset="-122"/>
                  </a:endParaRPr>
                </a:p>
              </p:txBody>
            </p:sp>
            <p:sp>
              <p:nvSpPr>
                <p:cNvPr id="36" name="矩形: 圆角 33"/>
                <p:cNvSpPr/>
                <p:nvPr>
                  <p:custDataLst>
                    <p:tags r:id="rId2"/>
                  </p:custDataLst>
                </p:nvPr>
              </p:nvSpPr>
              <p:spPr>
                <a:xfrm>
                  <a:off x="6337134" y="1584816"/>
                  <a:ext cx="2025310" cy="390868"/>
                </a:xfrm>
                <a:prstGeom prst="roundRect">
                  <a:avLst>
                    <a:gd name="adj" fmla="val 50000"/>
                  </a:avLst>
                </a:prstGeom>
                <a:solidFill>
                  <a:schemeClr val="bg1">
                    <a:alpha val="2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76810" tIns="38405" rIns="76810" bIns="38405" rtlCol="0" anchor="ctr"/>
                <a:lstStyle/>
                <a:p>
                  <a:pPr algn="ctr"/>
                  <a:r>
                    <a:rPr lang="zh-CN" altLang="en-US" dirty="0">
                      <a:latin typeface="Microsoft YaHei" pitchFamily="34" charset="-122"/>
                      <a:ea typeface="Microsoft YaHei" pitchFamily="34" charset="-122"/>
                    </a:rPr>
                    <a:t>首页贡献</a:t>
                  </a:r>
                  <a:endParaRPr lang="zh-SG" altLang="en-US" dirty="0">
                    <a:latin typeface="Microsoft YaHei" pitchFamily="34" charset="-122"/>
                    <a:ea typeface="Microsoft YaHei" pitchFamily="34" charset="-122"/>
                  </a:endParaRPr>
                </a:p>
              </p:txBody>
            </p:sp>
          </p:grpSp>
          <p:sp>
            <p:nvSpPr>
              <p:cNvPr id="30" name="文本框 29"/>
              <p:cNvSpPr txBox="1"/>
              <p:nvPr/>
            </p:nvSpPr>
            <p:spPr>
              <a:xfrm>
                <a:off x="5903999" y="2991226"/>
                <a:ext cx="2413416" cy="696233"/>
              </a:xfrm>
              <a:prstGeom prst="rect">
                <a:avLst/>
              </a:prstGeom>
              <a:noFill/>
              <a:effectLst/>
            </p:spPr>
            <p:txBody>
              <a:bodyPr wrap="square" lIns="76810" tIns="38405" rIns="76810" bIns="38405">
                <a:spAutoFit/>
              </a:bodyPr>
              <a:lstStyle/>
              <a:p>
                <a:pPr lvl="0" algn="ctr">
                  <a:defRPr/>
                </a:pPr>
                <a:r>
                  <a:rPr lang="en-US" altLang="zh-CN" dirty="0">
                    <a:solidFill>
                      <a:schemeClr val="bg1"/>
                    </a:solidFill>
                    <a:latin typeface="Microsoft YaHei" pitchFamily="34" charset="-122"/>
                    <a:ea typeface="Microsoft YaHei" pitchFamily="34" charset="-122"/>
                  </a:rPr>
                  <a:t>P0</a:t>
                </a:r>
                <a:r>
                  <a:rPr lang="zh-CN" altLang="en-US" dirty="0">
                    <a:solidFill>
                      <a:schemeClr val="bg1"/>
                    </a:solidFill>
                    <a:latin typeface="Microsoft YaHei" pitchFamily="34" charset="-122"/>
                    <a:ea typeface="Microsoft YaHei" pitchFamily="34" charset="-122"/>
                  </a:rPr>
                  <a:t>：优先级</a:t>
                </a:r>
                <a:endParaRPr lang="en-US" altLang="zh-CN" dirty="0">
                  <a:solidFill>
                    <a:schemeClr val="bg1"/>
                  </a:solidFill>
                  <a:latin typeface="Microsoft YaHei" pitchFamily="34" charset="-122"/>
                  <a:ea typeface="Microsoft YaHei" pitchFamily="34" charset="-122"/>
                </a:endParaRPr>
              </a:p>
              <a:p>
                <a:pPr lvl="0" algn="ctr">
                  <a:defRPr/>
                </a:pPr>
                <a:r>
                  <a:rPr lang="en-US" altLang="zh-CN" dirty="0">
                    <a:solidFill>
                      <a:schemeClr val="bg1"/>
                    </a:solidFill>
                    <a:latin typeface="Microsoft YaHei" pitchFamily="34" charset="-122"/>
                    <a:ea typeface="Microsoft YaHei" pitchFamily="34" charset="-122"/>
                  </a:rPr>
                  <a:t>【</a:t>
                </a:r>
                <a:r>
                  <a:rPr lang="zh-CN" altLang="en-US" dirty="0">
                    <a:solidFill>
                      <a:schemeClr val="bg1"/>
                    </a:solidFill>
                    <a:latin typeface="Microsoft YaHei" pitchFamily="34" charset="-122"/>
                    <a:ea typeface="Microsoft YaHei" pitchFamily="34" charset="-122"/>
                  </a:rPr>
                  <a:t>第二象限</a:t>
                </a:r>
                <a:r>
                  <a:rPr lang="en-US" altLang="zh-CN" dirty="0">
                    <a:solidFill>
                      <a:schemeClr val="bg1"/>
                    </a:solidFill>
                    <a:latin typeface="Microsoft YaHei" pitchFamily="34" charset="-122"/>
                    <a:ea typeface="Microsoft YaHei" pitchFamily="34" charset="-122"/>
                  </a:rPr>
                  <a:t>】</a:t>
                </a:r>
                <a:endParaRPr kumimoji="0" lang="zh-CN" altLang="en-US" u="none" strike="noStrike" kern="1200" cap="none" spc="0" normalizeH="0" baseline="0" noProof="0" dirty="0">
                  <a:ln>
                    <a:noFill/>
                  </a:ln>
                  <a:solidFill>
                    <a:schemeClr val="bg1"/>
                  </a:solidFill>
                  <a:effectLst/>
                  <a:uLnTx/>
                  <a:uFillTx/>
                  <a:latin typeface="Microsoft YaHei" pitchFamily="34" charset="-122"/>
                  <a:ea typeface="Microsoft YaHei" pitchFamily="34" charset="-122"/>
                </a:endParaRPr>
              </a:p>
            </p:txBody>
          </p:sp>
          <p:sp>
            <p:nvSpPr>
              <p:cNvPr id="31" name="文本框 30"/>
              <p:cNvSpPr txBox="1"/>
              <p:nvPr/>
            </p:nvSpPr>
            <p:spPr>
              <a:xfrm>
                <a:off x="5903999" y="4098273"/>
                <a:ext cx="2413416" cy="696233"/>
              </a:xfrm>
              <a:prstGeom prst="rect">
                <a:avLst/>
              </a:prstGeom>
              <a:noFill/>
              <a:effectLst/>
            </p:spPr>
            <p:txBody>
              <a:bodyPr wrap="square" lIns="76810" tIns="38405" rIns="76810" bIns="38405">
                <a:spAutoFit/>
              </a:bodyPr>
              <a:lstStyle/>
              <a:p>
                <a:pPr lvl="0" algn="ctr">
                  <a:defRPr/>
                </a:pPr>
                <a:r>
                  <a:rPr lang="en-US" altLang="zh-CN" dirty="0">
                    <a:solidFill>
                      <a:schemeClr val="bg1"/>
                    </a:solidFill>
                    <a:latin typeface="Microsoft YaHei" pitchFamily="34" charset="-122"/>
                    <a:ea typeface="Microsoft YaHei" pitchFamily="34" charset="-122"/>
                  </a:rPr>
                  <a:t>P1</a:t>
                </a:r>
                <a:r>
                  <a:rPr lang="zh-CN" altLang="en-US" dirty="0">
                    <a:solidFill>
                      <a:schemeClr val="bg1"/>
                    </a:solidFill>
                    <a:latin typeface="Microsoft YaHei" pitchFamily="34" charset="-122"/>
                    <a:ea typeface="Microsoft YaHei" pitchFamily="34" charset="-122"/>
                  </a:rPr>
                  <a:t>：优化</a:t>
                </a:r>
                <a:endParaRPr lang="en-US" altLang="zh-CN" dirty="0">
                  <a:solidFill>
                    <a:schemeClr val="bg1"/>
                  </a:solidFill>
                  <a:latin typeface="Microsoft YaHei" pitchFamily="34" charset="-122"/>
                  <a:ea typeface="Microsoft YaHei" pitchFamily="34" charset="-122"/>
                </a:endParaRPr>
              </a:p>
              <a:p>
                <a:pPr lvl="0" algn="ctr">
                  <a:defRPr/>
                </a:pPr>
                <a:r>
                  <a:rPr lang="en-US" altLang="zh-CN" dirty="0">
                    <a:solidFill>
                      <a:schemeClr val="bg1"/>
                    </a:solidFill>
                    <a:latin typeface="Microsoft YaHei" pitchFamily="34" charset="-122"/>
                    <a:ea typeface="Microsoft YaHei" pitchFamily="34" charset="-122"/>
                  </a:rPr>
                  <a:t>【</a:t>
                </a:r>
                <a:r>
                  <a:rPr lang="zh-CN" altLang="en-US" dirty="0">
                    <a:solidFill>
                      <a:schemeClr val="bg1"/>
                    </a:solidFill>
                    <a:latin typeface="Microsoft YaHei" pitchFamily="34" charset="-122"/>
                    <a:ea typeface="Microsoft YaHei" pitchFamily="34" charset="-122"/>
                  </a:rPr>
                  <a:t>第四象限</a:t>
                </a:r>
                <a:r>
                  <a:rPr lang="en-US" altLang="zh-CN" dirty="0">
                    <a:solidFill>
                      <a:schemeClr val="bg1"/>
                    </a:solidFill>
                    <a:latin typeface="Microsoft YaHei" pitchFamily="34" charset="-122"/>
                    <a:ea typeface="Microsoft YaHei" pitchFamily="34" charset="-122"/>
                  </a:rPr>
                  <a:t>】</a:t>
                </a:r>
                <a:endParaRPr kumimoji="0" lang="zh-CN" altLang="en-US" u="none" strike="noStrike" kern="1200" cap="none" spc="0" normalizeH="0" baseline="0" noProof="0" dirty="0">
                  <a:ln>
                    <a:noFill/>
                  </a:ln>
                  <a:solidFill>
                    <a:schemeClr val="bg1"/>
                  </a:solidFill>
                  <a:effectLst/>
                  <a:uLnTx/>
                  <a:uFillTx/>
                  <a:latin typeface="Microsoft YaHei" pitchFamily="34" charset="-122"/>
                  <a:ea typeface="Microsoft YaHei" pitchFamily="34" charset="-122"/>
                </a:endParaRPr>
              </a:p>
            </p:txBody>
          </p:sp>
          <p:cxnSp>
            <p:nvCxnSpPr>
              <p:cNvPr id="32" name="直接连接符 43"/>
              <p:cNvCxnSpPr/>
              <p:nvPr/>
            </p:nvCxnSpPr>
            <p:spPr>
              <a:xfrm>
                <a:off x="5919539" y="2761843"/>
                <a:ext cx="2243983" cy="0"/>
              </a:xfrm>
              <a:prstGeom prst="line">
                <a:avLst/>
              </a:prstGeom>
              <a:ln w="9525">
                <a:solidFill>
                  <a:schemeClr val="bg1">
                    <a:alpha val="29000"/>
                  </a:schemeClr>
                </a:solidFill>
              </a:ln>
            </p:spPr>
            <p:style>
              <a:lnRef idx="2">
                <a:schemeClr val="accent1"/>
              </a:lnRef>
              <a:fillRef idx="0">
                <a:schemeClr val="accent1"/>
              </a:fillRef>
              <a:effectRef idx="1">
                <a:schemeClr val="accent1"/>
              </a:effectRef>
              <a:fontRef idx="minor">
                <a:schemeClr val="tx1"/>
              </a:fontRef>
            </p:style>
          </p:cxnSp>
          <p:cxnSp>
            <p:nvCxnSpPr>
              <p:cNvPr id="33" name="直接连接符 44"/>
              <p:cNvCxnSpPr/>
              <p:nvPr/>
            </p:nvCxnSpPr>
            <p:spPr>
              <a:xfrm>
                <a:off x="5919539" y="5068169"/>
                <a:ext cx="2243983" cy="0"/>
              </a:xfrm>
              <a:prstGeom prst="line">
                <a:avLst/>
              </a:prstGeom>
              <a:ln w="9525">
                <a:solidFill>
                  <a:schemeClr val="bg1">
                    <a:alpha val="29000"/>
                  </a:schemeClr>
                </a:solidFill>
              </a:ln>
            </p:spPr>
            <p:style>
              <a:lnRef idx="2">
                <a:schemeClr val="accent1"/>
              </a:lnRef>
              <a:fillRef idx="0">
                <a:schemeClr val="accent1"/>
              </a:fillRef>
              <a:effectRef idx="1">
                <a:schemeClr val="accent1"/>
              </a:effectRef>
              <a:fontRef idx="minor">
                <a:schemeClr val="tx1"/>
              </a:fontRef>
            </p:style>
          </p:cxnSp>
          <p:sp>
            <p:nvSpPr>
              <p:cNvPr id="34" name="文本框 33"/>
              <p:cNvSpPr txBox="1"/>
              <p:nvPr/>
            </p:nvSpPr>
            <p:spPr>
              <a:xfrm>
                <a:off x="5767925" y="5222158"/>
                <a:ext cx="2860635" cy="1001599"/>
              </a:xfrm>
              <a:prstGeom prst="rect">
                <a:avLst/>
              </a:prstGeom>
              <a:noFill/>
              <a:effectLst/>
            </p:spPr>
            <p:txBody>
              <a:bodyPr wrap="square" lIns="76810" tIns="38405" rIns="76810" bIns="38405">
                <a:spAutoFit/>
              </a:bodyPr>
              <a:lstStyle/>
              <a:p>
                <a:pPr lvl="0" algn="ctr">
                  <a:defRPr/>
                </a:pPr>
                <a:r>
                  <a:rPr lang="en-US" altLang="zh-CN" dirty="0">
                    <a:solidFill>
                      <a:schemeClr val="bg1"/>
                    </a:solidFill>
                    <a:latin typeface="Microsoft YaHei" pitchFamily="34" charset="-122"/>
                    <a:ea typeface="Microsoft YaHei" pitchFamily="34" charset="-122"/>
                  </a:rPr>
                  <a:t>P2</a:t>
                </a:r>
                <a:r>
                  <a:rPr lang="zh-CN" altLang="en-US" dirty="0">
                    <a:solidFill>
                      <a:schemeClr val="bg1"/>
                    </a:solidFill>
                    <a:latin typeface="Microsoft YaHei" pitchFamily="34" charset="-122"/>
                    <a:ea typeface="Microsoft YaHei" pitchFamily="34" charset="-122"/>
                  </a:rPr>
                  <a:t>：优化</a:t>
                </a:r>
                <a:endParaRPr lang="en-US" altLang="zh-CN" dirty="0">
                  <a:solidFill>
                    <a:schemeClr val="bg1"/>
                  </a:solidFill>
                  <a:latin typeface="Microsoft YaHei" pitchFamily="34" charset="-122"/>
                  <a:ea typeface="Microsoft YaHei" pitchFamily="34" charset="-122"/>
                </a:endParaRPr>
              </a:p>
              <a:p>
                <a:pPr lvl="0" algn="ctr">
                  <a:defRPr/>
                </a:pPr>
                <a:r>
                  <a:rPr lang="en-US" altLang="zh-CN" dirty="0">
                    <a:solidFill>
                      <a:schemeClr val="bg1"/>
                    </a:solidFill>
                    <a:latin typeface="Microsoft YaHei" pitchFamily="34" charset="-122"/>
                    <a:ea typeface="Microsoft YaHei" pitchFamily="34" charset="-122"/>
                  </a:rPr>
                  <a:t>【</a:t>
                </a:r>
                <a:r>
                  <a:rPr lang="zh-CN" altLang="en-US" dirty="0">
                    <a:solidFill>
                      <a:schemeClr val="bg1"/>
                    </a:solidFill>
                    <a:latin typeface="Microsoft YaHei" pitchFamily="34" charset="-122"/>
                    <a:ea typeface="Microsoft YaHei" pitchFamily="34" charset="-122"/>
                  </a:rPr>
                  <a:t>第一象限</a:t>
                </a:r>
                <a:r>
                  <a:rPr lang="en-US" altLang="zh-CN" dirty="0">
                    <a:solidFill>
                      <a:schemeClr val="bg1"/>
                    </a:solidFill>
                    <a:latin typeface="Microsoft YaHei" pitchFamily="34" charset="-122"/>
                    <a:ea typeface="Microsoft YaHei" pitchFamily="34" charset="-122"/>
                  </a:rPr>
                  <a:t>】</a:t>
                </a:r>
                <a:endParaRPr lang="en-US" altLang="zh-CN" dirty="0">
                  <a:solidFill>
                    <a:schemeClr val="bg1"/>
                  </a:solidFill>
                  <a:latin typeface="Microsoft YaHei" pitchFamily="34" charset="-122"/>
                  <a:ea typeface="Microsoft YaHei" pitchFamily="34" charset="-122"/>
                </a:endParaRPr>
              </a:p>
              <a:p>
                <a:pPr lvl="0" algn="ctr">
                  <a:defRPr/>
                </a:pPr>
                <a:r>
                  <a:rPr lang="zh-CN" altLang="en-US" dirty="0">
                    <a:solidFill>
                      <a:schemeClr val="bg1"/>
                    </a:solidFill>
                    <a:latin typeface="Microsoft YaHei" pitchFamily="34" charset="-122"/>
                    <a:ea typeface="Microsoft YaHei" pitchFamily="34" charset="-122"/>
                  </a:rPr>
                  <a:t>分层运营</a:t>
                </a:r>
                <a:endParaRPr kumimoji="0" lang="zh-CN" altLang="en-US" u="none" strike="noStrike" kern="1200" cap="none" spc="0" normalizeH="0" baseline="0" noProof="0" dirty="0">
                  <a:ln>
                    <a:noFill/>
                  </a:ln>
                  <a:solidFill>
                    <a:schemeClr val="bg1"/>
                  </a:solidFill>
                  <a:effectLst/>
                  <a:uLnTx/>
                  <a:uFillTx/>
                  <a:latin typeface="Microsoft YaHei" pitchFamily="34" charset="-122"/>
                  <a:ea typeface="Microsoft YaHei" pitchFamily="34" charset="-122"/>
                </a:endParaRPr>
              </a:p>
            </p:txBody>
          </p:sp>
        </p:grpSp>
        <p:sp>
          <p:nvSpPr>
            <p:cNvPr id="20" name="文本框 19"/>
            <p:cNvSpPr txBox="1"/>
            <p:nvPr/>
          </p:nvSpPr>
          <p:spPr>
            <a:xfrm>
              <a:off x="4176220" y="1449107"/>
              <a:ext cx="800219" cy="712519"/>
            </a:xfrm>
            <a:prstGeom prst="rect">
              <a:avLst/>
            </a:prstGeom>
            <a:noFill/>
          </p:spPr>
          <p:txBody>
            <a:bodyPr wrap="square" rtlCol="0">
              <a:spAutoFit/>
            </a:bodyPr>
            <a:lstStyle/>
            <a:p>
              <a:pPr algn="r"/>
              <a:r>
                <a:rPr lang="zh-CN" altLang="en-US" sz="1200" dirty="0">
                  <a:solidFill>
                    <a:schemeClr val="tx1">
                      <a:lumMod val="75000"/>
                      <a:lumOff val="25000"/>
                    </a:schemeClr>
                  </a:solidFill>
                  <a:latin typeface="Microsoft YaHei" pitchFamily="34" charset="-122"/>
                  <a:ea typeface="Microsoft YaHei" pitchFamily="34" charset="-122"/>
                </a:rPr>
                <a:t>持续优化素材与人群</a:t>
              </a:r>
              <a:endParaRPr lang="en-US" sz="1200" dirty="0">
                <a:solidFill>
                  <a:schemeClr val="tx1">
                    <a:lumMod val="75000"/>
                    <a:lumOff val="25000"/>
                  </a:schemeClr>
                </a:solidFill>
                <a:latin typeface="Microsoft YaHei" pitchFamily="34" charset="-122"/>
                <a:ea typeface="Microsoft YaHei" pitchFamily="34" charset="-122"/>
              </a:endParaRPr>
            </a:p>
          </p:txBody>
        </p:sp>
        <p:sp>
          <p:nvSpPr>
            <p:cNvPr id="21" name="文本框 20"/>
            <p:cNvSpPr txBox="1"/>
            <p:nvPr/>
          </p:nvSpPr>
          <p:spPr>
            <a:xfrm>
              <a:off x="888576" y="1449107"/>
              <a:ext cx="800219" cy="508942"/>
            </a:xfrm>
            <a:prstGeom prst="rect">
              <a:avLst/>
            </a:prstGeom>
            <a:noFill/>
          </p:spPr>
          <p:txBody>
            <a:bodyPr wrap="square" rtlCol="0">
              <a:spAutoFit/>
            </a:bodyPr>
            <a:lstStyle/>
            <a:p>
              <a:r>
                <a:rPr lang="zh-CN" altLang="en-US" sz="1200" dirty="0">
                  <a:solidFill>
                    <a:schemeClr val="accent4"/>
                  </a:solidFill>
                  <a:latin typeface="Microsoft YaHei" pitchFamily="34" charset="-122"/>
                  <a:ea typeface="Microsoft YaHei" pitchFamily="34" charset="-122"/>
                </a:rPr>
                <a:t>潜力增长</a:t>
              </a:r>
              <a:endParaRPr lang="en-US" sz="1200" dirty="0">
                <a:solidFill>
                  <a:schemeClr val="accent4"/>
                </a:solidFill>
                <a:latin typeface="Microsoft YaHei" pitchFamily="34" charset="-122"/>
                <a:ea typeface="Microsoft YaHei" pitchFamily="34" charset="-122"/>
              </a:endParaRPr>
            </a:p>
          </p:txBody>
        </p:sp>
        <p:sp>
          <p:nvSpPr>
            <p:cNvPr id="22" name="文本框 21"/>
            <p:cNvSpPr txBox="1"/>
            <p:nvPr/>
          </p:nvSpPr>
          <p:spPr>
            <a:xfrm>
              <a:off x="888576" y="5551148"/>
              <a:ext cx="1135807" cy="305365"/>
            </a:xfrm>
            <a:prstGeom prst="rect">
              <a:avLst/>
            </a:prstGeom>
            <a:noFill/>
          </p:spPr>
          <p:txBody>
            <a:bodyPr wrap="square" rtlCol="0">
              <a:spAutoFit/>
            </a:bodyPr>
            <a:lstStyle/>
            <a:p>
              <a:r>
                <a:rPr lang="zh-CN" altLang="en-US" sz="1200" dirty="0">
                  <a:solidFill>
                    <a:schemeClr val="tx1">
                      <a:lumMod val="75000"/>
                      <a:lumOff val="25000"/>
                    </a:schemeClr>
                  </a:solidFill>
                  <a:latin typeface="Microsoft YaHei" pitchFamily="34" charset="-122"/>
                  <a:ea typeface="Microsoft YaHei" pitchFamily="34" charset="-122"/>
                </a:rPr>
                <a:t>小测试改进</a:t>
              </a:r>
              <a:endParaRPr lang="en-US" sz="1200" dirty="0">
                <a:solidFill>
                  <a:schemeClr val="tx1">
                    <a:lumMod val="75000"/>
                    <a:lumOff val="25000"/>
                  </a:schemeClr>
                </a:solidFill>
                <a:latin typeface="Microsoft YaHei" pitchFamily="34" charset="-122"/>
                <a:ea typeface="Microsoft YaHei" pitchFamily="34" charset="-122"/>
              </a:endParaRPr>
            </a:p>
          </p:txBody>
        </p:sp>
        <p:sp>
          <p:nvSpPr>
            <p:cNvPr id="23" name="文本框 22"/>
            <p:cNvSpPr txBox="1"/>
            <p:nvPr/>
          </p:nvSpPr>
          <p:spPr>
            <a:xfrm>
              <a:off x="4176220" y="5551148"/>
              <a:ext cx="800219" cy="305365"/>
            </a:xfrm>
            <a:prstGeom prst="rect">
              <a:avLst/>
            </a:prstGeom>
            <a:noFill/>
          </p:spPr>
          <p:txBody>
            <a:bodyPr wrap="square" rtlCol="0">
              <a:spAutoFit/>
            </a:bodyPr>
            <a:lstStyle/>
            <a:p>
              <a:pPr algn="r"/>
              <a:r>
                <a:rPr lang="zh-CN" altLang="en-US" sz="1200" dirty="0">
                  <a:solidFill>
                    <a:schemeClr val="tx1">
                      <a:lumMod val="75000"/>
                      <a:lumOff val="25000"/>
                    </a:schemeClr>
                  </a:solidFill>
                  <a:latin typeface="Microsoft YaHei" pitchFamily="34" charset="-122"/>
                  <a:ea typeface="Microsoft YaHei" pitchFamily="34" charset="-122"/>
                </a:rPr>
                <a:t>需改造</a:t>
              </a:r>
              <a:endParaRPr lang="en-US" sz="1200" dirty="0">
                <a:solidFill>
                  <a:schemeClr val="tx1">
                    <a:lumMod val="75000"/>
                    <a:lumOff val="25000"/>
                  </a:schemeClr>
                </a:solidFill>
                <a:latin typeface="Microsoft YaHei" pitchFamily="34" charset="-122"/>
                <a:ea typeface="Microsoft YaHei" pitchFamily="34" charset="-122"/>
              </a:endParaRPr>
            </a:p>
          </p:txBody>
        </p:sp>
        <p:sp>
          <p:nvSpPr>
            <p:cNvPr id="24" name="文本框 23"/>
            <p:cNvSpPr txBox="1"/>
            <p:nvPr/>
          </p:nvSpPr>
          <p:spPr>
            <a:xfrm>
              <a:off x="1161982" y="855949"/>
              <a:ext cx="3743411" cy="407154"/>
            </a:xfrm>
            <a:prstGeom prst="rect">
              <a:avLst/>
            </a:prstGeom>
            <a:noFill/>
          </p:spPr>
          <p:txBody>
            <a:bodyPr wrap="square">
              <a:spAutoFit/>
            </a:bodyPr>
            <a:lstStyle/>
            <a:p>
              <a:pPr algn="ctr"/>
              <a:r>
                <a:rPr lang="en-US" altLang="zh-CN" dirty="0">
                  <a:solidFill>
                    <a:schemeClr val="tx1">
                      <a:lumMod val="75000"/>
                      <a:lumOff val="25000"/>
                    </a:schemeClr>
                  </a:solidFill>
                  <a:latin typeface="Microsoft YaHei" pitchFamily="34" charset="-122"/>
                  <a:ea typeface="Microsoft YaHei" pitchFamily="34" charset="-122"/>
                </a:rPr>
                <a:t>APP</a:t>
              </a:r>
              <a:r>
                <a:rPr lang="zh-CN" altLang="en-US" dirty="0">
                  <a:solidFill>
                    <a:schemeClr val="tx1">
                      <a:lumMod val="75000"/>
                      <a:lumOff val="25000"/>
                    </a:schemeClr>
                  </a:solidFill>
                  <a:latin typeface="Microsoft YaHei" pitchFamily="34" charset="-122"/>
                  <a:ea typeface="Microsoft YaHei" pitchFamily="34" charset="-122"/>
                </a:rPr>
                <a:t>资源位效率矩阵（共</a:t>
              </a:r>
              <a:r>
                <a:rPr lang="en-US" altLang="zh-CN" dirty="0">
                  <a:solidFill>
                    <a:schemeClr val="tx1">
                      <a:lumMod val="75000"/>
                      <a:lumOff val="25000"/>
                    </a:schemeClr>
                  </a:solidFill>
                  <a:latin typeface="Microsoft YaHei" pitchFamily="34" charset="-122"/>
                  <a:ea typeface="Microsoft YaHei" pitchFamily="34" charset="-122"/>
                </a:rPr>
                <a:t>13</a:t>
              </a:r>
              <a:r>
                <a:rPr lang="zh-CN" altLang="en-US" dirty="0">
                  <a:solidFill>
                    <a:schemeClr val="tx1">
                      <a:lumMod val="75000"/>
                      <a:lumOff val="25000"/>
                    </a:schemeClr>
                  </a:solidFill>
                  <a:latin typeface="Microsoft YaHei" pitchFamily="34" charset="-122"/>
                  <a:ea typeface="Microsoft YaHei" pitchFamily="34" charset="-122"/>
                </a:rPr>
                <a:t>个）</a:t>
              </a:r>
              <a:endParaRPr lang="zh-CN" altLang="en-US" dirty="0">
                <a:solidFill>
                  <a:schemeClr val="tx1">
                    <a:lumMod val="75000"/>
                    <a:lumOff val="25000"/>
                  </a:schemeClr>
                </a:solidFill>
                <a:latin typeface="Microsoft YaHei" pitchFamily="34" charset="-122"/>
                <a:ea typeface="Microsoft YaHei" pitchFamily="34" charset="-122"/>
              </a:endParaRPr>
            </a:p>
          </p:txBody>
        </p:sp>
        <p:sp>
          <p:nvSpPr>
            <p:cNvPr id="25" name="矩形 24"/>
            <p:cNvSpPr/>
            <p:nvPr/>
          </p:nvSpPr>
          <p:spPr>
            <a:xfrm>
              <a:off x="583030" y="691064"/>
              <a:ext cx="4625815"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lumMod val="75000"/>
                    <a:lumOff val="25000"/>
                  </a:schemeClr>
                </a:solidFill>
                <a:latin typeface="Microsoft YaHei" pitchFamily="34" charset="-122"/>
                <a:ea typeface="Microsoft YaHei" pitchFamily="34" charset="-122"/>
              </a:endParaRPr>
            </a:p>
          </p:txBody>
        </p:sp>
      </p:grpSp>
      <p:sp>
        <p:nvSpPr>
          <p:cNvPr id="37" name="椭圆 36"/>
          <p:cNvSpPr/>
          <p:nvPr/>
        </p:nvSpPr>
        <p:spPr>
          <a:xfrm>
            <a:off x="8192445" y="2774257"/>
            <a:ext cx="774514" cy="409101"/>
          </a:xfrm>
          <a:prstGeom prst="ellipse">
            <a:avLst/>
          </a:prstGeom>
          <a:solidFill>
            <a:schemeClr val="accent2"/>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latin typeface="Microsoft YaHei" pitchFamily="34" charset="-122"/>
                <a:ea typeface="Microsoft YaHei" pitchFamily="34" charset="-122"/>
              </a:rPr>
              <a:t>首页</a:t>
            </a:r>
            <a:endParaRPr kumimoji="1" lang="en-US" altLang="zh-CN" sz="1000" dirty="0">
              <a:latin typeface="Microsoft YaHei" pitchFamily="34" charset="-122"/>
              <a:ea typeface="Microsoft YaHei" pitchFamily="34" charset="-122"/>
            </a:endParaRPr>
          </a:p>
          <a:p>
            <a:pPr algn="ctr"/>
            <a:r>
              <a:rPr kumimoji="1" lang="zh-CN" altLang="en-US" sz="1000" dirty="0">
                <a:latin typeface="Microsoft YaHei" pitchFamily="34" charset="-122"/>
                <a:ea typeface="Microsoft YaHei" pitchFamily="34" charset="-122"/>
              </a:rPr>
              <a:t>弹窗</a:t>
            </a:r>
            <a:endParaRPr kumimoji="1" lang="zh-CN" altLang="en-US" sz="1000" dirty="0">
              <a:latin typeface="Microsoft YaHei" pitchFamily="34" charset="-122"/>
              <a:ea typeface="Microsoft YaHei" pitchFamily="34" charset="-122"/>
            </a:endParaRPr>
          </a:p>
        </p:txBody>
      </p:sp>
      <p:sp>
        <p:nvSpPr>
          <p:cNvPr id="38" name="椭圆 37"/>
          <p:cNvSpPr/>
          <p:nvPr/>
        </p:nvSpPr>
        <p:spPr>
          <a:xfrm>
            <a:off x="7204770" y="3165585"/>
            <a:ext cx="1182500" cy="409101"/>
          </a:xfrm>
          <a:prstGeom prst="ellipse">
            <a:avLst/>
          </a:prstGeom>
          <a:solidFill>
            <a:schemeClr val="accent2"/>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选课中心</a:t>
            </a:r>
            <a:endParaRPr lang="en-US" altLang="zh-CN" sz="1000" dirty="0">
              <a:solidFill>
                <a:schemeClr val="bg1"/>
              </a:solidFill>
              <a:latin typeface="Microsoft YaHei" pitchFamily="34" charset="-122"/>
              <a:ea typeface="Microsoft YaHei" pitchFamily="34" charset="-122"/>
            </a:endParaRPr>
          </a:p>
          <a:p>
            <a:pPr algn="ctr"/>
            <a:r>
              <a:rPr lang="en-US" altLang="zh-CN" sz="1000" dirty="0" err="1">
                <a:solidFill>
                  <a:schemeClr val="bg1"/>
                </a:solidFill>
                <a:latin typeface="Microsoft YaHei" pitchFamily="34" charset="-122"/>
                <a:ea typeface="Microsoft YaHei" pitchFamily="34" charset="-122"/>
              </a:rPr>
              <a:t>热门推荐</a:t>
            </a:r>
            <a:endParaRPr lang="en-US" altLang="zh-CN" sz="1000" dirty="0">
              <a:solidFill>
                <a:schemeClr val="bg1"/>
              </a:solidFill>
              <a:latin typeface="Microsoft YaHei" pitchFamily="34" charset="-122"/>
              <a:ea typeface="Microsoft YaHei" pitchFamily="34" charset="-122"/>
            </a:endParaRPr>
          </a:p>
        </p:txBody>
      </p:sp>
      <p:sp>
        <p:nvSpPr>
          <p:cNvPr id="39" name="椭圆 38"/>
          <p:cNvSpPr/>
          <p:nvPr/>
        </p:nvSpPr>
        <p:spPr>
          <a:xfrm>
            <a:off x="6106686" y="2253353"/>
            <a:ext cx="978780" cy="546735"/>
          </a:xfrm>
          <a:prstGeom prst="ellipse">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选课中心名师好课</a:t>
            </a:r>
            <a:endParaRPr lang="en-US" altLang="zh-CN" sz="1000" dirty="0">
              <a:solidFill>
                <a:schemeClr val="bg1"/>
              </a:solidFill>
              <a:latin typeface="Microsoft YaHei" pitchFamily="34" charset="-122"/>
              <a:ea typeface="Microsoft YaHei" pitchFamily="34" charset="-122"/>
            </a:endParaRPr>
          </a:p>
        </p:txBody>
      </p:sp>
      <p:sp>
        <p:nvSpPr>
          <p:cNvPr id="40" name="椭圆 39"/>
          <p:cNvSpPr/>
          <p:nvPr/>
        </p:nvSpPr>
        <p:spPr>
          <a:xfrm>
            <a:off x="5945132" y="2956228"/>
            <a:ext cx="978780" cy="409101"/>
          </a:xfrm>
          <a:prstGeom prst="ellipse">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选课中心好课上新</a:t>
            </a:r>
            <a:endParaRPr lang="en-US" altLang="zh-CN" sz="1000" dirty="0">
              <a:solidFill>
                <a:schemeClr val="bg1"/>
              </a:solidFill>
              <a:latin typeface="Microsoft YaHei" pitchFamily="34" charset="-122"/>
              <a:ea typeface="Microsoft YaHei" pitchFamily="34" charset="-122"/>
            </a:endParaRPr>
          </a:p>
        </p:txBody>
      </p:sp>
      <p:sp>
        <p:nvSpPr>
          <p:cNvPr id="41" name="椭圆 40"/>
          <p:cNvSpPr/>
          <p:nvPr/>
        </p:nvSpPr>
        <p:spPr>
          <a:xfrm>
            <a:off x="5230754" y="3445972"/>
            <a:ext cx="729474" cy="322186"/>
          </a:xfrm>
          <a:prstGeom prst="ellipse">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学习弹窗</a:t>
            </a:r>
            <a:endParaRPr lang="en-US" altLang="zh-CN" sz="1000" dirty="0">
              <a:solidFill>
                <a:schemeClr val="bg1"/>
              </a:solidFill>
              <a:latin typeface="Microsoft YaHei" pitchFamily="34" charset="-122"/>
              <a:ea typeface="Microsoft YaHei" pitchFamily="34" charset="-122"/>
            </a:endParaRPr>
          </a:p>
        </p:txBody>
      </p:sp>
      <p:sp>
        <p:nvSpPr>
          <p:cNvPr id="42" name="椭圆 41"/>
          <p:cNvSpPr/>
          <p:nvPr/>
        </p:nvSpPr>
        <p:spPr>
          <a:xfrm>
            <a:off x="5253404" y="2693872"/>
            <a:ext cx="729474" cy="322186"/>
          </a:xfrm>
          <a:prstGeom prst="ellipse">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商品列表</a:t>
            </a:r>
            <a:endParaRPr lang="en-US" altLang="zh-CN" sz="1000" dirty="0">
              <a:solidFill>
                <a:schemeClr val="bg1"/>
              </a:solidFill>
              <a:latin typeface="Microsoft YaHei" pitchFamily="34" charset="-122"/>
              <a:ea typeface="Microsoft YaHei" pitchFamily="34" charset="-122"/>
            </a:endParaRPr>
          </a:p>
        </p:txBody>
      </p:sp>
      <p:sp>
        <p:nvSpPr>
          <p:cNvPr id="43" name="椭圆 42"/>
          <p:cNvSpPr/>
          <p:nvPr/>
        </p:nvSpPr>
        <p:spPr>
          <a:xfrm>
            <a:off x="5222159" y="2313128"/>
            <a:ext cx="729474" cy="322186"/>
          </a:xfrm>
          <a:prstGeom prst="ellipse">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个人主页</a:t>
            </a:r>
            <a:endParaRPr lang="en-US" altLang="zh-CN" sz="1000" dirty="0">
              <a:solidFill>
                <a:schemeClr val="bg1"/>
              </a:solidFill>
              <a:latin typeface="Microsoft YaHei" pitchFamily="34" charset="-122"/>
              <a:ea typeface="Microsoft YaHei" pitchFamily="34" charset="-122"/>
            </a:endParaRPr>
          </a:p>
        </p:txBody>
      </p:sp>
      <p:sp>
        <p:nvSpPr>
          <p:cNvPr id="44" name="椭圆 43"/>
          <p:cNvSpPr/>
          <p:nvPr/>
        </p:nvSpPr>
        <p:spPr>
          <a:xfrm>
            <a:off x="8159918" y="3882762"/>
            <a:ext cx="891821" cy="391328"/>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latin typeface="Microsoft YaHei" pitchFamily="34" charset="-122"/>
                <a:ea typeface="Microsoft YaHei" pitchFamily="34" charset="-122"/>
              </a:rPr>
              <a:t>学习</a:t>
            </a:r>
            <a:endParaRPr kumimoji="1" lang="en-US" altLang="zh-CN" sz="1000" dirty="0">
              <a:latin typeface="Microsoft YaHei" pitchFamily="34" charset="-122"/>
              <a:ea typeface="Microsoft YaHei" pitchFamily="34" charset="-122"/>
            </a:endParaRPr>
          </a:p>
          <a:p>
            <a:pPr algn="ctr"/>
            <a:r>
              <a:rPr kumimoji="1" lang="en-US" altLang="zh-CN" sz="1000" dirty="0">
                <a:latin typeface="Microsoft YaHei" pitchFamily="34" charset="-122"/>
                <a:ea typeface="Microsoft YaHei" pitchFamily="34" charset="-122"/>
              </a:rPr>
              <a:t>banner</a:t>
            </a:r>
            <a:endParaRPr kumimoji="1" lang="zh-CN" altLang="en-US" sz="1000" dirty="0">
              <a:latin typeface="Microsoft YaHei" pitchFamily="34" charset="-122"/>
              <a:ea typeface="Microsoft YaHei" pitchFamily="34" charset="-122"/>
            </a:endParaRPr>
          </a:p>
        </p:txBody>
      </p:sp>
      <p:sp>
        <p:nvSpPr>
          <p:cNvPr id="45" name="椭圆 44"/>
          <p:cNvSpPr/>
          <p:nvPr/>
        </p:nvSpPr>
        <p:spPr>
          <a:xfrm>
            <a:off x="7308825" y="4163054"/>
            <a:ext cx="972016" cy="409101"/>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首页卡片</a:t>
            </a:r>
            <a:r>
              <a:rPr lang="en-US" altLang="zh-CN" sz="1000" dirty="0">
                <a:solidFill>
                  <a:schemeClr val="bg1"/>
                </a:solidFill>
                <a:latin typeface="Microsoft YaHei" pitchFamily="34" charset="-122"/>
                <a:ea typeface="Microsoft YaHei" pitchFamily="34" charset="-122"/>
              </a:rPr>
              <a:t>1</a:t>
            </a:r>
            <a:endParaRPr lang="en-US" altLang="zh-CN" sz="1000" dirty="0">
              <a:solidFill>
                <a:schemeClr val="bg1"/>
              </a:solidFill>
              <a:latin typeface="Microsoft YaHei" pitchFamily="34" charset="-122"/>
              <a:ea typeface="Microsoft YaHei" pitchFamily="34" charset="-122"/>
            </a:endParaRPr>
          </a:p>
        </p:txBody>
      </p:sp>
      <p:sp>
        <p:nvSpPr>
          <p:cNvPr id="46" name="椭圆 45"/>
          <p:cNvSpPr/>
          <p:nvPr/>
        </p:nvSpPr>
        <p:spPr>
          <a:xfrm>
            <a:off x="7133275" y="4669718"/>
            <a:ext cx="972016" cy="409101"/>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首页卡片</a:t>
            </a:r>
            <a:r>
              <a:rPr lang="en-US" altLang="zh-CN" sz="1000" dirty="0">
                <a:solidFill>
                  <a:schemeClr val="bg1"/>
                </a:solidFill>
                <a:latin typeface="Microsoft YaHei" pitchFamily="34" charset="-122"/>
                <a:ea typeface="Microsoft YaHei" pitchFamily="34" charset="-122"/>
              </a:rPr>
              <a:t>5</a:t>
            </a:r>
            <a:endParaRPr lang="en-US" altLang="zh-CN" sz="1000" dirty="0">
              <a:solidFill>
                <a:schemeClr val="bg1"/>
              </a:solidFill>
              <a:latin typeface="Microsoft YaHei" pitchFamily="34" charset="-122"/>
              <a:ea typeface="Microsoft YaHei" pitchFamily="34" charset="-122"/>
            </a:endParaRPr>
          </a:p>
        </p:txBody>
      </p:sp>
      <p:sp>
        <p:nvSpPr>
          <p:cNvPr id="47" name="椭圆 46"/>
          <p:cNvSpPr/>
          <p:nvPr/>
        </p:nvSpPr>
        <p:spPr>
          <a:xfrm>
            <a:off x="8115627" y="4874268"/>
            <a:ext cx="891821" cy="409101"/>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Microsoft YaHei" pitchFamily="34" charset="-122"/>
                <a:ea typeface="Microsoft YaHei" pitchFamily="34" charset="-122"/>
              </a:rPr>
              <a:t>H5-</a:t>
            </a:r>
            <a:r>
              <a:rPr lang="zh-CN" altLang="en-US" sz="1000" dirty="0">
                <a:solidFill>
                  <a:schemeClr val="bg1"/>
                </a:solidFill>
                <a:latin typeface="Microsoft YaHei" pitchFamily="34" charset="-122"/>
                <a:ea typeface="Microsoft YaHei" pitchFamily="34" charset="-122"/>
              </a:rPr>
              <a:t>广告</a:t>
            </a:r>
            <a:endParaRPr lang="en-US" altLang="zh-CN" sz="1000" dirty="0">
              <a:solidFill>
                <a:schemeClr val="bg1"/>
              </a:solidFill>
              <a:latin typeface="Microsoft YaHei" pitchFamily="34" charset="-122"/>
              <a:ea typeface="Microsoft YaHei" pitchFamily="34" charset="-122"/>
            </a:endParaRPr>
          </a:p>
        </p:txBody>
      </p:sp>
      <p:sp>
        <p:nvSpPr>
          <p:cNvPr id="48" name="椭圆 47"/>
          <p:cNvSpPr/>
          <p:nvPr/>
        </p:nvSpPr>
        <p:spPr>
          <a:xfrm>
            <a:off x="6141367" y="4062169"/>
            <a:ext cx="954466" cy="409101"/>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课程</a:t>
            </a:r>
            <a:r>
              <a:rPr lang="en-US" altLang="zh-CN" sz="1000" dirty="0">
                <a:solidFill>
                  <a:schemeClr val="bg1"/>
                </a:solidFill>
                <a:latin typeface="Microsoft YaHei" pitchFamily="34" charset="-122"/>
                <a:ea typeface="Microsoft YaHei" pitchFamily="34" charset="-122"/>
              </a:rPr>
              <a:t>banner</a:t>
            </a:r>
            <a:endParaRPr lang="en-US" altLang="zh-CN" sz="1000" dirty="0">
              <a:solidFill>
                <a:schemeClr val="bg1"/>
              </a:solidFill>
              <a:latin typeface="Microsoft YaHei" pitchFamily="34" charset="-122"/>
              <a:ea typeface="Microsoft YaHei" pitchFamily="34" charset="-122"/>
            </a:endParaRPr>
          </a:p>
        </p:txBody>
      </p:sp>
      <p:sp>
        <p:nvSpPr>
          <p:cNvPr id="49" name="椭圆 48"/>
          <p:cNvSpPr/>
          <p:nvPr/>
        </p:nvSpPr>
        <p:spPr>
          <a:xfrm>
            <a:off x="5308684" y="4653285"/>
            <a:ext cx="828124" cy="409101"/>
          </a:xfrm>
          <a:prstGeom prst="ellipse">
            <a:avLst/>
          </a:prstGeom>
          <a:solidFill>
            <a:srgbClr val="BE9290"/>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latin typeface="Microsoft YaHei" pitchFamily="34" charset="-122"/>
                <a:ea typeface="Microsoft YaHei" pitchFamily="34" charset="-122"/>
              </a:rPr>
              <a:t>首页卡片</a:t>
            </a:r>
            <a:r>
              <a:rPr lang="en-US" altLang="zh-CN" sz="1000" dirty="0">
                <a:solidFill>
                  <a:schemeClr val="bg1"/>
                </a:solidFill>
                <a:latin typeface="Microsoft YaHei" pitchFamily="34" charset="-122"/>
                <a:ea typeface="Microsoft YaHei" pitchFamily="34" charset="-122"/>
              </a:rPr>
              <a:t>10</a:t>
            </a:r>
            <a:endParaRPr lang="en-US" altLang="zh-CN" sz="1000" dirty="0">
              <a:solidFill>
                <a:schemeClr val="bg1"/>
              </a:solidFill>
              <a:latin typeface="Microsoft YaHei" pitchFamily="34" charset="-122"/>
              <a:ea typeface="Microsoft YaHei" pitchFamily="34" charset="-122"/>
            </a:endParaRPr>
          </a:p>
        </p:txBody>
      </p:sp>
      <p:pic>
        <p:nvPicPr>
          <p:cNvPr id="57" name="图片 56"/>
          <p:cNvPicPr>
            <a:picLocks noChangeAspect="1"/>
          </p:cNvPicPr>
          <p:nvPr/>
        </p:nvPicPr>
        <p:blipFill>
          <a:blip r:embed="rId3"/>
          <a:srcRect l="57289" t="17215" b="-1912"/>
          <a:stretch>
            <a:fillRect/>
          </a:stretch>
        </p:blipFill>
        <p:spPr>
          <a:xfrm>
            <a:off x="0" y="1219930"/>
            <a:ext cx="5496207" cy="6083276"/>
          </a:xfrm>
          <a:prstGeom prst="rect">
            <a:avLst/>
          </a:prstGeom>
        </p:spPr>
      </p:pic>
      <p:sp>
        <p:nvSpPr>
          <p:cNvPr id="58" name="textbox 142"/>
          <p:cNvSpPr/>
          <p:nvPr/>
        </p:nvSpPr>
        <p:spPr>
          <a:xfrm>
            <a:off x="632477" y="1313393"/>
            <a:ext cx="4087813" cy="4265158"/>
          </a:xfrm>
          <a:prstGeom prst="rect">
            <a:avLst/>
          </a:prstGeom>
          <a:noFill/>
          <a:ln w="0" cap="flat">
            <a:noFill/>
            <a:prstDash val="solid"/>
            <a:miter lim="0"/>
          </a:ln>
        </p:spPr>
        <p:txBody>
          <a:bodyPr vert="horz" wrap="square" lIns="0" tIns="0" rIns="0" bIns="0"/>
          <a:lstStyle/>
          <a:p>
            <a:pPr algn="l" rtl="0" eaLnBrk="0">
              <a:lnSpc>
                <a:spcPct val="87000"/>
              </a:lnSpc>
            </a:pPr>
            <a:endParaRPr dirty="0">
              <a:latin typeface="Microsoft YaHei" pitchFamily="34" charset="-122"/>
              <a:ea typeface="Microsoft YaHei" pitchFamily="34" charset="-122"/>
              <a:cs typeface="Arial" panose="020B0604020202090204"/>
            </a:endParaRPr>
          </a:p>
          <a:p>
            <a:pPr marL="12065" eaLnBrk="0">
              <a:lnSpc>
                <a:spcPct val="96000"/>
              </a:lnSpc>
            </a:pPr>
            <a:r>
              <a:rPr b="1" kern="0" spc="-7" dirty="0">
                <a:solidFill>
                  <a:srgbClr val="000000">
                    <a:alpha val="100000"/>
                  </a:srgbClr>
                </a:solidFill>
                <a:latin typeface="Microsoft YaHei" pitchFamily="34" charset="-122"/>
                <a:ea typeface="Microsoft YaHei" pitchFamily="34" charset="-122"/>
                <a:cs typeface="宋体"/>
              </a:rPr>
              <a:t>1.</a:t>
            </a:r>
            <a:r>
              <a:rPr b="1" kern="0" spc="-7" dirty="0">
                <a:solidFill>
                  <a:srgbClr val="000000">
                    <a:alpha val="100000"/>
                  </a:srgbClr>
                </a:solidFill>
                <a:latin typeface="Microsoft YaHei" pitchFamily="34" charset="-122"/>
                <a:ea typeface="Microsoft YaHei" pitchFamily="34" charset="-122"/>
                <a:cs typeface="黑体"/>
              </a:rPr>
              <a:t>痛点定位</a:t>
            </a:r>
            <a:endParaRPr b="1" dirty="0">
              <a:latin typeface="Microsoft YaHei" pitchFamily="34" charset="-122"/>
              <a:ea typeface="Microsoft YaHei" pitchFamily="34" charset="-122"/>
              <a:cs typeface="黑体"/>
            </a:endParaRPr>
          </a:p>
          <a:p>
            <a:pPr marL="8890" eaLnBrk="0">
              <a:lnSpc>
                <a:spcPct val="85000"/>
              </a:lnSpc>
              <a:spcBef>
                <a:spcPts val="830"/>
              </a:spcBef>
            </a:pPr>
            <a:r>
              <a:rPr kern="0" spc="28" dirty="0" err="1">
                <a:solidFill>
                  <a:srgbClr val="000000">
                    <a:alpha val="100000"/>
                  </a:srgbClr>
                </a:solidFill>
                <a:latin typeface="Microsoft YaHei" pitchFamily="34" charset="-122"/>
                <a:ea typeface="Microsoft YaHei" pitchFamily="34" charset="-122"/>
                <a:cs typeface="黑体"/>
              </a:rPr>
              <a:t>高价值课程严重集中在</a:t>
            </a:r>
            <a:r>
              <a:rPr kern="0" spc="21" dirty="0" err="1">
                <a:solidFill>
                  <a:srgbClr val="000000">
                    <a:alpha val="100000"/>
                  </a:srgbClr>
                </a:solidFill>
                <a:latin typeface="Microsoft YaHei" pitchFamily="34" charset="-122"/>
                <a:ea typeface="Microsoft YaHei" pitchFamily="34" charset="-122"/>
                <a:cs typeface="黑体"/>
              </a:rPr>
              <a:t>低曝光</a:t>
            </a:r>
            <a:endParaRPr lang="en-US" kern="0" spc="21" dirty="0">
              <a:solidFill>
                <a:srgbClr val="000000">
                  <a:alpha val="100000"/>
                </a:srgbClr>
              </a:solidFill>
              <a:latin typeface="Microsoft YaHei" pitchFamily="34" charset="-122"/>
              <a:ea typeface="Microsoft YaHei" pitchFamily="34" charset="-122"/>
              <a:cs typeface="黑体"/>
            </a:endParaRPr>
          </a:p>
          <a:p>
            <a:pPr marL="8890" eaLnBrk="0">
              <a:lnSpc>
                <a:spcPct val="85000"/>
              </a:lnSpc>
              <a:spcBef>
                <a:spcPts val="830"/>
              </a:spcBef>
            </a:pPr>
            <a:r>
              <a:rPr kern="0" spc="21" dirty="0" err="1">
                <a:solidFill>
                  <a:srgbClr val="000000">
                    <a:alpha val="100000"/>
                  </a:srgbClr>
                </a:solidFill>
                <a:latin typeface="Microsoft YaHei" pitchFamily="34" charset="-122"/>
                <a:ea typeface="Microsoft YaHei" pitchFamily="34" charset="-122"/>
                <a:cs typeface="黑体"/>
              </a:rPr>
              <a:t>区域</a:t>
            </a:r>
            <a:r>
              <a:rPr kern="0" spc="-21" dirty="0">
                <a:solidFill>
                  <a:srgbClr val="000000">
                    <a:alpha val="100000"/>
                  </a:srgbClr>
                </a:solidFill>
                <a:latin typeface="Microsoft YaHei" pitchFamily="34" charset="-122"/>
                <a:ea typeface="Microsoft YaHei" pitchFamily="34" charset="-122"/>
                <a:cs typeface="黑体"/>
              </a:rPr>
              <a:t>(</a:t>
            </a:r>
            <a:r>
              <a:rPr kern="0" spc="-21" dirty="0" err="1">
                <a:solidFill>
                  <a:srgbClr val="000000">
                    <a:alpha val="100000"/>
                  </a:srgbClr>
                </a:solidFill>
                <a:latin typeface="Microsoft YaHei" pitchFamily="34" charset="-122"/>
                <a:ea typeface="Microsoft YaHei" pitchFamily="34" charset="-122"/>
                <a:cs typeface="黑体"/>
              </a:rPr>
              <a:t>错配</a:t>
            </a:r>
            <a:r>
              <a:rPr kern="0" spc="-21"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algn="l" rtl="0" eaLnBrk="0">
              <a:lnSpc>
                <a:spcPct val="111000"/>
              </a:lnSpc>
            </a:pPr>
            <a:endParaRPr dirty="0">
              <a:latin typeface="Microsoft YaHei" pitchFamily="34" charset="-122"/>
              <a:ea typeface="Microsoft YaHei" pitchFamily="34" charset="-122"/>
              <a:cs typeface="Arial" panose="020B0604020202090204"/>
            </a:endParaRPr>
          </a:p>
          <a:p>
            <a:pPr algn="l" rtl="0" eaLnBrk="0">
              <a:lnSpc>
                <a:spcPct val="112000"/>
              </a:lnSpc>
            </a:pPr>
            <a:endParaRPr dirty="0">
              <a:latin typeface="Microsoft YaHei" pitchFamily="34" charset="-122"/>
              <a:ea typeface="Microsoft YaHei" pitchFamily="34" charset="-122"/>
              <a:cs typeface="Arial" panose="020B0604020202090204"/>
            </a:endParaRPr>
          </a:p>
          <a:p>
            <a:pPr marL="12065" eaLnBrk="0">
              <a:lnSpc>
                <a:spcPct val="95000"/>
              </a:lnSpc>
              <a:spcBef>
                <a:spcPts val="545"/>
              </a:spcBef>
            </a:pPr>
            <a:r>
              <a:rPr b="1" kern="0" spc="35" dirty="0">
                <a:solidFill>
                  <a:srgbClr val="000000">
                    <a:alpha val="100000"/>
                  </a:srgbClr>
                </a:solidFill>
                <a:latin typeface="Microsoft YaHei" pitchFamily="34" charset="-122"/>
                <a:ea typeface="Microsoft YaHei" pitchFamily="34" charset="-122"/>
                <a:cs typeface="宋体"/>
              </a:rPr>
              <a:t>2.</a:t>
            </a:r>
            <a:r>
              <a:rPr b="1" kern="0" spc="35" dirty="0">
                <a:solidFill>
                  <a:srgbClr val="000000">
                    <a:alpha val="100000"/>
                  </a:srgbClr>
                </a:solidFill>
                <a:latin typeface="Microsoft YaHei" pitchFamily="34" charset="-122"/>
                <a:ea typeface="Microsoft YaHei" pitchFamily="34" charset="-122"/>
                <a:cs typeface="黑体"/>
              </a:rPr>
              <a:t>效能浪费</a:t>
            </a:r>
            <a:endParaRPr b="1" dirty="0">
              <a:latin typeface="Microsoft YaHei" pitchFamily="34" charset="-122"/>
              <a:ea typeface="Microsoft YaHei" pitchFamily="34" charset="-122"/>
              <a:cs typeface="黑体"/>
            </a:endParaRPr>
          </a:p>
          <a:p>
            <a:pPr marL="8890" eaLnBrk="0">
              <a:lnSpc>
                <a:spcPct val="85000"/>
              </a:lnSpc>
              <a:spcBef>
                <a:spcPts val="905"/>
              </a:spcBef>
            </a:pPr>
            <a:r>
              <a:rPr lang="zh-CN" altLang="en-US" kern="0" spc="-21" dirty="0">
                <a:solidFill>
                  <a:srgbClr val="000000">
                    <a:alpha val="100000"/>
                  </a:srgbClr>
                </a:solidFill>
                <a:latin typeface="Microsoft YaHei" pitchFamily="34" charset="-122"/>
                <a:ea typeface="Microsoft YaHei" pitchFamily="34" charset="-122"/>
                <a:cs typeface="黑体"/>
              </a:rPr>
              <a:t>如首页</a:t>
            </a:r>
            <a:r>
              <a:rPr lang="en-US" altLang="zh-CN" kern="0" spc="-21" dirty="0">
                <a:solidFill>
                  <a:srgbClr val="000000">
                    <a:alpha val="100000"/>
                  </a:srgbClr>
                </a:solidFill>
                <a:latin typeface="Microsoft YaHei" pitchFamily="34" charset="-122"/>
                <a:ea typeface="Microsoft YaHei" pitchFamily="34" charset="-122"/>
                <a:cs typeface="黑体"/>
              </a:rPr>
              <a:t>banner1\5</a:t>
            </a:r>
            <a:r>
              <a:rPr lang="zh-CN" altLang="en-US" kern="0" spc="-21" dirty="0">
                <a:solidFill>
                  <a:srgbClr val="000000">
                    <a:alpha val="100000"/>
                  </a:srgbClr>
                </a:solidFill>
                <a:latin typeface="Microsoft YaHei" pitchFamily="34" charset="-122"/>
                <a:ea typeface="Microsoft YaHei" pitchFamily="34" charset="-122"/>
                <a:cs typeface="黑体"/>
              </a:rPr>
              <a:t>，占据优质曝光</a:t>
            </a:r>
            <a:endParaRPr lang="en-US" altLang="zh-CN" kern="0" spc="-21" dirty="0">
              <a:solidFill>
                <a:srgbClr val="000000">
                  <a:alpha val="100000"/>
                </a:srgbClr>
              </a:solidFill>
              <a:latin typeface="Microsoft YaHei" pitchFamily="34" charset="-122"/>
              <a:ea typeface="Microsoft YaHei" pitchFamily="34" charset="-122"/>
              <a:cs typeface="黑体"/>
            </a:endParaRPr>
          </a:p>
          <a:p>
            <a:pPr marL="8890" eaLnBrk="0">
              <a:lnSpc>
                <a:spcPct val="85000"/>
              </a:lnSpc>
              <a:spcBef>
                <a:spcPts val="905"/>
              </a:spcBef>
            </a:pPr>
            <a:r>
              <a:rPr lang="zh-CN" altLang="en-US" kern="0" spc="-21" dirty="0">
                <a:solidFill>
                  <a:srgbClr val="000000">
                    <a:alpha val="100000"/>
                  </a:srgbClr>
                </a:solidFill>
                <a:latin typeface="Microsoft YaHei" pitchFamily="34" charset="-122"/>
                <a:ea typeface="Microsoft YaHei" pitchFamily="34" charset="-122"/>
                <a:cs typeface="Arial" panose="020B0604020202090204"/>
              </a:rPr>
              <a:t>但转率不及预期</a:t>
            </a:r>
            <a:endParaRPr lang="en-US" altLang="zh-CN" kern="0" spc="-21" dirty="0">
              <a:solidFill>
                <a:srgbClr val="000000">
                  <a:alpha val="100000"/>
                </a:srgbClr>
              </a:solidFill>
              <a:latin typeface="Microsoft YaHei" pitchFamily="34" charset="-122"/>
              <a:ea typeface="Microsoft YaHei" pitchFamily="34" charset="-122"/>
              <a:cs typeface="Arial" panose="020B0604020202090204"/>
            </a:endParaRPr>
          </a:p>
          <a:p>
            <a:pPr marL="8890" eaLnBrk="0">
              <a:lnSpc>
                <a:spcPct val="85000"/>
              </a:lnSpc>
              <a:spcBef>
                <a:spcPts val="905"/>
              </a:spcBef>
            </a:pPr>
            <a:endParaRPr dirty="0">
              <a:latin typeface="Microsoft YaHei" pitchFamily="34" charset="-122"/>
              <a:ea typeface="Microsoft YaHei" pitchFamily="34" charset="-122"/>
              <a:cs typeface="Arial" panose="020B0604020202090204"/>
            </a:endParaRPr>
          </a:p>
          <a:p>
            <a:pPr marL="12065" eaLnBrk="0">
              <a:lnSpc>
                <a:spcPct val="95000"/>
              </a:lnSpc>
              <a:spcBef>
                <a:spcPts val="550"/>
              </a:spcBef>
            </a:pPr>
            <a:r>
              <a:rPr b="1" kern="0" spc="28" dirty="0">
                <a:solidFill>
                  <a:srgbClr val="000000">
                    <a:alpha val="100000"/>
                  </a:srgbClr>
                </a:solidFill>
                <a:latin typeface="Microsoft YaHei" pitchFamily="34" charset="-122"/>
                <a:ea typeface="Microsoft YaHei" pitchFamily="34" charset="-122"/>
                <a:cs typeface="宋体"/>
              </a:rPr>
              <a:t>3.</a:t>
            </a:r>
            <a:r>
              <a:rPr b="1" kern="0" spc="28" dirty="0">
                <a:solidFill>
                  <a:srgbClr val="000000">
                    <a:alpha val="100000"/>
                  </a:srgbClr>
                </a:solidFill>
                <a:latin typeface="Microsoft YaHei" pitchFamily="34" charset="-122"/>
                <a:ea typeface="Microsoft YaHei" pitchFamily="34" charset="-122"/>
                <a:cs typeface="黑体"/>
              </a:rPr>
              <a:t>发现机会</a:t>
            </a:r>
            <a:endParaRPr b="1" dirty="0">
              <a:latin typeface="Microsoft YaHei" pitchFamily="34" charset="-122"/>
              <a:ea typeface="Microsoft YaHei" pitchFamily="34" charset="-122"/>
              <a:cs typeface="黑体"/>
            </a:endParaRPr>
          </a:p>
          <a:p>
            <a:pPr marL="8890" eaLnBrk="0">
              <a:lnSpc>
                <a:spcPct val="85000"/>
              </a:lnSpc>
              <a:spcBef>
                <a:spcPts val="895"/>
              </a:spcBef>
            </a:pPr>
            <a:r>
              <a:rPr kern="0" spc="-14" dirty="0" err="1">
                <a:solidFill>
                  <a:srgbClr val="000000">
                    <a:alpha val="100000"/>
                  </a:srgbClr>
                </a:solidFill>
                <a:latin typeface="Microsoft YaHei" pitchFamily="34" charset="-122"/>
                <a:ea typeface="Microsoft YaHei" pitchFamily="34" charset="-122"/>
                <a:cs typeface="黑体"/>
              </a:rPr>
              <a:t>精准识别出位于第一象限的</a:t>
            </a:r>
            <a:endParaRPr lang="en-US" kern="0" spc="-14" dirty="0">
              <a:solidFill>
                <a:srgbClr val="000000">
                  <a:alpha val="100000"/>
                </a:srgbClr>
              </a:solidFill>
              <a:latin typeface="Microsoft YaHei" pitchFamily="34" charset="-122"/>
              <a:ea typeface="Microsoft YaHei" pitchFamily="34" charset="-122"/>
              <a:cs typeface="黑体"/>
            </a:endParaRPr>
          </a:p>
          <a:p>
            <a:pPr marL="8890" eaLnBrk="0">
              <a:lnSpc>
                <a:spcPct val="85000"/>
              </a:lnSpc>
              <a:spcBef>
                <a:spcPts val="895"/>
              </a:spcBef>
            </a:pPr>
            <a:r>
              <a:rPr kern="0" spc="-21" dirty="0">
                <a:solidFill>
                  <a:srgbClr val="000000">
                    <a:alpha val="100000"/>
                  </a:srgbClr>
                </a:solidFill>
                <a:latin typeface="Microsoft YaHei" pitchFamily="34" charset="-122"/>
                <a:ea typeface="Microsoft YaHei" pitchFamily="34" charset="-122"/>
                <a:cs typeface="黑体"/>
              </a:rPr>
              <a:t>“</a:t>
            </a:r>
            <a:r>
              <a:rPr kern="0" spc="-21" dirty="0" err="1">
                <a:solidFill>
                  <a:srgbClr val="000000">
                    <a:alpha val="100000"/>
                  </a:srgbClr>
                </a:solidFill>
                <a:latin typeface="Microsoft YaHei" pitchFamily="34" charset="-122"/>
                <a:ea typeface="Microsoft YaHei" pitchFamily="34" charset="-122"/>
                <a:cs typeface="黑体"/>
              </a:rPr>
              <a:t>黄金组</a:t>
            </a:r>
            <a:r>
              <a:rPr kern="0" spc="21" dirty="0" err="1">
                <a:solidFill>
                  <a:srgbClr val="000000">
                    <a:alpha val="100000"/>
                  </a:srgbClr>
                </a:solidFill>
                <a:latin typeface="Microsoft YaHei" pitchFamily="34" charset="-122"/>
                <a:ea typeface="Microsoft YaHei" pitchFamily="34" charset="-122"/>
                <a:cs typeface="黑体"/>
              </a:rPr>
              <a:t>合</a:t>
            </a:r>
            <a:r>
              <a:rPr kern="0" spc="21" dirty="0">
                <a:solidFill>
                  <a:srgbClr val="000000">
                    <a:alpha val="100000"/>
                  </a:srgbClr>
                </a:solidFill>
                <a:latin typeface="Microsoft YaHei" pitchFamily="34" charset="-122"/>
                <a:ea typeface="Microsoft YaHei" pitchFamily="34" charset="-122"/>
                <a:cs typeface="黑体"/>
              </a:rPr>
              <a:t>”(</a:t>
            </a:r>
            <a:r>
              <a:rPr kern="0" spc="21" dirty="0" err="1">
                <a:solidFill>
                  <a:srgbClr val="000000">
                    <a:alpha val="100000"/>
                  </a:srgbClr>
                </a:solidFill>
                <a:latin typeface="Microsoft YaHei" pitchFamily="34" charset="-122"/>
                <a:ea typeface="Microsoft YaHei" pitchFamily="34" charset="-122"/>
                <a:cs typeface="黑体"/>
              </a:rPr>
              <a:t>高曝光+高转化</a:t>
            </a:r>
            <a:r>
              <a:rPr kern="0" spc="21"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20554" y="415951"/>
            <a:ext cx="10253463"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en-US" altLang="zh-CN" sz="3200" dirty="0">
                <a:solidFill>
                  <a:srgbClr val="000000"/>
                </a:solidFill>
                <a:latin typeface="Microsoft YaHei" pitchFamily="34" charset="-122"/>
                <a:ea typeface="Microsoft YaHei" pitchFamily="34" charset="-122"/>
              </a:rPr>
              <a:t>APP</a:t>
            </a:r>
            <a:r>
              <a:rPr lang="zh-CN" altLang="en-US" sz="3200" dirty="0">
                <a:solidFill>
                  <a:srgbClr val="000000"/>
                </a:solidFill>
                <a:latin typeface="Microsoft YaHei" pitchFamily="34" charset="-122"/>
                <a:ea typeface="Microsoft YaHei" pitchFamily="34" charset="-122"/>
              </a:rPr>
              <a:t>增量策略：“旅程思维”串联触点与黄金组合放大</a:t>
            </a:r>
            <a:endParaRPr lang="zh-CN" altLang="en-US" sz="3200" dirty="0">
              <a:solidFill>
                <a:srgbClr val="000000"/>
              </a:solidFill>
              <a:latin typeface="Microsoft YaHei" pitchFamily="34" charset="-122"/>
              <a:ea typeface="Microsoft YaHei" pitchFamily="34" charset="-122"/>
            </a:endParaRPr>
          </a:p>
        </p:txBody>
      </p:sp>
      <p:sp>
        <p:nvSpPr>
          <p:cNvPr id="11" name="圆角矩形 10"/>
          <p:cNvSpPr/>
          <p:nvPr/>
        </p:nvSpPr>
        <p:spPr>
          <a:xfrm>
            <a:off x="6442149" y="1235814"/>
            <a:ext cx="5298748" cy="654970"/>
          </a:xfrm>
          <a:prstGeom prst="roundRect">
            <a:avLst>
              <a:gd name="adj" fmla="val 50000"/>
            </a:avLst>
          </a:prstGeom>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zh-CN" altLang="en-US" dirty="0">
                <a:latin typeface="Microsoft YaHei" pitchFamily="34" charset="-122"/>
                <a:ea typeface="Microsoft YaHei" pitchFamily="34" charset="-122"/>
              </a:rPr>
              <a:t>核心：建立资源位评估基线</a:t>
            </a:r>
            <a:r>
              <a:rPr kumimoji="1" lang="en-US" altLang="zh-CN" dirty="0">
                <a:latin typeface="Microsoft YaHei" pitchFamily="34" charset="-122"/>
                <a:ea typeface="Microsoft YaHei" pitchFamily="34" charset="-122"/>
              </a:rPr>
              <a:t>+</a:t>
            </a:r>
            <a:r>
              <a:rPr kumimoji="1" lang="zh-CN" altLang="en-US" dirty="0">
                <a:latin typeface="Microsoft YaHei" pitchFamily="34" charset="-122"/>
                <a:ea typeface="Microsoft YaHei" pitchFamily="34" charset="-122"/>
              </a:rPr>
              <a:t>高杠杆资源位策略</a:t>
            </a:r>
            <a:endParaRPr kumimoji="1" lang="zh-CN" altLang="en-US" dirty="0">
              <a:latin typeface="Microsoft YaHei" pitchFamily="34" charset="-122"/>
              <a:ea typeface="Microsoft YaHei" pitchFamily="34" charset="-122"/>
            </a:endParaRPr>
          </a:p>
        </p:txBody>
      </p:sp>
      <p:sp>
        <p:nvSpPr>
          <p:cNvPr id="73" name="矩形 72"/>
          <p:cNvSpPr/>
          <p:nvPr/>
        </p:nvSpPr>
        <p:spPr>
          <a:xfrm>
            <a:off x="9512333" y="2080466"/>
            <a:ext cx="2430979" cy="4017775"/>
          </a:xfrm>
          <a:prstGeom prst="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icrosoft YaHei" pitchFamily="34" charset="-122"/>
              <a:ea typeface="Microsoft YaHei" pitchFamily="34" charset="-122"/>
            </a:endParaRPr>
          </a:p>
        </p:txBody>
      </p:sp>
      <p:graphicFrame>
        <p:nvGraphicFramePr>
          <p:cNvPr id="74" name="表格 73"/>
          <p:cNvGraphicFramePr>
            <a:graphicFrameLocks noGrp="1"/>
          </p:cNvGraphicFramePr>
          <p:nvPr/>
        </p:nvGraphicFramePr>
        <p:xfrm>
          <a:off x="6442147" y="2080466"/>
          <a:ext cx="5501165" cy="4042316"/>
        </p:xfrm>
        <a:graphic>
          <a:graphicData uri="http://schemas.openxmlformats.org/drawingml/2006/table">
            <a:tbl>
              <a:tblPr>
                <a:effectLst/>
                <a:tableStyleId>{5C22544A-7EE6-4342-B048-85BDC9FD1C3A}</a:tableStyleId>
              </a:tblPr>
              <a:tblGrid>
                <a:gridCol w="543910"/>
                <a:gridCol w="2776271"/>
                <a:gridCol w="2180984"/>
              </a:tblGrid>
              <a:tr h="329991">
                <a:tc>
                  <a:txBody>
                    <a:bodyPr/>
                    <a:lstStyle/>
                    <a:p>
                      <a:pPr algn="ctr" fontAlgn="b"/>
                      <a:r>
                        <a:rPr lang="zh-CN" altLang="en-US" sz="1600" b="1" i="0" u="none" strike="noStrike" dirty="0">
                          <a:solidFill>
                            <a:schemeClr val="accent2"/>
                          </a:solidFill>
                          <a:effectLst/>
                          <a:latin typeface="SimHei" pitchFamily="49" charset="-122"/>
                          <a:ea typeface="SimHei" pitchFamily="49" charset="-122"/>
                        </a:rPr>
                        <a:t>序号</a:t>
                      </a:r>
                      <a:endParaRPr lang="zh-CN" altLang="en-US" sz="1600" b="1" i="0" u="none" strike="noStrike" dirty="0">
                        <a:solidFill>
                          <a:schemeClr val="accent2"/>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zh-CN" altLang="en-US" sz="1600" b="1" u="none" strike="noStrike" dirty="0">
                          <a:solidFill>
                            <a:schemeClr val="accent2"/>
                          </a:solidFill>
                          <a:effectLst/>
                          <a:latin typeface="SimHei" pitchFamily="49" charset="-122"/>
                          <a:ea typeface="SimHei" pitchFamily="49" charset="-122"/>
                        </a:rPr>
                        <a:t>关键洞察</a:t>
                      </a:r>
                      <a:endParaRPr lang="zh-CN" altLang="en-US" sz="1600" b="1" i="0" u="none" strike="noStrike" dirty="0">
                        <a:solidFill>
                          <a:schemeClr val="accent2"/>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zh-CN" altLang="en-US" sz="1600" b="1" u="none" strike="noStrike" dirty="0">
                          <a:solidFill>
                            <a:schemeClr val="bg1"/>
                          </a:solidFill>
                          <a:effectLst/>
                          <a:latin typeface="SimHei" pitchFamily="49" charset="-122"/>
                          <a:ea typeface="SimHei" pitchFamily="49" charset="-122"/>
                        </a:rPr>
                        <a:t>策略决策</a:t>
                      </a:r>
                      <a:endParaRPr lang="zh-CN" altLang="en-US" sz="1600" b="1" i="0"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713329">
                <a:tc>
                  <a:txBody>
                    <a:bodyPr/>
                    <a:lstStyle/>
                    <a:p>
                      <a:pPr algn="ctr" fontAlgn="b"/>
                      <a:r>
                        <a:rPr lang="en-US" sz="1600" u="none" strike="noStrike" dirty="0">
                          <a:solidFill>
                            <a:schemeClr val="tx1">
                              <a:lumMod val="75000"/>
                              <a:lumOff val="25000"/>
                            </a:schemeClr>
                          </a:solidFill>
                          <a:effectLst/>
                          <a:latin typeface="SimHei" pitchFamily="49" charset="-122"/>
                          <a:ea typeface="SimHei" pitchFamily="49" charset="-122"/>
                        </a:rPr>
                        <a:t>1</a:t>
                      </a:r>
                      <a:endParaRPr 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zh-CN" altLang="en-US" sz="1600" u="none" strike="noStrike" dirty="0">
                          <a:solidFill>
                            <a:schemeClr val="tx1">
                              <a:lumMod val="75000"/>
                              <a:lumOff val="25000"/>
                            </a:schemeClr>
                          </a:solidFill>
                          <a:effectLst/>
                          <a:latin typeface="SimHei" pitchFamily="49" charset="-122"/>
                          <a:ea typeface="SimHei" pitchFamily="49" charset="-122"/>
                        </a:rPr>
                        <a:t>体验营营中期是黄金转化窗口</a:t>
                      </a:r>
                      <a:endParaRPr lang="zh-CN" altLang="en-US" sz="160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zh-CN" altLang="en-US" sz="1600" b="1" u="none" strike="noStrike" dirty="0">
                          <a:solidFill>
                            <a:schemeClr val="bg1"/>
                          </a:solidFill>
                          <a:effectLst/>
                          <a:latin typeface="SimHei" pitchFamily="49" charset="-122"/>
                          <a:ea typeface="SimHei" pitchFamily="49" charset="-122"/>
                        </a:rPr>
                        <a:t>高杠杆窗口</a:t>
                      </a:r>
                      <a:endParaRPr lang="en-US" altLang="zh-CN" sz="1600" b="1" i="0"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713329">
                <a:tc>
                  <a:txBody>
                    <a:bodyPr/>
                    <a:lstStyle/>
                    <a:p>
                      <a:pPr algn="ctr" fontAlgn="b"/>
                      <a:r>
                        <a:rPr lang="en-US" sz="1600" u="none" strike="noStrike" dirty="0">
                          <a:solidFill>
                            <a:schemeClr val="tx1">
                              <a:lumMod val="75000"/>
                              <a:lumOff val="25000"/>
                            </a:schemeClr>
                          </a:solidFill>
                          <a:effectLst/>
                          <a:latin typeface="SimHei" pitchFamily="49" charset="-122"/>
                          <a:ea typeface="SimHei" pitchFamily="49" charset="-122"/>
                        </a:rPr>
                        <a:t>2</a:t>
                      </a:r>
                      <a:endParaRPr 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zh-CN" altLang="en-US" sz="1600" u="none" strike="noStrike" dirty="0">
                          <a:solidFill>
                            <a:schemeClr val="tx1">
                              <a:lumMod val="75000"/>
                              <a:lumOff val="25000"/>
                            </a:schemeClr>
                          </a:solidFill>
                          <a:effectLst/>
                          <a:latin typeface="SimHei" pitchFamily="49" charset="-122"/>
                          <a:ea typeface="SimHei" pitchFamily="49" charset="-122"/>
                        </a:rPr>
                        <a:t>历史体验营次数越多，并不意味转化意愿越强</a:t>
                      </a:r>
                      <a:endParaRPr lang="zh-CN" altLang="en-US" sz="160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zh-CN" altLang="en-US" sz="1600" b="1" u="none" strike="noStrike" dirty="0">
                          <a:solidFill>
                            <a:schemeClr val="bg1"/>
                          </a:solidFill>
                          <a:effectLst/>
                          <a:latin typeface="SimHei" pitchFamily="49" charset="-122"/>
                          <a:ea typeface="SimHei" pitchFamily="49" charset="-122"/>
                        </a:rPr>
                        <a:t>精准分层推送是核心</a:t>
                      </a:r>
                      <a:endParaRPr lang="en-US" altLang="zh-CN" sz="1600" b="1" i="0"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713329">
                <a:tc>
                  <a:txBody>
                    <a:bodyPr/>
                    <a:lstStyle/>
                    <a:p>
                      <a:pPr algn="ctr" fontAlgn="b"/>
                      <a:r>
                        <a:rPr lang="en-US" sz="1600" u="none" strike="noStrike" dirty="0">
                          <a:solidFill>
                            <a:schemeClr val="tx1">
                              <a:lumMod val="75000"/>
                              <a:lumOff val="25000"/>
                            </a:schemeClr>
                          </a:solidFill>
                          <a:effectLst/>
                          <a:latin typeface="SimHei" pitchFamily="49" charset="-122"/>
                          <a:ea typeface="SimHei" pitchFamily="49" charset="-122"/>
                        </a:rPr>
                        <a:t>3</a:t>
                      </a:r>
                      <a:endParaRPr 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r>
                        <a:rPr lang="zh-CN" altLang="en-US" sz="1600" u="none" strike="noStrike" dirty="0">
                          <a:solidFill>
                            <a:schemeClr val="tx1">
                              <a:lumMod val="75000"/>
                              <a:lumOff val="25000"/>
                            </a:schemeClr>
                          </a:solidFill>
                          <a:effectLst/>
                          <a:latin typeface="SimHei" pitchFamily="49" charset="-122"/>
                          <a:ea typeface="SimHei" pitchFamily="49" charset="-122"/>
                        </a:rPr>
                        <a:t>低等级用户的月活高留存低</a:t>
                      </a:r>
                      <a:endParaRPr lang="zh-CN" altLang="en-US" sz="160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b"/>
                      <a:r>
                        <a:rPr lang="zh-CN" altLang="en-US" sz="1600" b="1" i="0" u="none" strike="noStrike" dirty="0">
                          <a:solidFill>
                            <a:schemeClr val="bg1"/>
                          </a:solidFill>
                          <a:effectLst/>
                          <a:latin typeface="SimHei" pitchFamily="49" charset="-122"/>
                          <a:ea typeface="SimHei" pitchFamily="49" charset="-122"/>
                        </a:rPr>
                        <a:t>重点关注低等级用户留存策略</a:t>
                      </a:r>
                      <a:endParaRPr lang="en-US" altLang="zh-CN" sz="1600" b="1" i="0"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713329">
                <a:tc>
                  <a:txBody>
                    <a:bodyPr/>
                    <a:lstStyle/>
                    <a:p>
                      <a:pPr algn="ctr" fontAlgn="b"/>
                      <a:r>
                        <a:rPr lang="en-US" sz="1600" u="none" strike="noStrike" dirty="0">
                          <a:solidFill>
                            <a:schemeClr val="tx1">
                              <a:lumMod val="75000"/>
                              <a:lumOff val="25000"/>
                            </a:schemeClr>
                          </a:solidFill>
                          <a:effectLst/>
                          <a:latin typeface="SimHei" pitchFamily="49" charset="-122"/>
                          <a:ea typeface="SimHei" pitchFamily="49" charset="-122"/>
                        </a:rPr>
                        <a:t>4</a:t>
                      </a:r>
                      <a:endParaRPr 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zh-CN" altLang="en-US" sz="1600" u="none" strike="noStrike" dirty="0">
                          <a:solidFill>
                            <a:schemeClr val="tx1">
                              <a:lumMod val="75000"/>
                              <a:lumOff val="25000"/>
                            </a:schemeClr>
                          </a:solidFill>
                          <a:effectLst/>
                          <a:latin typeface="SimHei" pitchFamily="49" charset="-122"/>
                          <a:ea typeface="SimHei" pitchFamily="49" charset="-122"/>
                        </a:rPr>
                        <a:t>优质资源位的潜力未充分释放</a:t>
                      </a:r>
                      <a:endParaRPr lang="zh-CN" altLang="en-US" sz="160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zh-CN" altLang="en-US" sz="1600" b="1" u="none" strike="noStrike" dirty="0">
                          <a:solidFill>
                            <a:schemeClr val="bg1"/>
                          </a:solidFill>
                          <a:effectLst/>
                          <a:latin typeface="SimHei" pitchFamily="49" charset="-122"/>
                          <a:ea typeface="SimHei" pitchFamily="49" charset="-122"/>
                        </a:rPr>
                        <a:t>结合用户当前标签</a:t>
                      </a:r>
                      <a:r>
                        <a:rPr lang="en-US" altLang="zh-CN" sz="1600" b="1" u="none" strike="noStrike" dirty="0">
                          <a:solidFill>
                            <a:schemeClr val="bg1"/>
                          </a:solidFill>
                          <a:effectLst/>
                          <a:latin typeface="SimHei" pitchFamily="49" charset="-122"/>
                          <a:ea typeface="SimHei" pitchFamily="49" charset="-122"/>
                        </a:rPr>
                        <a:t>【</a:t>
                      </a:r>
                      <a:r>
                        <a:rPr lang="zh-CN" altLang="en-US" sz="1600" b="1" u="none" strike="noStrike" dirty="0">
                          <a:solidFill>
                            <a:schemeClr val="bg1"/>
                          </a:solidFill>
                          <a:effectLst/>
                          <a:latin typeface="SimHei" pitchFamily="49" charset="-122"/>
                          <a:ea typeface="SimHei" pitchFamily="49" charset="-122"/>
                        </a:rPr>
                        <a:t>如行课状态、偏好</a:t>
                      </a:r>
                      <a:r>
                        <a:rPr lang="en-US" altLang="zh-CN" sz="1600" b="1" u="none" strike="noStrike" dirty="0">
                          <a:solidFill>
                            <a:schemeClr val="bg1"/>
                          </a:solidFill>
                          <a:effectLst/>
                          <a:latin typeface="SimHei" pitchFamily="49" charset="-122"/>
                          <a:ea typeface="SimHei" pitchFamily="49" charset="-122"/>
                        </a:rPr>
                        <a:t>】</a:t>
                      </a:r>
                      <a:r>
                        <a:rPr lang="zh-CN" altLang="en-US" sz="1600" b="1" u="none" strike="noStrike" dirty="0">
                          <a:solidFill>
                            <a:schemeClr val="bg1"/>
                          </a:solidFill>
                          <a:effectLst/>
                          <a:latin typeface="SimHei" pitchFamily="49" charset="-122"/>
                          <a:ea typeface="SimHei" pitchFamily="49" charset="-122"/>
                        </a:rPr>
                        <a:t>动态调整推荐</a:t>
                      </a:r>
                      <a:endParaRPr lang="zh-CN" altLang="en-US" sz="1600" b="1"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834468">
                <a:tc>
                  <a:txBody>
                    <a:bodyPr/>
                    <a:lstStyle/>
                    <a:p>
                      <a:pPr algn="ctr" fontAlgn="b"/>
                      <a:r>
                        <a:rPr lang="en-US" altLang="zh-CN" sz="1600" b="0" i="0" u="none" strike="noStrike" dirty="0">
                          <a:solidFill>
                            <a:schemeClr val="tx1">
                              <a:lumMod val="75000"/>
                              <a:lumOff val="25000"/>
                            </a:schemeClr>
                          </a:solidFill>
                          <a:effectLst/>
                          <a:latin typeface="SimHei" pitchFamily="49" charset="-122"/>
                          <a:ea typeface="SimHei" pitchFamily="49" charset="-122"/>
                        </a:rPr>
                        <a:t>5</a:t>
                      </a:r>
                      <a:endParaRPr 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zh-CN" altLang="en-US" sz="1600" b="0" i="0" u="none" strike="noStrike" dirty="0">
                          <a:solidFill>
                            <a:schemeClr val="tx1">
                              <a:lumMod val="75000"/>
                              <a:lumOff val="25000"/>
                            </a:schemeClr>
                          </a:solidFill>
                          <a:effectLst/>
                          <a:latin typeface="SimHei" pitchFamily="49" charset="-122"/>
                          <a:ea typeface="SimHei" pitchFamily="49" charset="-122"/>
                        </a:rPr>
                        <a:t>行课状态对用户转化意愿有相关性影响</a:t>
                      </a:r>
                      <a:endParaRPr lang="zh-CN" altLang="en-US" sz="1600" b="0" i="0" u="none" strike="noStrike" dirty="0">
                        <a:solidFill>
                          <a:schemeClr val="tx1">
                            <a:lumMod val="75000"/>
                            <a:lumOff val="25000"/>
                          </a:schemeClr>
                        </a:solidFill>
                        <a:effectLst/>
                        <a:latin typeface="SimHei" pitchFamily="49" charset="-122"/>
                        <a:ea typeface="SimHei" pitchFamily="49" charset="-122"/>
                      </a:endParaRPr>
                    </a:p>
                  </a:txBody>
                  <a:tcPr marL="6350" marR="6350" marT="6350" marB="0" anchor="ctr">
                    <a:lnL w="12700" cmpd="sng">
                      <a:noFill/>
                    </a:lnL>
                    <a:lnR w="12700" cmpd="sng">
                      <a:noFill/>
                    </a:lnR>
                    <a:lnT w="6350" cap="flat" cmpd="sng" algn="ctr">
                      <a:solidFill>
                        <a:schemeClr val="bg1">
                          <a:lumMod val="85000"/>
                        </a:schemeClr>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zh-CN" altLang="en-US" sz="1600" b="1" i="0" u="none" strike="noStrike" dirty="0">
                          <a:solidFill>
                            <a:schemeClr val="bg1"/>
                          </a:solidFill>
                          <a:effectLst/>
                          <a:latin typeface="SimHei" pitchFamily="49" charset="-122"/>
                          <a:ea typeface="SimHei" pitchFamily="49" charset="-122"/>
                        </a:rPr>
                        <a:t>低等级</a:t>
                      </a:r>
                      <a:r>
                        <a:rPr lang="en-US" altLang="zh-CN" sz="1600" b="1" i="0" u="none" strike="noStrike" dirty="0">
                          <a:solidFill>
                            <a:schemeClr val="bg1"/>
                          </a:solidFill>
                          <a:effectLst/>
                          <a:latin typeface="SimHei" pitchFamily="49" charset="-122"/>
                          <a:ea typeface="SimHei" pitchFamily="49" charset="-122"/>
                        </a:rPr>
                        <a:t>-</a:t>
                      </a:r>
                      <a:r>
                        <a:rPr lang="zh-CN" altLang="en-US" sz="1600" b="1" i="0" u="none" strike="noStrike" dirty="0">
                          <a:solidFill>
                            <a:schemeClr val="bg1"/>
                          </a:solidFill>
                          <a:effectLst/>
                          <a:latin typeface="SimHei" pitchFamily="49" charset="-122"/>
                          <a:ea typeface="SimHei" pitchFamily="49" charset="-122"/>
                        </a:rPr>
                        <a:t>精准推荐，中等级</a:t>
                      </a:r>
                      <a:r>
                        <a:rPr lang="en-US" altLang="zh-CN" sz="1600" b="1" i="0" u="none" strike="noStrike" dirty="0">
                          <a:solidFill>
                            <a:schemeClr val="bg1"/>
                          </a:solidFill>
                          <a:effectLst/>
                          <a:latin typeface="SimHei" pitchFamily="49" charset="-122"/>
                          <a:ea typeface="SimHei" pitchFamily="49" charset="-122"/>
                        </a:rPr>
                        <a:t>-</a:t>
                      </a:r>
                      <a:r>
                        <a:rPr lang="zh-CN" altLang="en-US" sz="1600" b="1" i="0" u="none" strike="noStrike" dirty="0">
                          <a:solidFill>
                            <a:schemeClr val="bg1"/>
                          </a:solidFill>
                          <a:effectLst/>
                          <a:latin typeface="SimHei" pitchFamily="49" charset="-122"/>
                          <a:ea typeface="SimHei" pitchFamily="49" charset="-122"/>
                        </a:rPr>
                        <a:t>关联推荐，高等级</a:t>
                      </a:r>
                      <a:r>
                        <a:rPr lang="en-US" altLang="zh-CN" sz="1600" b="1" i="0" u="none" strike="noStrike" dirty="0">
                          <a:solidFill>
                            <a:schemeClr val="bg1"/>
                          </a:solidFill>
                          <a:effectLst/>
                          <a:latin typeface="SimHei" pitchFamily="49" charset="-122"/>
                          <a:ea typeface="SimHei" pitchFamily="49" charset="-122"/>
                        </a:rPr>
                        <a:t>-</a:t>
                      </a:r>
                      <a:r>
                        <a:rPr lang="zh-CN" altLang="en-US" sz="1600" b="1" i="0" u="none" strike="noStrike" dirty="0">
                          <a:solidFill>
                            <a:schemeClr val="bg1"/>
                          </a:solidFill>
                          <a:effectLst/>
                          <a:latin typeface="SimHei" pitchFamily="49" charset="-122"/>
                          <a:ea typeface="SimHei" pitchFamily="49" charset="-122"/>
                        </a:rPr>
                        <a:t>个性化推荐</a:t>
                      </a:r>
                      <a:endParaRPr lang="zh-CN" altLang="en-US" sz="1600" b="1" i="0" u="none" strike="noStrike" dirty="0">
                        <a:solidFill>
                          <a:schemeClr val="bg1"/>
                        </a:solidFill>
                        <a:effectLst/>
                        <a:latin typeface="SimHei" pitchFamily="49" charset="-122"/>
                        <a:ea typeface="SimHei" pitchFamily="49" charset="-122"/>
                      </a:endParaRPr>
                    </a:p>
                  </a:txBody>
                  <a:tcPr marL="6350" marR="6350" marT="635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0" name="任意多边形: 形状 2"/>
          <p:cNvSpPr/>
          <p:nvPr/>
        </p:nvSpPr>
        <p:spPr>
          <a:xfrm>
            <a:off x="403722" y="3755394"/>
            <a:ext cx="5475778" cy="2342847"/>
          </a:xfrm>
          <a:custGeom>
            <a:avLst/>
            <a:gdLst>
              <a:gd name="csX0" fmla="*/ 5654288 w 5658527"/>
              <a:gd name="csY0" fmla="*/ 303522 h 2277750"/>
              <a:gd name="csX1" fmla="*/ 5658527 w 5658527"/>
              <a:gd name="csY1" fmla="*/ 324926 h 2277750"/>
              <a:gd name="csX2" fmla="*/ 5658527 w 5658527"/>
              <a:gd name="csY2" fmla="*/ 1935869 h 2277750"/>
              <a:gd name="csX3" fmla="*/ 5404047 w 5658527"/>
              <a:gd name="csY3" fmla="*/ 2254193 h 2277750"/>
              <a:gd name="csX4" fmla="*/ 5340230 w 5658527"/>
              <a:gd name="csY4" fmla="*/ 2260753 h 2277750"/>
              <a:gd name="csX5" fmla="*/ 5340494 w 5658527"/>
              <a:gd name="csY5" fmla="*/ 2260794 h 2277750"/>
              <a:gd name="csX6" fmla="*/ 5339825 w 5658527"/>
              <a:gd name="csY6" fmla="*/ 2260794 h 2277750"/>
              <a:gd name="csX7" fmla="*/ 5339815 w 5658527"/>
              <a:gd name="csY7" fmla="*/ 2260795 h 2277750"/>
              <a:gd name="csX8" fmla="*/ 5339808 w 5658527"/>
              <a:gd name="csY8" fmla="*/ 2260794 h 2277750"/>
              <a:gd name="csX9" fmla="*/ 255946 w 5658527"/>
              <a:gd name="csY9" fmla="*/ 2260794 h 2277750"/>
              <a:gd name="csX10" fmla="*/ 255946 w 5658527"/>
              <a:gd name="csY10" fmla="*/ 2277750 h 2277750"/>
              <a:gd name="csX11" fmla="*/ 1 w 5658527"/>
              <a:gd name="csY11" fmla="*/ 1420431 h 2277750"/>
              <a:gd name="csX12" fmla="*/ 0 w 5658527"/>
              <a:gd name="csY12" fmla="*/ 1420431 h 2277750"/>
              <a:gd name="csX13" fmla="*/ 0 w 5658527"/>
              <a:gd name="csY13" fmla="*/ 1420430 h 2277750"/>
              <a:gd name="csX14" fmla="*/ 1 w 5658527"/>
              <a:gd name="csY14" fmla="*/ 1420430 h 2277750"/>
              <a:gd name="csX15" fmla="*/ 2875 w 5658527"/>
              <a:gd name="csY15" fmla="*/ 1410993 h 2277750"/>
              <a:gd name="csX16" fmla="*/ 255946 w 5658527"/>
              <a:gd name="csY16" fmla="*/ 580041 h 2277750"/>
              <a:gd name="csX17" fmla="*/ 5340494 w 5658527"/>
              <a:gd name="csY17" fmla="*/ 580041 h 2277750"/>
              <a:gd name="csX18" fmla="*/ 5340494 w 5658527"/>
              <a:gd name="csY18" fmla="*/ 579313 h 2277750"/>
              <a:gd name="csX19" fmla="*/ 5400991 w 5658527"/>
              <a:gd name="csY19" fmla="*/ 573578 h 2277750"/>
              <a:gd name="csX20" fmla="*/ 5624792 w 5658527"/>
              <a:gd name="csY20" fmla="*/ 404813 h 2277750"/>
              <a:gd name="csX21" fmla="*/ 5629684 w 5658527"/>
              <a:gd name="csY21" fmla="*/ 191320 h 2277750"/>
              <a:gd name="csX22" fmla="*/ 5633481 w 5658527"/>
              <a:gd name="csY22" fmla="*/ 198453 h 2277750"/>
              <a:gd name="csX23" fmla="*/ 5637135 w 5658527"/>
              <a:gd name="csY23" fmla="*/ 216901 h 2277750"/>
              <a:gd name="csX24" fmla="*/ 5403930 w 5658527"/>
              <a:gd name="csY24" fmla="*/ 6590 h 2277750"/>
              <a:gd name="csX25" fmla="*/ 5404047 w 5658527"/>
              <a:gd name="csY25" fmla="*/ 6602 h 2277750"/>
              <a:gd name="csX26" fmla="*/ 5404914 w 5658527"/>
              <a:gd name="csY26" fmla="*/ 6876 h 2277750"/>
              <a:gd name="csX27" fmla="*/ 5339815 w 5658527"/>
              <a:gd name="csY27" fmla="*/ 0 h 2277750"/>
              <a:gd name="csX28" fmla="*/ 5340493 w 5658527"/>
              <a:gd name="csY28" fmla="*/ 70 h 2277750"/>
              <a:gd name="csX29" fmla="*/ 5340493 w 5658527"/>
              <a:gd name="csY29" fmla="*/ 546547 h 227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658527" h="2277750">
                <a:moveTo>
                  <a:pt x="5654288" y="303522"/>
                </a:moveTo>
                <a:lnTo>
                  <a:pt x="5658527" y="324926"/>
                </a:lnTo>
                <a:lnTo>
                  <a:pt x="5658527" y="1935869"/>
                </a:lnTo>
                <a:cubicBezTo>
                  <a:pt x="5658527" y="2092883"/>
                  <a:pt x="5549281" y="2223894"/>
                  <a:pt x="5404047" y="2254193"/>
                </a:cubicBezTo>
                <a:lnTo>
                  <a:pt x="5340230" y="2260753"/>
                </a:lnTo>
                <a:lnTo>
                  <a:pt x="5340494" y="2260794"/>
                </a:lnTo>
                <a:lnTo>
                  <a:pt x="5339825" y="2260794"/>
                </a:lnTo>
                <a:lnTo>
                  <a:pt x="5339815" y="2260795"/>
                </a:lnTo>
                <a:lnTo>
                  <a:pt x="5339808" y="2260794"/>
                </a:lnTo>
                <a:lnTo>
                  <a:pt x="255946" y="2260794"/>
                </a:lnTo>
                <a:lnTo>
                  <a:pt x="255946" y="2277750"/>
                </a:lnTo>
                <a:lnTo>
                  <a:pt x="1" y="1420431"/>
                </a:lnTo>
                <a:lnTo>
                  <a:pt x="0" y="1420431"/>
                </a:lnTo>
                <a:lnTo>
                  <a:pt x="0" y="1420430"/>
                </a:lnTo>
                <a:lnTo>
                  <a:pt x="1" y="1420430"/>
                </a:lnTo>
                <a:lnTo>
                  <a:pt x="2875" y="1410993"/>
                </a:lnTo>
                <a:cubicBezTo>
                  <a:pt x="30994" y="1318665"/>
                  <a:pt x="255946" y="580041"/>
                  <a:pt x="255946" y="580041"/>
                </a:cubicBezTo>
                <a:lnTo>
                  <a:pt x="5340494" y="580041"/>
                </a:lnTo>
                <a:lnTo>
                  <a:pt x="5340494" y="579313"/>
                </a:lnTo>
                <a:lnTo>
                  <a:pt x="5400991" y="573578"/>
                </a:lnTo>
                <a:cubicBezTo>
                  <a:pt x="5498931" y="554757"/>
                  <a:pt x="5580931" y="491103"/>
                  <a:pt x="5624792" y="404813"/>
                </a:cubicBezTo>
                <a:close/>
                <a:moveTo>
                  <a:pt x="5629684" y="191320"/>
                </a:moveTo>
                <a:lnTo>
                  <a:pt x="5633481" y="198453"/>
                </a:lnTo>
                <a:lnTo>
                  <a:pt x="5637135" y="216901"/>
                </a:lnTo>
                <a:close/>
                <a:moveTo>
                  <a:pt x="5403930" y="6590"/>
                </a:moveTo>
                <a:lnTo>
                  <a:pt x="5404047" y="6602"/>
                </a:lnTo>
                <a:lnTo>
                  <a:pt x="5404914" y="6876"/>
                </a:lnTo>
                <a:close/>
                <a:moveTo>
                  <a:pt x="5339815" y="0"/>
                </a:moveTo>
                <a:lnTo>
                  <a:pt x="5340493" y="70"/>
                </a:lnTo>
                <a:lnTo>
                  <a:pt x="5340493" y="546547"/>
                </a:lnTo>
                <a:close/>
              </a:path>
            </a:pathLst>
          </a:cu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8100000" scaled="1"/>
            <a:tileRect/>
          </a:gradFill>
          <a:ln w="0"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effectLst/>
              <a:uLnTx/>
              <a:uFillTx/>
              <a:latin typeface="Microsoft YaHei" pitchFamily="34" charset="-122"/>
              <a:ea typeface="Microsoft YaHei" pitchFamily="34" charset="-122"/>
            </a:endParaRPr>
          </a:p>
        </p:txBody>
      </p:sp>
      <p:grpSp>
        <p:nvGrpSpPr>
          <p:cNvPr id="23" name="组合 22"/>
          <p:cNvGrpSpPr/>
          <p:nvPr/>
        </p:nvGrpSpPr>
        <p:grpSpPr>
          <a:xfrm>
            <a:off x="666938" y="3786006"/>
            <a:ext cx="5212560" cy="523043"/>
            <a:chOff x="6406173" y="1119788"/>
            <a:chExt cx="5387898" cy="579313"/>
          </a:xfrm>
        </p:grpSpPr>
        <p:sp>
          <p:nvSpPr>
            <p:cNvPr id="24" name="任意多边形: 形状 20"/>
            <p:cNvSpPr/>
            <p:nvPr/>
          </p:nvSpPr>
          <p:spPr>
            <a:xfrm>
              <a:off x="6406173" y="1119788"/>
              <a:ext cx="5070697" cy="579312"/>
            </a:xfrm>
            <a:custGeom>
              <a:avLst/>
              <a:gdLst>
                <a:gd name="csX0" fmla="*/ 144828 w 5070697"/>
                <a:gd name="csY0" fmla="*/ 0 h 579312"/>
                <a:gd name="csX1" fmla="*/ 1348238 w 5070697"/>
                <a:gd name="csY1" fmla="*/ 0 h 579312"/>
                <a:gd name="csX2" fmla="*/ 5070697 w 5070697"/>
                <a:gd name="csY2" fmla="*/ 0 h 579312"/>
                <a:gd name="csX3" fmla="*/ 5070697 w 5070697"/>
                <a:gd name="csY3" fmla="*/ 579312 h 579312"/>
                <a:gd name="csX4" fmla="*/ 4925869 w 5070697"/>
                <a:gd name="csY4" fmla="*/ 579312 h 579312"/>
                <a:gd name="csX5" fmla="*/ 1348238 w 5070697"/>
                <a:gd name="csY5" fmla="*/ 579312 h 579312"/>
                <a:gd name="csX6" fmla="*/ 0 w 5070697"/>
                <a:gd name="csY6" fmla="*/ 579312 h 5793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070697" h="579312">
                  <a:moveTo>
                    <a:pt x="144828" y="0"/>
                  </a:moveTo>
                  <a:lnTo>
                    <a:pt x="1348238" y="0"/>
                  </a:lnTo>
                  <a:lnTo>
                    <a:pt x="5070697" y="0"/>
                  </a:lnTo>
                  <a:lnTo>
                    <a:pt x="5070697" y="579312"/>
                  </a:lnTo>
                  <a:lnTo>
                    <a:pt x="4925869" y="579312"/>
                  </a:lnTo>
                  <a:lnTo>
                    <a:pt x="1348238" y="579312"/>
                  </a:lnTo>
                  <a:lnTo>
                    <a:pt x="0" y="579312"/>
                  </a:lnTo>
                  <a:close/>
                </a:path>
              </a:pathLst>
            </a:custGeom>
            <a:gradFill flip="none" rotWithShape="1">
              <a:gsLst>
                <a:gs pos="0">
                  <a:schemeClr val="accent6">
                    <a:lumMod val="20000"/>
                    <a:lumOff val="80000"/>
                  </a:schemeClr>
                </a:gs>
                <a:gs pos="100000">
                  <a:schemeClr val="bg1"/>
                </a:gs>
              </a:gsLst>
              <a:lin ang="1080000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chemeClr val="tx1"/>
                </a:solidFill>
                <a:effectLst/>
                <a:uLnTx/>
                <a:uFillTx/>
                <a:latin typeface="Microsoft YaHei" pitchFamily="34" charset="-122"/>
                <a:ea typeface="Microsoft YaHei" pitchFamily="34" charset="-122"/>
              </a:endParaRPr>
            </a:p>
          </p:txBody>
        </p:sp>
        <p:sp>
          <p:nvSpPr>
            <p:cNvPr id="25" name="任意多边形: 形状 1"/>
            <p:cNvSpPr/>
            <p:nvPr/>
          </p:nvSpPr>
          <p:spPr>
            <a:xfrm>
              <a:off x="11476869" y="1119789"/>
              <a:ext cx="317202" cy="579312"/>
            </a:xfrm>
            <a:custGeom>
              <a:avLst/>
              <a:gdLst>
                <a:gd name="csX0" fmla="*/ 0 w 317202"/>
                <a:gd name="csY0" fmla="*/ 579312 h 579311"/>
                <a:gd name="csX1" fmla="*/ 317203 w 317202"/>
                <a:gd name="csY1" fmla="*/ 291819 h 579311"/>
                <a:gd name="csX2" fmla="*/ 317203 w 317202"/>
                <a:gd name="csY2" fmla="*/ 287492 h 579311"/>
                <a:gd name="csX3" fmla="*/ 0 w 317202"/>
                <a:gd name="csY3" fmla="*/ 0 h 579311"/>
                <a:gd name="csX4" fmla="*/ 0 w 317202"/>
                <a:gd name="csY4" fmla="*/ 579312 h 579311"/>
              </a:gdLst>
              <a:ahLst/>
              <a:cxnLst>
                <a:cxn ang="0">
                  <a:pos x="csX0" y="csY0"/>
                </a:cxn>
                <a:cxn ang="0">
                  <a:pos x="csX1" y="csY1"/>
                </a:cxn>
                <a:cxn ang="0">
                  <a:pos x="csX2" y="csY2"/>
                </a:cxn>
                <a:cxn ang="0">
                  <a:pos x="csX3" y="csY3"/>
                </a:cxn>
                <a:cxn ang="0">
                  <a:pos x="csX4" y="csY4"/>
                </a:cxn>
              </a:cxnLst>
              <a:rect l="l" t="t" r="r" b="b"/>
              <a:pathLst>
                <a:path w="317202" h="579311">
                  <a:moveTo>
                    <a:pt x="0" y="579312"/>
                  </a:moveTo>
                  <a:cubicBezTo>
                    <a:pt x="165482" y="579312"/>
                    <a:pt x="301530" y="453175"/>
                    <a:pt x="317203" y="291819"/>
                  </a:cubicBezTo>
                  <a:lnTo>
                    <a:pt x="317203" y="287492"/>
                  </a:lnTo>
                  <a:cubicBezTo>
                    <a:pt x="301505" y="126111"/>
                    <a:pt x="165482" y="0"/>
                    <a:pt x="0" y="0"/>
                  </a:cubicBezTo>
                  <a:lnTo>
                    <a:pt x="0" y="579312"/>
                  </a:lnTo>
                  <a:close/>
                </a:path>
              </a:pathLst>
            </a:custGeom>
            <a:gradFill>
              <a:gsLst>
                <a:gs pos="0">
                  <a:schemeClr val="accent6">
                    <a:lumMod val="20000"/>
                    <a:lumOff val="80000"/>
                  </a:schemeClr>
                </a:gs>
                <a:gs pos="100000">
                  <a:schemeClr val="accent6">
                    <a:lumMod val="60000"/>
                    <a:lumOff val="40000"/>
                  </a:schemeClr>
                </a:gs>
              </a:gsLst>
              <a:lin ang="0" scaled="1"/>
            </a:gradFill>
            <a:ln w="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effectLst/>
                <a:uLnTx/>
                <a:uFillTx/>
                <a:latin typeface="Microsoft YaHei" pitchFamily="34" charset="-122"/>
                <a:ea typeface="Microsoft YaHei" pitchFamily="34" charset="-122"/>
              </a:endParaRPr>
            </a:p>
          </p:txBody>
        </p:sp>
        <p:sp>
          <p:nvSpPr>
            <p:cNvPr id="26" name="文本框 25"/>
            <p:cNvSpPr txBox="1"/>
            <p:nvPr/>
          </p:nvSpPr>
          <p:spPr>
            <a:xfrm>
              <a:off x="7206959" y="1211878"/>
              <a:ext cx="4485626" cy="409065"/>
            </a:xfrm>
            <a:prstGeom prst="rect">
              <a:avLst/>
            </a:prstGeom>
            <a:noFill/>
          </p:spPr>
          <p:txBody>
            <a:bodyPr wrap="none">
              <a:spAutoFit/>
            </a:bodyPr>
            <a:lstStyle/>
            <a:p>
              <a:r>
                <a:rPr lang="zh-CN" altLang="en-US" dirty="0">
                  <a:latin typeface="Microsoft YaHei" pitchFamily="34" charset="-122"/>
                  <a:ea typeface="Microsoft YaHei" pitchFamily="34" charset="-122"/>
                </a:rPr>
                <a:t>核心策略：</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三步走</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旅程思维串联触点</a:t>
              </a:r>
              <a:endParaRPr lang="zh-CN" altLang="en-US" dirty="0">
                <a:latin typeface="Microsoft YaHei" pitchFamily="34" charset="-122"/>
                <a:ea typeface="Microsoft YaHei" pitchFamily="34" charset="-122"/>
              </a:endParaRPr>
            </a:p>
          </p:txBody>
        </p:sp>
      </p:grpSp>
      <p:sp>
        <p:nvSpPr>
          <p:cNvPr id="27" name="任意多边形: 形状 27"/>
          <p:cNvSpPr/>
          <p:nvPr/>
        </p:nvSpPr>
        <p:spPr>
          <a:xfrm flipH="1">
            <a:off x="361120" y="1215057"/>
            <a:ext cx="5658527" cy="2179814"/>
          </a:xfrm>
          <a:custGeom>
            <a:avLst/>
            <a:gdLst>
              <a:gd name="csX0" fmla="*/ 5654288 w 5658527"/>
              <a:gd name="csY0" fmla="*/ 303522 h 2277750"/>
              <a:gd name="csX1" fmla="*/ 5658527 w 5658527"/>
              <a:gd name="csY1" fmla="*/ 324926 h 2277750"/>
              <a:gd name="csX2" fmla="*/ 5658527 w 5658527"/>
              <a:gd name="csY2" fmla="*/ 1935869 h 2277750"/>
              <a:gd name="csX3" fmla="*/ 5404047 w 5658527"/>
              <a:gd name="csY3" fmla="*/ 2254193 h 2277750"/>
              <a:gd name="csX4" fmla="*/ 5340230 w 5658527"/>
              <a:gd name="csY4" fmla="*/ 2260753 h 2277750"/>
              <a:gd name="csX5" fmla="*/ 5340494 w 5658527"/>
              <a:gd name="csY5" fmla="*/ 2260794 h 2277750"/>
              <a:gd name="csX6" fmla="*/ 5339825 w 5658527"/>
              <a:gd name="csY6" fmla="*/ 2260794 h 2277750"/>
              <a:gd name="csX7" fmla="*/ 5339815 w 5658527"/>
              <a:gd name="csY7" fmla="*/ 2260795 h 2277750"/>
              <a:gd name="csX8" fmla="*/ 5339808 w 5658527"/>
              <a:gd name="csY8" fmla="*/ 2260794 h 2277750"/>
              <a:gd name="csX9" fmla="*/ 255946 w 5658527"/>
              <a:gd name="csY9" fmla="*/ 2260794 h 2277750"/>
              <a:gd name="csX10" fmla="*/ 255946 w 5658527"/>
              <a:gd name="csY10" fmla="*/ 2277750 h 2277750"/>
              <a:gd name="csX11" fmla="*/ 1 w 5658527"/>
              <a:gd name="csY11" fmla="*/ 1420431 h 2277750"/>
              <a:gd name="csX12" fmla="*/ 0 w 5658527"/>
              <a:gd name="csY12" fmla="*/ 1420431 h 2277750"/>
              <a:gd name="csX13" fmla="*/ 0 w 5658527"/>
              <a:gd name="csY13" fmla="*/ 1420430 h 2277750"/>
              <a:gd name="csX14" fmla="*/ 1 w 5658527"/>
              <a:gd name="csY14" fmla="*/ 1420430 h 2277750"/>
              <a:gd name="csX15" fmla="*/ 2875 w 5658527"/>
              <a:gd name="csY15" fmla="*/ 1410993 h 2277750"/>
              <a:gd name="csX16" fmla="*/ 255946 w 5658527"/>
              <a:gd name="csY16" fmla="*/ 580041 h 2277750"/>
              <a:gd name="csX17" fmla="*/ 5340494 w 5658527"/>
              <a:gd name="csY17" fmla="*/ 580041 h 2277750"/>
              <a:gd name="csX18" fmla="*/ 5340494 w 5658527"/>
              <a:gd name="csY18" fmla="*/ 579313 h 2277750"/>
              <a:gd name="csX19" fmla="*/ 5400991 w 5658527"/>
              <a:gd name="csY19" fmla="*/ 573578 h 2277750"/>
              <a:gd name="csX20" fmla="*/ 5624792 w 5658527"/>
              <a:gd name="csY20" fmla="*/ 404813 h 2277750"/>
              <a:gd name="csX21" fmla="*/ 5629684 w 5658527"/>
              <a:gd name="csY21" fmla="*/ 191320 h 2277750"/>
              <a:gd name="csX22" fmla="*/ 5633481 w 5658527"/>
              <a:gd name="csY22" fmla="*/ 198453 h 2277750"/>
              <a:gd name="csX23" fmla="*/ 5637135 w 5658527"/>
              <a:gd name="csY23" fmla="*/ 216901 h 2277750"/>
              <a:gd name="csX24" fmla="*/ 5403930 w 5658527"/>
              <a:gd name="csY24" fmla="*/ 6590 h 2277750"/>
              <a:gd name="csX25" fmla="*/ 5404047 w 5658527"/>
              <a:gd name="csY25" fmla="*/ 6602 h 2277750"/>
              <a:gd name="csX26" fmla="*/ 5404914 w 5658527"/>
              <a:gd name="csY26" fmla="*/ 6876 h 2277750"/>
              <a:gd name="csX27" fmla="*/ 5339815 w 5658527"/>
              <a:gd name="csY27" fmla="*/ 0 h 2277750"/>
              <a:gd name="csX28" fmla="*/ 5340493 w 5658527"/>
              <a:gd name="csY28" fmla="*/ 70 h 2277750"/>
              <a:gd name="csX29" fmla="*/ 5340493 w 5658527"/>
              <a:gd name="csY29" fmla="*/ 546547 h 2277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658527" h="2277750">
                <a:moveTo>
                  <a:pt x="5654288" y="303522"/>
                </a:moveTo>
                <a:lnTo>
                  <a:pt x="5658527" y="324926"/>
                </a:lnTo>
                <a:lnTo>
                  <a:pt x="5658527" y="1935869"/>
                </a:lnTo>
                <a:cubicBezTo>
                  <a:pt x="5658527" y="2092883"/>
                  <a:pt x="5549281" y="2223894"/>
                  <a:pt x="5404047" y="2254193"/>
                </a:cubicBezTo>
                <a:lnTo>
                  <a:pt x="5340230" y="2260753"/>
                </a:lnTo>
                <a:lnTo>
                  <a:pt x="5340494" y="2260794"/>
                </a:lnTo>
                <a:lnTo>
                  <a:pt x="5339825" y="2260794"/>
                </a:lnTo>
                <a:lnTo>
                  <a:pt x="5339815" y="2260795"/>
                </a:lnTo>
                <a:lnTo>
                  <a:pt x="5339808" y="2260794"/>
                </a:lnTo>
                <a:lnTo>
                  <a:pt x="255946" y="2260794"/>
                </a:lnTo>
                <a:lnTo>
                  <a:pt x="255946" y="2277750"/>
                </a:lnTo>
                <a:lnTo>
                  <a:pt x="1" y="1420431"/>
                </a:lnTo>
                <a:lnTo>
                  <a:pt x="0" y="1420431"/>
                </a:lnTo>
                <a:lnTo>
                  <a:pt x="0" y="1420430"/>
                </a:lnTo>
                <a:lnTo>
                  <a:pt x="1" y="1420430"/>
                </a:lnTo>
                <a:lnTo>
                  <a:pt x="2875" y="1410993"/>
                </a:lnTo>
                <a:cubicBezTo>
                  <a:pt x="30994" y="1318665"/>
                  <a:pt x="255946" y="580041"/>
                  <a:pt x="255946" y="580041"/>
                </a:cubicBezTo>
                <a:lnTo>
                  <a:pt x="5340494" y="580041"/>
                </a:lnTo>
                <a:lnTo>
                  <a:pt x="5340494" y="579313"/>
                </a:lnTo>
                <a:lnTo>
                  <a:pt x="5400991" y="573578"/>
                </a:lnTo>
                <a:cubicBezTo>
                  <a:pt x="5498931" y="554757"/>
                  <a:pt x="5580931" y="491103"/>
                  <a:pt x="5624792" y="404813"/>
                </a:cubicBezTo>
                <a:close/>
                <a:moveTo>
                  <a:pt x="5629684" y="191320"/>
                </a:moveTo>
                <a:lnTo>
                  <a:pt x="5633481" y="198453"/>
                </a:lnTo>
                <a:lnTo>
                  <a:pt x="5637135" y="216901"/>
                </a:lnTo>
                <a:close/>
                <a:moveTo>
                  <a:pt x="5403930" y="6590"/>
                </a:moveTo>
                <a:lnTo>
                  <a:pt x="5404047" y="6602"/>
                </a:lnTo>
                <a:lnTo>
                  <a:pt x="5404914" y="6876"/>
                </a:lnTo>
                <a:close/>
                <a:moveTo>
                  <a:pt x="5339815" y="0"/>
                </a:moveTo>
                <a:lnTo>
                  <a:pt x="5340493" y="70"/>
                </a:lnTo>
                <a:lnTo>
                  <a:pt x="5340493" y="546547"/>
                </a:lnTo>
                <a:close/>
              </a:path>
            </a:pathLst>
          </a:custGeom>
          <a:solidFill>
            <a:schemeClr val="accent1"/>
          </a:solidFill>
          <a:ln w="0" cap="flat">
            <a:noFill/>
            <a:prstDash val="solid"/>
            <a:miter/>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Microsoft YaHei" pitchFamily="34" charset="-122"/>
              <a:ea typeface="Microsoft YaHei" pitchFamily="34" charset="-122"/>
            </a:endParaRPr>
          </a:p>
        </p:txBody>
      </p:sp>
      <p:grpSp>
        <p:nvGrpSpPr>
          <p:cNvPr id="35" name="组合 34"/>
          <p:cNvGrpSpPr/>
          <p:nvPr/>
        </p:nvGrpSpPr>
        <p:grpSpPr>
          <a:xfrm>
            <a:off x="361953" y="1236121"/>
            <a:ext cx="5387899" cy="523042"/>
            <a:chOff x="390898" y="1109213"/>
            <a:chExt cx="5387899" cy="579312"/>
          </a:xfrm>
        </p:grpSpPr>
        <p:sp>
          <p:nvSpPr>
            <p:cNvPr id="36" name="任意多边形: 形状 26"/>
            <p:cNvSpPr/>
            <p:nvPr/>
          </p:nvSpPr>
          <p:spPr>
            <a:xfrm flipH="1">
              <a:off x="708100" y="1109213"/>
              <a:ext cx="5070697" cy="579312"/>
            </a:xfrm>
            <a:custGeom>
              <a:avLst/>
              <a:gdLst>
                <a:gd name="csX0" fmla="*/ 144828 w 5070697"/>
                <a:gd name="csY0" fmla="*/ 0 h 579312"/>
                <a:gd name="csX1" fmla="*/ 1348238 w 5070697"/>
                <a:gd name="csY1" fmla="*/ 0 h 579312"/>
                <a:gd name="csX2" fmla="*/ 5070697 w 5070697"/>
                <a:gd name="csY2" fmla="*/ 0 h 579312"/>
                <a:gd name="csX3" fmla="*/ 5070697 w 5070697"/>
                <a:gd name="csY3" fmla="*/ 579312 h 579312"/>
                <a:gd name="csX4" fmla="*/ 4925869 w 5070697"/>
                <a:gd name="csY4" fmla="*/ 579312 h 579312"/>
                <a:gd name="csX5" fmla="*/ 1348238 w 5070697"/>
                <a:gd name="csY5" fmla="*/ 579312 h 579312"/>
                <a:gd name="csX6" fmla="*/ 0 w 5070697"/>
                <a:gd name="csY6" fmla="*/ 579312 h 5793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070697" h="579312">
                  <a:moveTo>
                    <a:pt x="144828" y="0"/>
                  </a:moveTo>
                  <a:lnTo>
                    <a:pt x="1348238" y="0"/>
                  </a:lnTo>
                  <a:lnTo>
                    <a:pt x="5070697" y="0"/>
                  </a:lnTo>
                  <a:lnTo>
                    <a:pt x="5070697" y="579312"/>
                  </a:lnTo>
                  <a:lnTo>
                    <a:pt x="4925869" y="579312"/>
                  </a:lnTo>
                  <a:lnTo>
                    <a:pt x="1348238" y="579312"/>
                  </a:lnTo>
                  <a:lnTo>
                    <a:pt x="0" y="579312"/>
                  </a:lnTo>
                  <a:close/>
                </a:path>
              </a:pathLst>
            </a:custGeom>
            <a:gradFill flip="none" rotWithShape="1">
              <a:gsLst>
                <a:gs pos="0">
                  <a:schemeClr val="accent1">
                    <a:lumMod val="20000"/>
                    <a:lumOff val="80000"/>
                  </a:schemeClr>
                </a:gs>
                <a:gs pos="100000">
                  <a:schemeClr val="bg1"/>
                </a:gs>
              </a:gsLst>
              <a:lin ang="10800000" scaled="1"/>
              <a:tileRect/>
            </a:gra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Microsoft YaHei" pitchFamily="34" charset="-122"/>
                <a:ea typeface="Microsoft YaHei" pitchFamily="34" charset="-122"/>
              </a:endParaRPr>
            </a:p>
          </p:txBody>
        </p:sp>
        <p:sp>
          <p:nvSpPr>
            <p:cNvPr id="38" name="任意多边形: 形状 28"/>
            <p:cNvSpPr/>
            <p:nvPr/>
          </p:nvSpPr>
          <p:spPr>
            <a:xfrm flipH="1">
              <a:off x="390898" y="1109213"/>
              <a:ext cx="317202" cy="579312"/>
            </a:xfrm>
            <a:custGeom>
              <a:avLst/>
              <a:gdLst>
                <a:gd name="csX0" fmla="*/ 0 w 317202"/>
                <a:gd name="csY0" fmla="*/ 579312 h 579311"/>
                <a:gd name="csX1" fmla="*/ 317203 w 317202"/>
                <a:gd name="csY1" fmla="*/ 291819 h 579311"/>
                <a:gd name="csX2" fmla="*/ 317203 w 317202"/>
                <a:gd name="csY2" fmla="*/ 287492 h 579311"/>
                <a:gd name="csX3" fmla="*/ 0 w 317202"/>
                <a:gd name="csY3" fmla="*/ 0 h 579311"/>
                <a:gd name="csX4" fmla="*/ 0 w 317202"/>
                <a:gd name="csY4" fmla="*/ 579312 h 579311"/>
              </a:gdLst>
              <a:ahLst/>
              <a:cxnLst>
                <a:cxn ang="0">
                  <a:pos x="csX0" y="csY0"/>
                </a:cxn>
                <a:cxn ang="0">
                  <a:pos x="csX1" y="csY1"/>
                </a:cxn>
                <a:cxn ang="0">
                  <a:pos x="csX2" y="csY2"/>
                </a:cxn>
                <a:cxn ang="0">
                  <a:pos x="csX3" y="csY3"/>
                </a:cxn>
                <a:cxn ang="0">
                  <a:pos x="csX4" y="csY4"/>
                </a:cxn>
              </a:cxnLst>
              <a:rect l="l" t="t" r="r" b="b"/>
              <a:pathLst>
                <a:path w="317202" h="579311">
                  <a:moveTo>
                    <a:pt x="0" y="579312"/>
                  </a:moveTo>
                  <a:cubicBezTo>
                    <a:pt x="165482" y="579312"/>
                    <a:pt x="301530" y="453175"/>
                    <a:pt x="317203" y="291819"/>
                  </a:cubicBezTo>
                  <a:lnTo>
                    <a:pt x="317203" y="287492"/>
                  </a:lnTo>
                  <a:cubicBezTo>
                    <a:pt x="301505" y="126111"/>
                    <a:pt x="165482" y="0"/>
                    <a:pt x="0" y="0"/>
                  </a:cubicBezTo>
                  <a:lnTo>
                    <a:pt x="0" y="579312"/>
                  </a:lnTo>
                  <a:close/>
                </a:path>
              </a:pathLst>
            </a:custGeom>
            <a:gradFill>
              <a:gsLst>
                <a:gs pos="0">
                  <a:schemeClr val="accent1">
                    <a:lumMod val="20000"/>
                    <a:lumOff val="80000"/>
                  </a:schemeClr>
                </a:gs>
                <a:gs pos="100000">
                  <a:schemeClr val="accent1">
                    <a:lumMod val="60000"/>
                    <a:lumOff val="40000"/>
                    <a:alpha val="50000"/>
                  </a:schemeClr>
                </a:gs>
              </a:gsLst>
              <a:lin ang="0" scaled="1"/>
            </a:gradFill>
            <a:ln w="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Microsoft YaHei" pitchFamily="34" charset="-122"/>
                <a:ea typeface="Microsoft YaHei" pitchFamily="34" charset="-122"/>
              </a:endParaRPr>
            </a:p>
          </p:txBody>
        </p:sp>
        <p:sp>
          <p:nvSpPr>
            <p:cNvPr id="39" name="文本框 38"/>
            <p:cNvSpPr txBox="1"/>
            <p:nvPr/>
          </p:nvSpPr>
          <p:spPr>
            <a:xfrm flipH="1">
              <a:off x="700881" y="1235208"/>
              <a:ext cx="877163" cy="409066"/>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u="none" strike="noStrike" kern="1200" cap="none" spc="0" normalizeH="0" baseline="0" noProof="0" dirty="0">
                  <a:ln>
                    <a:noFill/>
                  </a:ln>
                  <a:effectLst/>
                  <a:uLnTx/>
                  <a:uFillTx/>
                  <a:latin typeface="Microsoft YaHei" pitchFamily="34" charset="-122"/>
                  <a:ea typeface="Microsoft YaHei" pitchFamily="34" charset="-122"/>
                </a:rPr>
                <a:t>机会点</a:t>
              </a:r>
              <a:endParaRPr kumimoji="0" lang="zh-CN" altLang="en-US" sz="1800" u="none" strike="noStrike" kern="1200" cap="none" spc="0" normalizeH="0" baseline="0" noProof="0" dirty="0">
                <a:ln>
                  <a:noFill/>
                </a:ln>
                <a:effectLst/>
                <a:uLnTx/>
                <a:uFillTx/>
                <a:latin typeface="Microsoft YaHei" pitchFamily="34" charset="-122"/>
                <a:ea typeface="Microsoft YaHei" pitchFamily="34" charset="-122"/>
              </a:endParaRPr>
            </a:p>
          </p:txBody>
        </p:sp>
      </p:grpSp>
      <p:sp>
        <p:nvSpPr>
          <p:cNvPr id="40" name="文本框 39"/>
          <p:cNvSpPr txBox="1"/>
          <p:nvPr/>
        </p:nvSpPr>
        <p:spPr>
          <a:xfrm>
            <a:off x="569673" y="5433879"/>
            <a:ext cx="6204743" cy="458908"/>
          </a:xfrm>
          <a:prstGeom prst="rect">
            <a:avLst/>
          </a:prstGeom>
          <a:noFill/>
        </p:spPr>
        <p:txBody>
          <a:bodyPr wrap="square">
            <a:spAutoFit/>
          </a:bodyPr>
          <a:lstStyle/>
          <a:p>
            <a:pPr lvl="0">
              <a:lnSpc>
                <a:spcPct val="150000"/>
              </a:lnSpc>
              <a:defRPr/>
            </a:pPr>
            <a:r>
              <a:rPr lang="en-US" altLang="zh-CN" dirty="0">
                <a:solidFill>
                  <a:schemeClr val="tx1">
                    <a:alpha val="85000"/>
                  </a:schemeClr>
                </a:solidFill>
                <a:latin typeface="Microsoft YaHei" pitchFamily="34" charset="-122"/>
                <a:ea typeface="Microsoft YaHei" pitchFamily="34" charset="-122"/>
              </a:rPr>
              <a:t>【</a:t>
            </a:r>
            <a:r>
              <a:rPr lang="zh-CN" altLang="en-US" dirty="0">
                <a:solidFill>
                  <a:schemeClr val="tx1">
                    <a:alpha val="85000"/>
                  </a:schemeClr>
                </a:solidFill>
                <a:latin typeface="Microsoft YaHei" pitchFamily="34" charset="-122"/>
                <a:ea typeface="Microsoft YaHei" pitchFamily="34" charset="-122"/>
              </a:rPr>
              <a:t>方法论</a:t>
            </a:r>
            <a:r>
              <a:rPr lang="en-US" altLang="zh-CN" dirty="0">
                <a:solidFill>
                  <a:schemeClr val="tx1">
                    <a:alpha val="85000"/>
                  </a:schemeClr>
                </a:solidFill>
                <a:latin typeface="Microsoft YaHei" pitchFamily="34" charset="-122"/>
                <a:ea typeface="Microsoft YaHei" pitchFamily="34" charset="-122"/>
              </a:rPr>
              <a:t>】</a:t>
            </a:r>
            <a:r>
              <a:rPr lang="zh-CN" altLang="en-US" dirty="0">
                <a:solidFill>
                  <a:schemeClr val="tx1">
                    <a:alpha val="85000"/>
                  </a:schemeClr>
                </a:solidFill>
                <a:latin typeface="Microsoft YaHei" pitchFamily="34" charset="-122"/>
                <a:ea typeface="Microsoft YaHei" pitchFamily="34" charset="-122"/>
              </a:rPr>
              <a:t>主题串联、素材分发规则、分层流程</a:t>
            </a:r>
            <a:endParaRPr lang="en-US" altLang="zh-CN" dirty="0">
              <a:solidFill>
                <a:schemeClr val="tx1">
                  <a:alpha val="85000"/>
                </a:schemeClr>
              </a:solidFill>
              <a:latin typeface="Microsoft YaHei" pitchFamily="34" charset="-122"/>
              <a:ea typeface="Microsoft YaHei" pitchFamily="34" charset="-122"/>
            </a:endParaRPr>
          </a:p>
        </p:txBody>
      </p:sp>
      <p:sp>
        <p:nvSpPr>
          <p:cNvPr id="42" name="Rectangle 3"/>
          <p:cNvSpPr>
            <a:spLocks noChangeArrowheads="1"/>
          </p:cNvSpPr>
          <p:nvPr/>
        </p:nvSpPr>
        <p:spPr bwMode="auto">
          <a:xfrm>
            <a:off x="656929" y="1402962"/>
            <a:ext cx="4956643" cy="2019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4264" rIns="0" bIns="114264"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zh-CN" altLang="zh-CN" sz="1600" u="none" strike="noStrike" cap="none" normalizeH="0" baseline="0" dirty="0">
              <a:ln>
                <a:noFill/>
              </a:ln>
              <a:solidFill>
                <a:srgbClr val="FCFFFB"/>
              </a:solidFill>
              <a:effectLst/>
              <a:latin typeface="Microsoft YaHei" pitchFamily="34" charset="-122"/>
              <a:ea typeface="Microsoft YaHei" pitchFamily="34" charset="-122"/>
            </a:endParaRPr>
          </a:p>
          <a:p>
            <a:pPr lvl="0" eaLnBrk="0" fontAlgn="base" hangingPunct="0">
              <a:lnSpc>
                <a:spcPct val="150000"/>
              </a:lnSpc>
              <a:spcBef>
                <a:spcPct val="0"/>
              </a:spcBef>
              <a:spcAft>
                <a:spcPct val="0"/>
              </a:spcAft>
              <a:buFontTx/>
              <a:buChar char="•"/>
            </a:pPr>
            <a:r>
              <a:rPr kumimoji="0" lang="zh-CN" altLang="zh-CN" sz="1600" u="none" strike="noStrike" cap="none" normalizeH="0" baseline="0" dirty="0">
                <a:ln>
                  <a:noFill/>
                </a:ln>
                <a:solidFill>
                  <a:srgbClr val="FCFFFB"/>
                </a:solidFill>
                <a:effectLst/>
                <a:latin typeface="Microsoft YaHei" pitchFamily="34" charset="-122"/>
                <a:ea typeface="Microsoft YaHei" pitchFamily="34" charset="-122"/>
              </a:rPr>
              <a:t>现状</a:t>
            </a:r>
            <a:r>
              <a:rPr lang="zh-CN" altLang="en-US" sz="1600" dirty="0">
                <a:solidFill>
                  <a:srgbClr val="FCFFFB"/>
                </a:solidFill>
                <a:latin typeface="Microsoft YaHei" pitchFamily="34" charset="-122"/>
                <a:ea typeface="Microsoft YaHei" pitchFamily="34" charset="-122"/>
              </a:rPr>
              <a:t>急需解决：</a:t>
            </a:r>
            <a:r>
              <a:rPr kumimoji="0" lang="zh-CN" altLang="zh-CN" sz="1600" u="none" strike="noStrike" cap="none" normalizeH="0" baseline="0" dirty="0">
                <a:ln>
                  <a:noFill/>
                </a:ln>
                <a:solidFill>
                  <a:srgbClr val="FCFFFB"/>
                </a:solidFill>
                <a:effectLst/>
                <a:latin typeface="Microsoft YaHei" pitchFamily="34" charset="-122"/>
                <a:ea typeface="Microsoft YaHei" pitchFamily="34" charset="-122"/>
              </a:rPr>
              <a:t>不同人群收到相同内容，匹配信任阶段与决策心理</a:t>
            </a:r>
            <a:endParaRPr kumimoji="0" lang="zh-CN" altLang="zh-CN" sz="1600" u="none" strike="noStrike" cap="none" normalizeH="0" baseline="0" dirty="0">
              <a:ln>
                <a:noFill/>
              </a:ln>
              <a:solidFill>
                <a:srgbClr val="FCFFFB"/>
              </a:solidFill>
              <a:effectLst/>
              <a:latin typeface="Microsoft YaHei" pitchFamily="34" charset="-122"/>
              <a:ea typeface="Microsoft YaHei" pitchFamily="34" charset="-122"/>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600" u="none" strike="noStrike" cap="none" normalizeH="0" baseline="0" dirty="0">
                <a:ln>
                  <a:noFill/>
                </a:ln>
                <a:solidFill>
                  <a:srgbClr val="FCFFFB"/>
                </a:solidFill>
                <a:effectLst/>
                <a:latin typeface="Microsoft YaHei" pitchFamily="34" charset="-122"/>
                <a:ea typeface="Microsoft YaHei" pitchFamily="34" charset="-122"/>
              </a:rPr>
              <a:t>机会点：新广告系统支持素材组动态权重，可实现</a:t>
            </a:r>
            <a:endParaRPr kumimoji="0" lang="en-US" altLang="zh-CN" sz="1600" u="none" strike="noStrike" cap="none" normalizeH="0" baseline="0" dirty="0">
              <a:ln>
                <a:noFill/>
              </a:ln>
              <a:solidFill>
                <a:srgbClr val="FCFFFB"/>
              </a:solidFill>
              <a:effectLst/>
              <a:latin typeface="Microsoft YaHei" pitchFamily="34" charset="-122"/>
              <a:ea typeface="Microsoft YaHei" pitchFamily="34" charset="-122"/>
            </a:endParaRPr>
          </a:p>
          <a:p>
            <a:pPr marL="0" marR="0" lvl="0" indent="0" algn="l" defTabSz="914400" rtl="0" eaLnBrk="0" fontAlgn="base" latinLnBrk="0" hangingPunct="0">
              <a:lnSpc>
                <a:spcPct val="150000"/>
              </a:lnSpc>
              <a:spcBef>
                <a:spcPct val="0"/>
              </a:spcBef>
              <a:spcAft>
                <a:spcPct val="0"/>
              </a:spcAft>
              <a:buClrTx/>
              <a:buSzTx/>
            </a:pPr>
            <a:r>
              <a:rPr kumimoji="0" lang="zh-CN" altLang="zh-CN" sz="1600" u="none" strike="noStrike" cap="none" normalizeH="0" baseline="0" dirty="0">
                <a:ln>
                  <a:noFill/>
                </a:ln>
                <a:solidFill>
                  <a:srgbClr val="FCFFFB"/>
                </a:solidFill>
                <a:effectLst/>
                <a:latin typeface="Microsoft YaHei" pitchFamily="34" charset="-122"/>
                <a:ea typeface="Microsoft YaHei" pitchFamily="34" charset="-122"/>
              </a:rPr>
              <a:t>“同一主题 + 分资源位差异化优先级”</a:t>
            </a:r>
            <a:endParaRPr kumimoji="0" lang="zh-CN" altLang="zh-CN" sz="1600" u="none" strike="noStrike" cap="none" normalizeH="0" baseline="0" dirty="0">
              <a:ln>
                <a:noFill/>
              </a:ln>
              <a:solidFill>
                <a:srgbClr val="FCFFFB"/>
              </a:solidFill>
              <a:effectLst/>
              <a:latin typeface="Microsoft YaHei" pitchFamily="34" charset="-122"/>
              <a:ea typeface="Microsoft YaHei" pitchFamily="34" charset="-122"/>
            </a:endParaRPr>
          </a:p>
        </p:txBody>
      </p:sp>
      <p:sp>
        <p:nvSpPr>
          <p:cNvPr id="43" name="圆角矩形 42"/>
          <p:cNvSpPr/>
          <p:nvPr/>
        </p:nvSpPr>
        <p:spPr>
          <a:xfrm>
            <a:off x="578069" y="4608666"/>
            <a:ext cx="1453796" cy="652200"/>
          </a:xfrm>
          <a:prstGeom prst="roundRect">
            <a:avLst>
              <a:gd name="adj" fmla="val 50000"/>
            </a:avLst>
          </a:prstGeom>
          <a:gradFill>
            <a:gsLst>
              <a:gs pos="0">
                <a:srgbClr val="D60615"/>
              </a:gs>
              <a:gs pos="50000">
                <a:schemeClr val="accent3"/>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CFFFB"/>
                </a:solidFill>
                <a:latin typeface="Microsoft YaHei" pitchFamily="34" charset="-122"/>
                <a:ea typeface="Microsoft YaHei" pitchFamily="34" charset="-122"/>
              </a:rPr>
              <a:t>按人群阶段定主题</a:t>
            </a:r>
            <a:endParaRPr kumimoji="1" lang="zh-CN" altLang="en-US" sz="1600" dirty="0">
              <a:solidFill>
                <a:srgbClr val="FCFFFB"/>
              </a:solidFill>
              <a:latin typeface="Microsoft YaHei" pitchFamily="34" charset="-122"/>
              <a:ea typeface="Microsoft YaHei" pitchFamily="34" charset="-122"/>
            </a:endParaRPr>
          </a:p>
        </p:txBody>
      </p:sp>
      <p:sp>
        <p:nvSpPr>
          <p:cNvPr id="46" name="圆角矩形 45"/>
          <p:cNvSpPr/>
          <p:nvPr/>
        </p:nvSpPr>
        <p:spPr>
          <a:xfrm>
            <a:off x="2305462" y="4587770"/>
            <a:ext cx="1628635" cy="680258"/>
          </a:xfrm>
          <a:prstGeom prst="roundRect">
            <a:avLst>
              <a:gd name="adj" fmla="val 50000"/>
            </a:avLst>
          </a:prstGeom>
          <a:gradFill>
            <a:gsLst>
              <a:gs pos="0">
                <a:srgbClr val="D60615"/>
              </a:gs>
              <a:gs pos="50000">
                <a:schemeClr val="accent3"/>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rgbClr val="FCFFFB"/>
                </a:solidFill>
                <a:latin typeface="Microsoft YaHei" pitchFamily="34" charset="-122"/>
                <a:ea typeface="Microsoft YaHei" pitchFamily="34" charset="-122"/>
              </a:rPr>
              <a:t>按主题串联所有资源位</a:t>
            </a:r>
            <a:endParaRPr lang="en-US" altLang="zh-CN" sz="1600" dirty="0">
              <a:solidFill>
                <a:srgbClr val="FCFFFB"/>
              </a:solidFill>
              <a:latin typeface="Microsoft YaHei" pitchFamily="34" charset="-122"/>
              <a:ea typeface="Microsoft YaHei" pitchFamily="34" charset="-122"/>
            </a:endParaRPr>
          </a:p>
        </p:txBody>
      </p:sp>
      <p:sp>
        <p:nvSpPr>
          <p:cNvPr id="48" name="圆角矩形 47"/>
          <p:cNvSpPr/>
          <p:nvPr/>
        </p:nvSpPr>
        <p:spPr>
          <a:xfrm>
            <a:off x="4207694" y="4581956"/>
            <a:ext cx="1628143" cy="680258"/>
          </a:xfrm>
          <a:prstGeom prst="roundRect">
            <a:avLst>
              <a:gd name="adj" fmla="val 50000"/>
            </a:avLst>
          </a:prstGeom>
          <a:gradFill>
            <a:gsLst>
              <a:gs pos="0">
                <a:srgbClr val="D60615"/>
              </a:gs>
              <a:gs pos="50000">
                <a:schemeClr val="accent3"/>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CN" altLang="en-US" sz="1600" dirty="0">
                <a:solidFill>
                  <a:srgbClr val="FCFFFB"/>
                </a:solidFill>
                <a:latin typeface="Microsoft YaHei" pitchFamily="34" charset="-122"/>
                <a:ea typeface="Microsoft YaHei" pitchFamily="34" charset="-122"/>
              </a:rPr>
              <a:t>同主题资源位联动分层</a:t>
            </a:r>
            <a:endParaRPr lang="en-US" altLang="zh-CN" sz="1600" dirty="0">
              <a:solidFill>
                <a:srgbClr val="FCFFFB"/>
              </a:solidFill>
              <a:latin typeface="Microsoft YaHei" pitchFamily="34" charset="-122"/>
              <a:ea typeface="Microsoft YaHei" pitchFamily="34" charset="-122"/>
            </a:endParaRPr>
          </a:p>
        </p:txBody>
      </p:sp>
      <p:sp>
        <p:nvSpPr>
          <p:cNvPr id="49" name="燕尾形 48"/>
          <p:cNvSpPr/>
          <p:nvPr/>
        </p:nvSpPr>
        <p:spPr>
          <a:xfrm>
            <a:off x="2012156" y="4744427"/>
            <a:ext cx="276977" cy="417454"/>
          </a:xfrm>
          <a:prstGeom prst="chevron">
            <a:avLst/>
          </a:prstGeom>
          <a:gradFill>
            <a:gsLst>
              <a:gs pos="0">
                <a:srgbClr val="D60615"/>
              </a:gs>
              <a:gs pos="50000">
                <a:schemeClr val="accent3"/>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CFFFB"/>
              </a:solidFill>
              <a:latin typeface="Microsoft YaHei" pitchFamily="34" charset="-122"/>
              <a:ea typeface="Microsoft YaHei" pitchFamily="34" charset="-122"/>
            </a:endParaRPr>
          </a:p>
        </p:txBody>
      </p:sp>
      <p:sp>
        <p:nvSpPr>
          <p:cNvPr id="60" name="燕尾形 59"/>
          <p:cNvSpPr/>
          <p:nvPr/>
        </p:nvSpPr>
        <p:spPr>
          <a:xfrm>
            <a:off x="3933012" y="4744427"/>
            <a:ext cx="276977" cy="417454"/>
          </a:xfrm>
          <a:prstGeom prst="chevron">
            <a:avLst/>
          </a:prstGeom>
          <a:gradFill>
            <a:gsLst>
              <a:gs pos="0">
                <a:srgbClr val="D60615"/>
              </a:gs>
              <a:gs pos="50000">
                <a:schemeClr val="accent3"/>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FCFFFB"/>
              </a:solidFill>
              <a:latin typeface="Microsoft YaHei" pitchFamily="34" charset="-122"/>
              <a:ea typeface="Microsoft YaHei"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20554" y="4739951"/>
            <a:ext cx="10632467" cy="951722"/>
          </a:xfrm>
          <a:prstGeom prst="roundRect">
            <a:avLst/>
          </a:prstGeom>
          <a:solidFill>
            <a:schemeClr val="accent1">
              <a:alpha val="1262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grpSp>
        <p:nvGrpSpPr>
          <p:cNvPr id="30" name="组合 29"/>
          <p:cNvGrpSpPr/>
          <p:nvPr/>
        </p:nvGrpSpPr>
        <p:grpSpPr>
          <a:xfrm>
            <a:off x="567922" y="1394872"/>
            <a:ext cx="3461416" cy="3102483"/>
            <a:chOff x="695324" y="3677177"/>
            <a:chExt cx="3461416" cy="3436254"/>
          </a:xfrm>
        </p:grpSpPr>
        <p:sp>
          <p:nvSpPr>
            <p:cNvPr id="31" name="矩形 30"/>
            <p:cNvSpPr/>
            <p:nvPr/>
          </p:nvSpPr>
          <p:spPr>
            <a:xfrm>
              <a:off x="695324" y="3721216"/>
              <a:ext cx="3461416" cy="33922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lumMod val="95000"/>
                  </a:prstClr>
                </a:solidFill>
                <a:effectLst/>
                <a:uLnTx/>
                <a:uFillTx/>
                <a:latin typeface="Microsoft YaHei" pitchFamily="34" charset="-122"/>
                <a:ea typeface="Microsoft YaHei" pitchFamily="34" charset="-122"/>
              </a:endParaRPr>
            </a:p>
          </p:txBody>
        </p:sp>
        <p:sp>
          <p:nvSpPr>
            <p:cNvPr id="32" name="文本框 31"/>
            <p:cNvSpPr txBox="1"/>
            <p:nvPr/>
          </p:nvSpPr>
          <p:spPr>
            <a:xfrm>
              <a:off x="784353" y="4436142"/>
              <a:ext cx="3185487" cy="1543227"/>
            </a:xfrm>
            <a:prstGeom prst="rect">
              <a:avLst/>
            </a:prstGeom>
            <a:noFill/>
          </p:spPr>
          <p:txBody>
            <a:bodyPr wrap="none">
              <a:spAutoFit/>
            </a:bodyPr>
            <a:lstStyle/>
            <a:p>
              <a:pPr lvl="0">
                <a:lnSpc>
                  <a:spcPct val="120000"/>
                </a:lnSpc>
                <a:defRPr/>
              </a:pPr>
              <a:r>
                <a:rPr lang="zh-CN" altLang="en-US" dirty="0">
                  <a:latin typeface="Microsoft YaHei" pitchFamily="34" charset="-122"/>
                  <a:ea typeface="Microsoft YaHei" pitchFamily="34" charset="-122"/>
                </a:rPr>
                <a:t>切入点：调整素材组漏斗</a:t>
              </a:r>
              <a:endParaRPr lang="en-US" altLang="zh-CN" dirty="0">
                <a:latin typeface="Microsoft YaHei" pitchFamily="34" charset="-122"/>
                <a:ea typeface="Microsoft YaHei" pitchFamily="34" charset="-122"/>
              </a:endParaRPr>
            </a:p>
            <a:p>
              <a:pPr lvl="0">
                <a:lnSpc>
                  <a:spcPct val="120000"/>
                </a:lnSpc>
                <a:defRPr/>
              </a:pPr>
              <a:r>
                <a:rPr lang="zh-CN" altLang="en-US" dirty="0">
                  <a:latin typeface="Microsoft YaHei" pitchFamily="34" charset="-122"/>
                  <a:ea typeface="Microsoft YaHei" pitchFamily="34" charset="-122"/>
                </a:rPr>
                <a:t>关键动作：基于新广告系统，</a:t>
              </a:r>
              <a:endParaRPr lang="en-US" altLang="zh-CN" dirty="0">
                <a:latin typeface="Microsoft YaHei" pitchFamily="34" charset="-122"/>
                <a:ea typeface="Microsoft YaHei" pitchFamily="34" charset="-122"/>
              </a:endParaRPr>
            </a:p>
            <a:p>
              <a:pPr lvl="0">
                <a:lnSpc>
                  <a:spcPct val="120000"/>
                </a:lnSpc>
                <a:defRPr/>
              </a:pPr>
              <a:r>
                <a:rPr lang="zh-CN" altLang="en-US" dirty="0">
                  <a:latin typeface="Microsoft YaHei" pitchFamily="34" charset="-122"/>
                  <a:ea typeface="Microsoft YaHei" pitchFamily="34" charset="-122"/>
                </a:rPr>
                <a:t>从健康品切入，按资源位首推</a:t>
              </a:r>
              <a:endParaRPr lang="en-US" altLang="zh-CN" dirty="0">
                <a:latin typeface="Microsoft YaHei" pitchFamily="34" charset="-122"/>
                <a:ea typeface="Microsoft YaHei" pitchFamily="34" charset="-122"/>
              </a:endParaRPr>
            </a:p>
            <a:p>
              <a:pPr lvl="0">
                <a:lnSpc>
                  <a:spcPct val="120000"/>
                </a:lnSpc>
                <a:defRPr/>
              </a:pPr>
              <a:r>
                <a:rPr lang="zh-CN" altLang="en-US" dirty="0">
                  <a:latin typeface="Microsoft YaHei" pitchFamily="34" charset="-122"/>
                  <a:ea typeface="Microsoft YaHei" pitchFamily="34" charset="-122"/>
                </a:rPr>
                <a:t>品类分配曝光权重</a:t>
              </a:r>
              <a:endParaRPr kumimoji="0" lang="zh-CN" altLang="en-US" sz="1600" u="none" strike="noStrike" kern="1200" cap="none" spc="0" normalizeH="0" baseline="0" noProof="0" dirty="0">
                <a:ln>
                  <a:noFill/>
                </a:ln>
                <a:solidFill>
                  <a:schemeClr val="tx2"/>
                </a:solidFill>
                <a:effectLst/>
                <a:uLnTx/>
                <a:uFillTx/>
                <a:latin typeface="Microsoft YaHei" pitchFamily="34" charset="-122"/>
                <a:ea typeface="Microsoft YaHei" pitchFamily="34" charset="-122"/>
              </a:endParaRPr>
            </a:p>
          </p:txBody>
        </p:sp>
        <p:sp>
          <p:nvSpPr>
            <p:cNvPr id="37" name="矩形 36"/>
            <p:cNvSpPr/>
            <p:nvPr/>
          </p:nvSpPr>
          <p:spPr>
            <a:xfrm>
              <a:off x="695324" y="3677177"/>
              <a:ext cx="3461416" cy="584628"/>
            </a:xfrm>
            <a:prstGeom prst="rect">
              <a:avLst/>
            </a:prstGeom>
            <a:solidFill>
              <a:schemeClr val="accent6"/>
            </a:solidFill>
            <a:ln>
              <a:solidFill>
                <a:srgbClr val="BE929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prstClr val="white">
                    <a:lumMod val="95000"/>
                  </a:prstClr>
                </a:solidFill>
                <a:effectLst/>
                <a:uLnTx/>
                <a:uFillTx/>
                <a:latin typeface="Microsoft YaHei" pitchFamily="34" charset="-122"/>
                <a:ea typeface="Microsoft YaHei" pitchFamily="34" charset="-122"/>
              </a:endParaRPr>
            </a:p>
          </p:txBody>
        </p:sp>
        <p:sp>
          <p:nvSpPr>
            <p:cNvPr id="38" name="文本框 37"/>
            <p:cNvSpPr txBox="1"/>
            <p:nvPr/>
          </p:nvSpPr>
          <p:spPr>
            <a:xfrm>
              <a:off x="784353" y="3803117"/>
              <a:ext cx="2515432" cy="409065"/>
            </a:xfrm>
            <a:prstGeom prst="rect">
              <a:avLst/>
            </a:prstGeom>
            <a:noFill/>
          </p:spPr>
          <p:txBody>
            <a:bodyPr wrap="none">
              <a:spAutoFit/>
            </a:bodyPr>
            <a:lstStyle/>
            <a:p>
              <a:pPr>
                <a:defRPr/>
              </a:pPr>
              <a:r>
                <a:rPr lang="zh-CN" altLang="en-US" dirty="0">
                  <a:solidFill>
                    <a:prstClr val="white"/>
                  </a:solidFill>
                  <a:latin typeface="Microsoft YaHei" pitchFamily="34" charset="-122"/>
                  <a:ea typeface="Microsoft YaHei" pitchFamily="34" charset="-122"/>
                </a:rPr>
                <a:t>第一阶段（</a:t>
              </a:r>
              <a:r>
                <a:rPr lang="en-US" altLang="zh-CN" dirty="0">
                  <a:solidFill>
                    <a:prstClr val="white"/>
                  </a:solidFill>
                  <a:latin typeface="Microsoft YaHei" pitchFamily="34" charset="-122"/>
                  <a:ea typeface="Microsoft YaHei" pitchFamily="34" charset="-122"/>
                </a:rPr>
                <a:t>4.9-4.19</a:t>
              </a:r>
              <a:r>
                <a:rPr lang="zh-CN" altLang="en-US" dirty="0">
                  <a:solidFill>
                    <a:prstClr val="white"/>
                  </a:solidFill>
                  <a:latin typeface="Microsoft YaHei" pitchFamily="34" charset="-122"/>
                  <a:ea typeface="Microsoft YaHei" pitchFamily="34" charset="-122"/>
                </a:rPr>
                <a:t>）</a:t>
              </a:r>
              <a:endPar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endParaRPr>
            </a:p>
          </p:txBody>
        </p:sp>
        <p:pic>
          <p:nvPicPr>
            <p:cNvPr id="39" name="图形 3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386847" y="3744792"/>
              <a:ext cx="419332" cy="419332"/>
            </a:xfrm>
            <a:prstGeom prst="rect">
              <a:avLst/>
            </a:prstGeom>
          </p:spPr>
        </p:pic>
      </p:grpSp>
      <p:grpSp>
        <p:nvGrpSpPr>
          <p:cNvPr id="40" name="组合 39"/>
          <p:cNvGrpSpPr/>
          <p:nvPr/>
        </p:nvGrpSpPr>
        <p:grpSpPr>
          <a:xfrm>
            <a:off x="4237890" y="1394872"/>
            <a:ext cx="3461416" cy="3102483"/>
            <a:chOff x="4365292" y="3677177"/>
            <a:chExt cx="3461416" cy="3436254"/>
          </a:xfrm>
        </p:grpSpPr>
        <p:sp>
          <p:nvSpPr>
            <p:cNvPr id="41" name="矩形 40"/>
            <p:cNvSpPr/>
            <p:nvPr/>
          </p:nvSpPr>
          <p:spPr>
            <a:xfrm>
              <a:off x="4365292" y="3721216"/>
              <a:ext cx="3461416" cy="33922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lumMod val="95000"/>
                  </a:prstClr>
                </a:solidFill>
                <a:effectLst/>
                <a:uLnTx/>
                <a:uFillTx/>
                <a:latin typeface="Microsoft YaHei" pitchFamily="34" charset="-122"/>
                <a:ea typeface="Microsoft YaHei" pitchFamily="34" charset="-122"/>
              </a:endParaRPr>
            </a:p>
          </p:txBody>
        </p:sp>
        <p:sp>
          <p:nvSpPr>
            <p:cNvPr id="42" name="文本框 41"/>
            <p:cNvSpPr txBox="1"/>
            <p:nvPr/>
          </p:nvSpPr>
          <p:spPr>
            <a:xfrm>
              <a:off x="4454320" y="4441845"/>
              <a:ext cx="3280142" cy="15437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u="none" strike="noStrike" kern="1200" cap="none" spc="0" normalizeH="0" baseline="0" noProof="0" dirty="0">
                  <a:ln>
                    <a:noFill/>
                  </a:ln>
                  <a:solidFill>
                    <a:schemeClr val="tx2"/>
                  </a:solidFill>
                  <a:effectLst/>
                  <a:uLnTx/>
                  <a:uFillTx/>
                  <a:latin typeface="Microsoft YaHei" pitchFamily="34" charset="-122"/>
                  <a:ea typeface="Microsoft YaHei" pitchFamily="34" charset="-122"/>
                </a:rPr>
                <a:t>切入点：人群分层</a:t>
              </a:r>
              <a:endParaRPr kumimoji="0" lang="en-US" altLang="zh-CN" u="none" strike="noStrike" kern="1200" cap="none" spc="0" normalizeH="0" baseline="0" noProof="0" dirty="0">
                <a:ln>
                  <a:noFill/>
                </a:ln>
                <a:solidFill>
                  <a:schemeClr val="tx2"/>
                </a:solidFill>
                <a:effectLst/>
                <a:uLnTx/>
                <a:uFillTx/>
                <a:latin typeface="Microsoft YaHei" pitchFamily="34" charset="-122"/>
                <a:ea typeface="Microsoft YaHei" pitchFamily="34" charset="-122"/>
              </a:endParaRPr>
            </a:p>
            <a:p>
              <a:pPr lvl="0">
                <a:lnSpc>
                  <a:spcPct val="120000"/>
                </a:lnSpc>
                <a:defRPr/>
              </a:pPr>
              <a:r>
                <a:rPr lang="zh-CN" altLang="en-US" dirty="0">
                  <a:solidFill>
                    <a:schemeClr val="tx2"/>
                  </a:solidFill>
                  <a:latin typeface="Microsoft YaHei" pitchFamily="34" charset="-122"/>
                  <a:ea typeface="Microsoft YaHei" pitchFamily="34" charset="-122"/>
                </a:rPr>
                <a:t>关键动作：完成素材人群分层</a:t>
              </a:r>
              <a:endParaRPr lang="en-US" altLang="zh-CN" dirty="0">
                <a:solidFill>
                  <a:schemeClr val="tx2"/>
                </a:solidFill>
                <a:latin typeface="Microsoft YaHei" pitchFamily="34" charset="-122"/>
                <a:ea typeface="Microsoft YaHei" pitchFamily="3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lang="zh-CN" altLang="en-US" dirty="0">
                  <a:solidFill>
                    <a:schemeClr val="tx2"/>
                  </a:solidFill>
                  <a:latin typeface="Microsoft YaHei" pitchFamily="34" charset="-122"/>
                  <a:ea typeface="Microsoft YaHei" pitchFamily="34" charset="-122"/>
                </a:rPr>
                <a:t>（新</a:t>
              </a:r>
              <a:r>
                <a:rPr lang="en-US" altLang="zh-CN" dirty="0">
                  <a:solidFill>
                    <a:schemeClr val="tx2"/>
                  </a:solidFill>
                  <a:latin typeface="Microsoft YaHei" pitchFamily="34" charset="-122"/>
                  <a:ea typeface="Microsoft YaHei" pitchFamily="34" charset="-122"/>
                </a:rPr>
                <a:t>/</a:t>
              </a:r>
              <a:r>
                <a:rPr lang="zh-CN" altLang="en-US" dirty="0">
                  <a:solidFill>
                    <a:schemeClr val="tx2"/>
                  </a:solidFill>
                  <a:latin typeface="Microsoft YaHei" pitchFamily="34" charset="-122"/>
                  <a:ea typeface="Microsoft YaHei" pitchFamily="34" charset="-122"/>
                </a:rPr>
                <a:t>老</a:t>
              </a:r>
              <a:r>
                <a:rPr lang="en-US" altLang="zh-CN" dirty="0">
                  <a:solidFill>
                    <a:schemeClr val="tx2"/>
                  </a:solidFill>
                  <a:latin typeface="Microsoft YaHei" pitchFamily="34" charset="-122"/>
                  <a:ea typeface="Microsoft YaHei" pitchFamily="34" charset="-122"/>
                </a:rPr>
                <a:t>+</a:t>
              </a:r>
              <a:r>
                <a:rPr lang="zh-CN" altLang="en-US" dirty="0">
                  <a:solidFill>
                    <a:schemeClr val="tx2"/>
                  </a:solidFill>
                  <a:latin typeface="Microsoft YaHei" pitchFamily="34" charset="-122"/>
                  <a:ea typeface="Microsoft YaHei" pitchFamily="34" charset="-122"/>
                </a:rPr>
                <a:t>场景动机等），实现素材场景化</a:t>
              </a:r>
              <a:endParaRPr kumimoji="0" lang="zh-CN" altLang="en-US" u="none" strike="noStrike" kern="1200" cap="none" spc="0" normalizeH="0" baseline="0" noProof="0" dirty="0">
                <a:ln>
                  <a:noFill/>
                </a:ln>
                <a:solidFill>
                  <a:schemeClr val="tx2"/>
                </a:solidFill>
                <a:effectLst/>
                <a:uLnTx/>
                <a:uFillTx/>
                <a:latin typeface="Microsoft YaHei" pitchFamily="34" charset="-122"/>
                <a:ea typeface="Microsoft YaHei" pitchFamily="34" charset="-122"/>
              </a:endParaRPr>
            </a:p>
          </p:txBody>
        </p:sp>
        <p:sp>
          <p:nvSpPr>
            <p:cNvPr id="47" name="矩形 46"/>
            <p:cNvSpPr/>
            <p:nvPr/>
          </p:nvSpPr>
          <p:spPr>
            <a:xfrm>
              <a:off x="4365292" y="3677177"/>
              <a:ext cx="3461416" cy="58462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lumMod val="95000"/>
                  </a:prstClr>
                </a:solidFill>
                <a:effectLst/>
                <a:uLnTx/>
                <a:uFillTx/>
                <a:latin typeface="Microsoft YaHei" pitchFamily="34" charset="-122"/>
                <a:ea typeface="Microsoft YaHei" pitchFamily="34" charset="-122"/>
              </a:endParaRPr>
            </a:p>
          </p:txBody>
        </p:sp>
        <p:sp>
          <p:nvSpPr>
            <p:cNvPr id="48" name="文本框 47"/>
            <p:cNvSpPr txBox="1"/>
            <p:nvPr/>
          </p:nvSpPr>
          <p:spPr>
            <a:xfrm>
              <a:off x="4454320" y="3803117"/>
              <a:ext cx="2727029" cy="409065"/>
            </a:xfrm>
            <a:prstGeom prst="rect">
              <a:avLst/>
            </a:prstGeom>
            <a:noFill/>
          </p:spPr>
          <p:txBody>
            <a:bodyPr wrap="none">
              <a:spAutoFit/>
            </a:bodyPr>
            <a:lstStyle/>
            <a:p>
              <a:pPr>
                <a:defRPr/>
              </a:pPr>
              <a:r>
                <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第二阶段（ </a:t>
              </a:r>
              <a:r>
                <a:rPr kumimoji="0" lang="en-US" altLang="zh-CN"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4.20-4.26</a:t>
              </a:r>
              <a:r>
                <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a:t>
              </a:r>
              <a:endPar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endParaRPr>
            </a:p>
          </p:txBody>
        </p:sp>
        <p:pic>
          <p:nvPicPr>
            <p:cNvPr id="49" name="图形 4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17929" y="3735499"/>
              <a:ext cx="467988" cy="467984"/>
            </a:xfrm>
            <a:prstGeom prst="rect">
              <a:avLst/>
            </a:prstGeom>
          </p:spPr>
        </p:pic>
      </p:grpSp>
      <p:grpSp>
        <p:nvGrpSpPr>
          <p:cNvPr id="50" name="组合 49"/>
          <p:cNvGrpSpPr/>
          <p:nvPr/>
        </p:nvGrpSpPr>
        <p:grpSpPr>
          <a:xfrm>
            <a:off x="7907858" y="1394872"/>
            <a:ext cx="3461416" cy="3102483"/>
            <a:chOff x="8035260" y="3677177"/>
            <a:chExt cx="3461416" cy="3436254"/>
          </a:xfrm>
        </p:grpSpPr>
        <p:sp>
          <p:nvSpPr>
            <p:cNvPr id="51" name="矩形 50"/>
            <p:cNvSpPr/>
            <p:nvPr/>
          </p:nvSpPr>
          <p:spPr>
            <a:xfrm>
              <a:off x="8035260" y="3721216"/>
              <a:ext cx="3461416" cy="33922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lumMod val="95000"/>
                  </a:prstClr>
                </a:solidFill>
                <a:effectLst/>
                <a:uLnTx/>
                <a:uFillTx/>
                <a:latin typeface="Microsoft YaHei" pitchFamily="34" charset="-122"/>
                <a:ea typeface="Microsoft YaHei" pitchFamily="34" charset="-122"/>
              </a:endParaRPr>
            </a:p>
          </p:txBody>
        </p:sp>
        <p:sp>
          <p:nvSpPr>
            <p:cNvPr id="52" name="文本框 51"/>
            <p:cNvSpPr txBox="1"/>
            <p:nvPr/>
          </p:nvSpPr>
          <p:spPr>
            <a:xfrm>
              <a:off x="8115527" y="4436142"/>
              <a:ext cx="3376257" cy="1543724"/>
            </a:xfrm>
            <a:prstGeom prst="rect">
              <a:avLst/>
            </a:prstGeom>
            <a:noFill/>
          </p:spPr>
          <p:txBody>
            <a:bodyPr wrap="square">
              <a:spAutoFit/>
            </a:bodyPr>
            <a:lstStyle/>
            <a:p>
              <a:pPr lvl="0">
                <a:lnSpc>
                  <a:spcPct val="120000"/>
                </a:lnSpc>
                <a:defRPr/>
              </a:pPr>
              <a:r>
                <a:rPr lang="zh-CN" altLang="en-US" dirty="0">
                  <a:solidFill>
                    <a:schemeClr val="tx2"/>
                  </a:solidFill>
                  <a:latin typeface="Microsoft YaHei" pitchFamily="34" charset="-122"/>
                  <a:ea typeface="Microsoft YaHei" pitchFamily="34" charset="-122"/>
                </a:rPr>
                <a:t>切入点：规模化扩品</a:t>
              </a:r>
              <a:endParaRPr lang="en-US" altLang="zh-CN" dirty="0">
                <a:solidFill>
                  <a:schemeClr val="tx2"/>
                </a:solidFill>
                <a:latin typeface="Microsoft YaHei" pitchFamily="34" charset="-122"/>
                <a:ea typeface="Microsoft YaHei" pitchFamily="34" charset="-122"/>
              </a:endParaRPr>
            </a:p>
            <a:p>
              <a:pPr lvl="0">
                <a:lnSpc>
                  <a:spcPct val="120000"/>
                </a:lnSpc>
                <a:defRPr/>
              </a:pPr>
              <a:r>
                <a:rPr lang="zh-CN" altLang="en-US" dirty="0">
                  <a:latin typeface="Microsoft YaHei" pitchFamily="34" charset="-122"/>
                  <a:ea typeface="Microsoft YaHei" pitchFamily="34" charset="-122"/>
                </a:rPr>
                <a:t>关键动作：实现多资源位联动用户分层闭环，</a:t>
              </a:r>
              <a:r>
                <a:rPr lang="zh-CN" altLang="en-US" dirty="0">
                  <a:solidFill>
                    <a:schemeClr val="tx2"/>
                  </a:solidFill>
                  <a:latin typeface="Microsoft YaHei" pitchFamily="34" charset="-122"/>
                  <a:ea typeface="Microsoft YaHei" pitchFamily="34" charset="-122"/>
                </a:rPr>
                <a:t>沉淀稳定推广策略</a:t>
              </a:r>
              <a:endParaRPr lang="en-US" altLang="zh-CN" dirty="0">
                <a:solidFill>
                  <a:schemeClr val="tx2"/>
                </a:solidFill>
                <a:latin typeface="Microsoft YaHei" pitchFamily="34" charset="-122"/>
                <a:ea typeface="Microsoft YaHei" pitchFamily="34" charset="-122"/>
              </a:endParaRPr>
            </a:p>
          </p:txBody>
        </p:sp>
        <p:sp>
          <p:nvSpPr>
            <p:cNvPr id="57" name="矩形 56"/>
            <p:cNvSpPr/>
            <p:nvPr/>
          </p:nvSpPr>
          <p:spPr>
            <a:xfrm>
              <a:off x="8035260" y="3677177"/>
              <a:ext cx="3461416" cy="58462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lumMod val="95000"/>
                  </a:prstClr>
                </a:solidFill>
                <a:effectLst/>
                <a:uLnTx/>
                <a:uFillTx/>
                <a:latin typeface="Microsoft YaHei" pitchFamily="34" charset="-122"/>
                <a:ea typeface="Microsoft YaHei" pitchFamily="34" charset="-122"/>
              </a:endParaRPr>
            </a:p>
          </p:txBody>
        </p:sp>
        <p:sp>
          <p:nvSpPr>
            <p:cNvPr id="58" name="文本框 57"/>
            <p:cNvSpPr txBox="1"/>
            <p:nvPr/>
          </p:nvSpPr>
          <p:spPr>
            <a:xfrm>
              <a:off x="8124288" y="3803117"/>
              <a:ext cx="2363147" cy="409065"/>
            </a:xfrm>
            <a:prstGeom prst="rect">
              <a:avLst/>
            </a:prstGeom>
            <a:noFill/>
          </p:spPr>
          <p:txBody>
            <a:bodyPr wrap="none">
              <a:spAutoFit/>
            </a:bodyPr>
            <a:lstStyle/>
            <a:p>
              <a:pPr>
                <a:defRPr/>
              </a:pPr>
              <a:r>
                <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第三阶段（ </a:t>
              </a:r>
              <a:r>
                <a:rPr kumimoji="0" lang="en-US" altLang="zh-CN"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4.27</a:t>
              </a:r>
              <a:r>
                <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rPr>
                <a:t>起）</a:t>
              </a:r>
              <a:endParaRPr kumimoji="0" lang="zh-CN" altLang="en-US" sz="1800" u="none" strike="noStrike" kern="1200" cap="none" spc="0" normalizeH="0" baseline="0" noProof="0" dirty="0">
                <a:ln>
                  <a:noFill/>
                </a:ln>
                <a:solidFill>
                  <a:prstClr val="white"/>
                </a:solidFill>
                <a:effectLst/>
                <a:uLnTx/>
                <a:uFillTx/>
                <a:latin typeface="Microsoft YaHei" pitchFamily="34" charset="-122"/>
                <a:ea typeface="Microsoft YaHei" pitchFamily="34" charset="-122"/>
              </a:endParaRPr>
            </a:p>
          </p:txBody>
        </p:sp>
        <p:pic>
          <p:nvPicPr>
            <p:cNvPr id="59" name="图形 5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2435" y="3720466"/>
              <a:ext cx="467988" cy="467984"/>
            </a:xfrm>
            <a:prstGeom prst="rect">
              <a:avLst/>
            </a:prstGeom>
          </p:spPr>
        </p:pic>
      </p:grpSp>
      <p:sp>
        <p:nvSpPr>
          <p:cNvPr id="65" name="文本框 64"/>
          <p:cNvSpPr txBox="1"/>
          <p:nvPr/>
        </p:nvSpPr>
        <p:spPr>
          <a:xfrm>
            <a:off x="671690" y="3841346"/>
            <a:ext cx="3253879" cy="369332"/>
          </a:xfrm>
          <a:prstGeom prst="rect">
            <a:avLst/>
          </a:prstGeom>
          <a:noFill/>
        </p:spPr>
        <p:txBody>
          <a:bodyPr wrap="square" rtlCol="0">
            <a:spAutoFit/>
          </a:bodyPr>
          <a:lstStyle/>
          <a:p>
            <a:r>
              <a:rPr lang="zh-CN" altLang="en-GB" b="1" dirty="0">
                <a:latin typeface="Microsoft YaHei" pitchFamily="34" charset="-122"/>
                <a:ea typeface="Microsoft YaHei" pitchFamily="34" charset="-122"/>
              </a:rPr>
              <a:t>目标</a:t>
            </a:r>
            <a:r>
              <a:rPr lang="zh-CN" altLang="en-US" b="1" dirty="0">
                <a:latin typeface="Microsoft YaHei" pitchFamily="34" charset="-122"/>
                <a:ea typeface="Microsoft YaHei" pitchFamily="34" charset="-122"/>
              </a:rPr>
              <a:t>：</a:t>
            </a:r>
            <a:r>
              <a:rPr lang="en-GB" altLang="zh-CN" b="1" dirty="0">
                <a:latin typeface="Microsoft YaHei" pitchFamily="34" charset="-122"/>
                <a:ea typeface="Microsoft YaHei" pitchFamily="34" charset="-122"/>
              </a:rPr>
              <a:t>CTCVR</a:t>
            </a:r>
            <a:r>
              <a:rPr lang="zh-CN" altLang="en-US" b="1" dirty="0">
                <a:latin typeface="Microsoft YaHei" pitchFamily="34" charset="-122"/>
                <a:ea typeface="Microsoft YaHei" pitchFamily="34" charset="-122"/>
              </a:rPr>
              <a:t>提升</a:t>
            </a:r>
            <a:r>
              <a:rPr lang="en-US" altLang="zh-CN" b="1" dirty="0">
                <a:latin typeface="Microsoft YaHei" pitchFamily="34" charset="-122"/>
                <a:ea typeface="Microsoft YaHei" pitchFamily="34" charset="-122"/>
              </a:rPr>
              <a:t>10%</a:t>
            </a:r>
            <a:endParaRPr kumimoji="1" lang="zh-CN" altLang="en-US" b="1" dirty="0">
              <a:latin typeface="Microsoft YaHei" pitchFamily="34" charset="-122"/>
              <a:ea typeface="Microsoft YaHei" pitchFamily="34" charset="-122"/>
            </a:endParaRPr>
          </a:p>
        </p:txBody>
      </p:sp>
      <p:sp>
        <p:nvSpPr>
          <p:cNvPr id="66" name="文本框 65"/>
          <p:cNvSpPr txBox="1"/>
          <p:nvPr/>
        </p:nvSpPr>
        <p:spPr>
          <a:xfrm>
            <a:off x="4353181" y="3819819"/>
            <a:ext cx="3253879" cy="369332"/>
          </a:xfrm>
          <a:prstGeom prst="rect">
            <a:avLst/>
          </a:prstGeom>
          <a:noFill/>
        </p:spPr>
        <p:txBody>
          <a:bodyPr wrap="square" rtlCol="0">
            <a:spAutoFit/>
          </a:bodyPr>
          <a:lstStyle/>
          <a:p>
            <a:r>
              <a:rPr lang="zh-CN" altLang="en-GB" b="1" dirty="0">
                <a:latin typeface="Microsoft YaHei" pitchFamily="34" charset="-122"/>
                <a:ea typeface="Microsoft YaHei" pitchFamily="34" charset="-122"/>
              </a:rPr>
              <a:t>目标</a:t>
            </a:r>
            <a:r>
              <a:rPr lang="zh-CN" altLang="en-US" b="1" dirty="0">
                <a:latin typeface="Microsoft YaHei" pitchFamily="34" charset="-122"/>
                <a:ea typeface="Microsoft YaHei" pitchFamily="34" charset="-122"/>
              </a:rPr>
              <a:t>：</a:t>
            </a:r>
            <a:r>
              <a:rPr lang="en-GB" altLang="zh-CN" b="1" dirty="0">
                <a:latin typeface="Microsoft YaHei" pitchFamily="34" charset="-122"/>
                <a:ea typeface="Microsoft YaHei" pitchFamily="34" charset="-122"/>
              </a:rPr>
              <a:t>CTCVR</a:t>
            </a:r>
            <a:r>
              <a:rPr lang="zh-CN" altLang="en-US" b="1" dirty="0">
                <a:latin typeface="Microsoft YaHei" pitchFamily="34" charset="-122"/>
                <a:ea typeface="Microsoft YaHei" pitchFamily="34" charset="-122"/>
              </a:rPr>
              <a:t>提升</a:t>
            </a:r>
            <a:r>
              <a:rPr lang="en-US" altLang="zh-CN" b="1" dirty="0">
                <a:latin typeface="Microsoft YaHei" pitchFamily="34" charset="-122"/>
                <a:ea typeface="Microsoft YaHei" pitchFamily="34" charset="-122"/>
              </a:rPr>
              <a:t>20%</a:t>
            </a:r>
            <a:endParaRPr kumimoji="1" lang="zh-CN" altLang="en-US" b="1" dirty="0">
              <a:latin typeface="Microsoft YaHei" pitchFamily="34" charset="-122"/>
              <a:ea typeface="Microsoft YaHei" pitchFamily="34" charset="-122"/>
            </a:endParaRPr>
          </a:p>
        </p:txBody>
      </p:sp>
      <p:sp>
        <p:nvSpPr>
          <p:cNvPr id="67" name="文本框 66"/>
          <p:cNvSpPr txBox="1"/>
          <p:nvPr/>
        </p:nvSpPr>
        <p:spPr>
          <a:xfrm>
            <a:off x="7976283" y="3798093"/>
            <a:ext cx="3515501" cy="369332"/>
          </a:xfrm>
          <a:prstGeom prst="rect">
            <a:avLst/>
          </a:prstGeom>
          <a:noFill/>
        </p:spPr>
        <p:txBody>
          <a:bodyPr wrap="square" rtlCol="0">
            <a:spAutoFit/>
          </a:bodyPr>
          <a:lstStyle/>
          <a:p>
            <a:r>
              <a:rPr lang="zh-CN" altLang="en-GB" b="1" dirty="0">
                <a:latin typeface="Microsoft YaHei" pitchFamily="34" charset="-122"/>
                <a:ea typeface="Microsoft YaHei" pitchFamily="34" charset="-122"/>
              </a:rPr>
              <a:t>目标</a:t>
            </a:r>
            <a:r>
              <a:rPr lang="zh-CN" altLang="en-US" b="1" dirty="0">
                <a:latin typeface="Microsoft YaHei" pitchFamily="34" charset="-122"/>
                <a:ea typeface="Microsoft YaHei" pitchFamily="34" charset="-122"/>
              </a:rPr>
              <a:t>：</a:t>
            </a:r>
            <a:r>
              <a:rPr lang="en-US" altLang="zh-CN" b="1" dirty="0">
                <a:latin typeface="Microsoft YaHei" pitchFamily="34" charset="-122"/>
                <a:ea typeface="Microsoft YaHei" pitchFamily="34" charset="-122"/>
              </a:rPr>
              <a:t>GMV</a:t>
            </a:r>
            <a:r>
              <a:rPr lang="zh-CN" altLang="en-US" b="1" dirty="0">
                <a:latin typeface="Microsoft YaHei" pitchFamily="34" charset="-122"/>
                <a:ea typeface="Microsoft YaHei" pitchFamily="34" charset="-122"/>
              </a:rPr>
              <a:t>、资源位效率提升</a:t>
            </a:r>
            <a:endParaRPr kumimoji="1" lang="zh-CN" altLang="en-US" b="1" dirty="0">
              <a:latin typeface="Microsoft YaHei" pitchFamily="34" charset="-122"/>
              <a:ea typeface="Microsoft YaHei" pitchFamily="34" charset="-122"/>
            </a:endParaRPr>
          </a:p>
        </p:txBody>
      </p:sp>
      <p:sp>
        <p:nvSpPr>
          <p:cNvPr id="19" name="文本框 18"/>
          <p:cNvSpPr txBox="1"/>
          <p:nvPr/>
        </p:nvSpPr>
        <p:spPr>
          <a:xfrm>
            <a:off x="671690" y="4865254"/>
            <a:ext cx="10361693" cy="707886"/>
          </a:xfrm>
          <a:prstGeom prst="rect">
            <a:avLst/>
          </a:prstGeom>
          <a:noFill/>
        </p:spPr>
        <p:txBody>
          <a:bodyPr wrap="square">
            <a:spAutoFit/>
          </a:bodyPr>
          <a:lstStyle/>
          <a:p>
            <a:r>
              <a:rPr lang="zh-CN" altLang="en-US" sz="2000" dirty="0">
                <a:latin typeface="Microsoft YaHei" pitchFamily="34" charset="-122"/>
                <a:ea typeface="Microsoft YaHei" pitchFamily="34" charset="-122"/>
              </a:rPr>
              <a:t>从“资源位各自为政”升级为“同一主题贵穿全旅程”</a:t>
            </a:r>
            <a:endParaRPr lang="en-US" altLang="zh-CN" sz="2000" dirty="0">
              <a:latin typeface="Microsoft YaHei" pitchFamily="34" charset="-122"/>
              <a:ea typeface="Microsoft YaHei" pitchFamily="34" charset="-122"/>
            </a:endParaRPr>
          </a:p>
          <a:p>
            <a:r>
              <a:rPr lang="zh-CN" altLang="en-US" sz="2000" dirty="0">
                <a:latin typeface="Microsoft YaHei" pitchFamily="34" charset="-122"/>
                <a:ea typeface="Microsoft YaHei" pitchFamily="34" charset="-122"/>
              </a:rPr>
              <a:t>案例：节气“春生万物”联动全链路闭环，基于用户学习阶段标签动态调整推荐</a:t>
            </a:r>
            <a:endParaRPr lang="zh-CN" altLang="en-US" sz="2000" dirty="0">
              <a:latin typeface="Microsoft YaHei" pitchFamily="34" charset="-122"/>
              <a:ea typeface="Microsoft YaHei" pitchFamily="34" charset="-122"/>
            </a:endParaRPr>
          </a:p>
        </p:txBody>
      </p:sp>
      <p:sp>
        <p:nvSpPr>
          <p:cNvPr id="22" name="文本框 21"/>
          <p:cNvSpPr txBox="1"/>
          <p:nvPr/>
        </p:nvSpPr>
        <p:spPr>
          <a:xfrm>
            <a:off x="520554" y="415951"/>
            <a:ext cx="10164479"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en-US" altLang="zh-CN" sz="3200" dirty="0">
                <a:solidFill>
                  <a:srgbClr val="000000"/>
                </a:solidFill>
                <a:latin typeface="Microsoft YaHei" pitchFamily="34" charset="-122"/>
                <a:ea typeface="Microsoft YaHei" pitchFamily="34" charset="-122"/>
              </a:rPr>
              <a:t>APP</a:t>
            </a:r>
            <a:r>
              <a:rPr lang="zh-CN" altLang="en-US" sz="3200" dirty="0">
                <a:solidFill>
                  <a:srgbClr val="000000"/>
                </a:solidFill>
                <a:latin typeface="Microsoft YaHei" pitchFamily="34" charset="-122"/>
                <a:ea typeface="Microsoft YaHei" pitchFamily="34" charset="-122"/>
              </a:rPr>
              <a:t>增量策略：“旅程思维”串联触点与黄金组合放大</a:t>
            </a:r>
            <a:endParaRPr lang="zh-CN" altLang="en-US" sz="3200" dirty="0">
              <a:solidFill>
                <a:srgbClr val="000000"/>
              </a:solidFill>
              <a:latin typeface="Microsoft YaHei" pitchFamily="34" charset="-122"/>
              <a:ea typeface="Microsoft YaHei"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3851" y="2153966"/>
            <a:ext cx="10839450" cy="1783715"/>
            <a:chOff x="2210" y="4957"/>
            <a:chExt cx="17070" cy="2809"/>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dirty="0">
                  <a:solidFill>
                    <a:srgbClr val="F63643"/>
                  </a:solidFill>
                  <a:latin typeface="微软雅黑" charset="-122"/>
                  <a:ea typeface="微软雅黑" charset="-122"/>
                  <a:cs typeface="DIN Alternate" panose="020B0500000000000000" charset="0"/>
                </a:rPr>
                <a:t>03</a:t>
              </a:r>
              <a:endParaRPr lang="en-US" altLang="zh-CN" sz="11000" b="1" dirty="0">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122"/>
                <a:ea typeface="微软雅黑" charset="-122"/>
              </a:endParaRPr>
            </a:p>
          </p:txBody>
        </p:sp>
        <p:sp>
          <p:nvSpPr>
            <p:cNvPr id="4" name="文本框 3"/>
            <p:cNvSpPr txBox="1"/>
            <p:nvPr>
              <p:custDataLst>
                <p:tags r:id="rId3"/>
              </p:custDataLst>
            </p:nvPr>
          </p:nvSpPr>
          <p:spPr>
            <a:xfrm>
              <a:off x="5402" y="5226"/>
              <a:ext cx="13878" cy="1452"/>
            </a:xfrm>
            <a:prstGeom prst="rect">
              <a:avLst/>
            </a:prstGeom>
            <a:noFill/>
          </p:spPr>
          <p:txBody>
            <a:bodyPr wrap="square" rtlCol="0">
              <a:spAutoFit/>
            </a:bodyPr>
            <a:lstStyle/>
            <a:p>
              <a:pPr algn="l">
                <a:lnSpc>
                  <a:spcPct val="100000"/>
                </a:lnSpc>
                <a:spcBef>
                  <a:spcPts val="0"/>
                </a:spcBef>
                <a:buClrTx/>
                <a:buSzTx/>
                <a:buFontTx/>
              </a:pPr>
              <a:r>
                <a:rPr lang="en-US" altLang="zh-CN" sz="5400" b="1" dirty="0"/>
                <a:t>AI</a:t>
              </a:r>
              <a:r>
                <a:rPr lang="zh-CN" altLang="en-US" sz="5400" b="1" dirty="0"/>
                <a:t>业务应用</a:t>
              </a:r>
              <a:endParaRPr lang="zh-CN" altLang="en-US" sz="5400" b="1" dirty="0"/>
            </a:p>
          </p:txBody>
        </p:sp>
      </p:gr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6202205" y="1217847"/>
            <a:ext cx="5388664" cy="2186777"/>
          </a:xfrm>
          <a:prstGeom prst="roundRect">
            <a:avLst>
              <a:gd name="adj" fmla="val 7669"/>
            </a:avLst>
          </a:prstGeom>
          <a:solidFill>
            <a:srgbClr val="FCFFFB"/>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icrosoft YaHei" pitchFamily="34" charset="-122"/>
              <a:ea typeface="Microsoft YaHei" pitchFamily="34" charset="-122"/>
            </a:endParaRPr>
          </a:p>
        </p:txBody>
      </p:sp>
      <p:sp>
        <p:nvSpPr>
          <p:cNvPr id="2" name="文本框 1"/>
          <p:cNvSpPr txBox="1"/>
          <p:nvPr/>
        </p:nvSpPr>
        <p:spPr>
          <a:xfrm>
            <a:off x="503276" y="395653"/>
            <a:ext cx="587270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en-US" altLang="zh-CN" sz="3200" dirty="0">
                <a:latin typeface="Microsoft YaHei" pitchFamily="34" charset="-122"/>
                <a:ea typeface="Microsoft YaHei" pitchFamily="34" charset="-122"/>
                <a:sym typeface="+mn-ea"/>
              </a:rPr>
              <a:t>AI</a:t>
            </a:r>
            <a:r>
              <a:rPr lang="zh-CN" altLang="en-US" sz="3200" dirty="0">
                <a:latin typeface="Microsoft YaHei" pitchFamily="34" charset="-122"/>
                <a:ea typeface="Microsoft YaHei" pitchFamily="34" charset="-122"/>
                <a:sym typeface="+mn-ea"/>
              </a:rPr>
              <a:t>工具</a:t>
            </a:r>
            <a:r>
              <a:rPr lang="en-US" altLang="zh-CN" sz="3200" dirty="0">
                <a:latin typeface="Microsoft YaHei" pitchFamily="34" charset="-122"/>
                <a:ea typeface="Microsoft YaHei" pitchFamily="34" charset="-122"/>
                <a:sym typeface="+mn-ea"/>
              </a:rPr>
              <a:t>/</a:t>
            </a:r>
            <a:r>
              <a:rPr lang="zh-CN" altLang="en-US" sz="3200" dirty="0">
                <a:latin typeface="Microsoft YaHei" pitchFamily="34" charset="-122"/>
                <a:ea typeface="Microsoft YaHei" pitchFamily="34" charset="-122"/>
                <a:sym typeface="+mn-ea"/>
              </a:rPr>
              <a:t>方案落地场景</a:t>
            </a:r>
            <a:endParaRPr lang="zh-CN" altLang="en-US" sz="3200" dirty="0">
              <a:latin typeface="Microsoft YaHei" pitchFamily="34" charset="-122"/>
              <a:ea typeface="Microsoft YaHei" pitchFamily="34" charset="-122"/>
            </a:endParaRPr>
          </a:p>
        </p:txBody>
      </p:sp>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pic>
        <p:nvPicPr>
          <p:cNvPr id="10" name="Picture 7" descr="image.png"/>
          <p:cNvPicPr>
            <a:picLocks noChangeAspect="1"/>
          </p:cNvPicPr>
          <p:nvPr/>
        </p:nvPicPr>
        <p:blipFill>
          <a:blip r:embed="rId1"/>
          <a:stretch>
            <a:fillRect/>
          </a:stretch>
        </p:blipFill>
        <p:spPr>
          <a:xfrm>
            <a:off x="7900680" y="1875204"/>
            <a:ext cx="1358550" cy="1358550"/>
          </a:xfrm>
          <a:prstGeom prst="rect">
            <a:avLst/>
          </a:prstGeom>
        </p:spPr>
      </p:pic>
      <p:pic>
        <p:nvPicPr>
          <p:cNvPr id="12" name="Picture 9" descr="image.png"/>
          <p:cNvPicPr>
            <a:picLocks noChangeAspect="1"/>
          </p:cNvPicPr>
          <p:nvPr/>
        </p:nvPicPr>
        <p:blipFill>
          <a:blip r:embed="rId2"/>
          <a:stretch>
            <a:fillRect/>
          </a:stretch>
        </p:blipFill>
        <p:spPr>
          <a:xfrm>
            <a:off x="7153421" y="2459921"/>
            <a:ext cx="324340" cy="728342"/>
          </a:xfrm>
          <a:prstGeom prst="rect">
            <a:avLst/>
          </a:prstGeom>
        </p:spPr>
      </p:pic>
      <p:sp>
        <p:nvSpPr>
          <p:cNvPr id="19" name="TextBox 16"/>
          <p:cNvSpPr txBox="1"/>
          <p:nvPr/>
        </p:nvSpPr>
        <p:spPr>
          <a:xfrm>
            <a:off x="6470426" y="1370837"/>
            <a:ext cx="3010797" cy="289274"/>
          </a:xfrm>
          <a:prstGeom prst="rect">
            <a:avLst/>
          </a:prstGeom>
          <a:noFill/>
        </p:spPr>
        <p:txBody>
          <a:bodyPr wrap="none" lIns="0" tIns="0" rIns="0" bIns="0"/>
          <a:lstStyle/>
          <a:p>
            <a:pPr algn="just">
              <a:lnSpc>
                <a:spcPct val="112000"/>
              </a:lnSpc>
              <a:spcBef>
                <a:spcPts val="0"/>
              </a:spcBef>
              <a:spcAft>
                <a:spcPts val="0"/>
              </a:spcAft>
            </a:pPr>
            <a:r>
              <a:rPr sz="2025" dirty="0" err="1">
                <a:solidFill>
                  <a:srgbClr val="010104"/>
                </a:solidFill>
                <a:latin typeface="Microsoft YaHei" pitchFamily="34" charset="-122"/>
                <a:ea typeface="Microsoft YaHei" pitchFamily="34" charset="-122"/>
              </a:rPr>
              <a:t>直播</a:t>
            </a:r>
            <a:r>
              <a:rPr lang="zh-CN" altLang="en-US" sz="2025" dirty="0">
                <a:solidFill>
                  <a:srgbClr val="010104"/>
                </a:solidFill>
                <a:latin typeface="Microsoft YaHei" pitchFamily="34" charset="-122"/>
                <a:ea typeface="Microsoft YaHei" pitchFamily="34" charset="-122"/>
              </a:rPr>
              <a:t>分层全链路触达</a:t>
            </a:r>
            <a:r>
              <a:rPr lang="en-US" altLang="zh-CN" sz="2025" dirty="0">
                <a:solidFill>
                  <a:srgbClr val="010104"/>
                </a:solidFill>
                <a:latin typeface="Microsoft YaHei" pitchFamily="34" charset="-122"/>
                <a:ea typeface="Microsoft YaHei" pitchFamily="34" charset="-122"/>
              </a:rPr>
              <a:t>-</a:t>
            </a:r>
            <a:r>
              <a:rPr sz="2025" dirty="0">
                <a:solidFill>
                  <a:srgbClr val="010104"/>
                </a:solidFill>
                <a:latin typeface="Microsoft YaHei" pitchFamily="34" charset="-122"/>
                <a:ea typeface="Microsoft YaHei" pitchFamily="34" charset="-122"/>
              </a:rPr>
              <a:t>MA</a:t>
            </a:r>
            <a:endParaRPr sz="2025" dirty="0">
              <a:solidFill>
                <a:srgbClr val="010104"/>
              </a:solidFill>
              <a:latin typeface="Microsoft YaHei" pitchFamily="34" charset="-122"/>
              <a:ea typeface="Microsoft YaHei" pitchFamily="34" charset="-122"/>
            </a:endParaRPr>
          </a:p>
        </p:txBody>
      </p:sp>
      <p:sp>
        <p:nvSpPr>
          <p:cNvPr id="21" name="TextBox 18"/>
          <p:cNvSpPr txBox="1"/>
          <p:nvPr/>
        </p:nvSpPr>
        <p:spPr>
          <a:xfrm>
            <a:off x="6375980" y="1813101"/>
            <a:ext cx="1423909" cy="654664"/>
          </a:xfrm>
          <a:prstGeom prst="rect">
            <a:avLst/>
          </a:prstGeom>
          <a:noFill/>
        </p:spPr>
        <p:txBody>
          <a:bodyPr wrap="none" lIns="0" tIns="0" rIns="0" bIns="0"/>
          <a:lstStyle/>
          <a:p>
            <a:pPr algn="just">
              <a:lnSpc>
                <a:spcPct val="135000"/>
              </a:lnSpc>
              <a:spcBef>
                <a:spcPts val="0"/>
              </a:spcBef>
              <a:spcAft>
                <a:spcPts val="0"/>
              </a:spcAft>
            </a:pPr>
            <a:r>
              <a:rPr lang="zh-CN" altLang="en-US" sz="1500" dirty="0">
                <a:solidFill>
                  <a:srgbClr val="03070F"/>
                </a:solidFill>
                <a:latin typeface="Microsoft YaHei" pitchFamily="34" charset="-122"/>
                <a:ea typeface="Microsoft YaHei" pitchFamily="34" charset="-122"/>
              </a:rPr>
              <a:t>预约率</a:t>
            </a:r>
            <a:r>
              <a:rPr sz="1500" dirty="0" err="1">
                <a:solidFill>
                  <a:srgbClr val="03070F"/>
                </a:solidFill>
                <a:latin typeface="Microsoft YaHei" pitchFamily="34" charset="-122"/>
                <a:ea typeface="Microsoft YaHei" pitchFamily="34" charset="-122"/>
              </a:rPr>
              <a:t>提升幅度</a:t>
            </a:r>
            <a:endParaRPr lang="en-US" sz="1500" dirty="0">
              <a:solidFill>
                <a:srgbClr val="03070F"/>
              </a:solidFill>
              <a:latin typeface="Microsoft YaHei" pitchFamily="34" charset="-122"/>
              <a:ea typeface="Microsoft YaHei" pitchFamily="34" charset="-122"/>
            </a:endParaRPr>
          </a:p>
          <a:p>
            <a:pPr algn="just">
              <a:lnSpc>
                <a:spcPct val="135000"/>
              </a:lnSpc>
              <a:spcBef>
                <a:spcPts val="0"/>
              </a:spcBef>
              <a:spcAft>
                <a:spcPts val="0"/>
              </a:spcAft>
            </a:pPr>
            <a:r>
              <a:rPr lang="zh-CN" altLang="en-US" sz="1500" dirty="0">
                <a:solidFill>
                  <a:srgbClr val="03070F"/>
                </a:solidFill>
                <a:latin typeface="Microsoft YaHei" pitchFamily="34" charset="-122"/>
                <a:ea typeface="Microsoft YaHei" pitchFamily="34" charset="-122"/>
              </a:rPr>
              <a:t>（</a:t>
            </a:r>
            <a:r>
              <a:rPr lang="en-US" altLang="zh-CN" sz="1600" dirty="0">
                <a:solidFill>
                  <a:srgbClr val="010205"/>
                </a:solidFill>
                <a:latin typeface="Microsoft YaHei" pitchFamily="34" charset="-122"/>
                <a:ea typeface="Microsoft YaHei" pitchFamily="34" charset="-122"/>
              </a:rPr>
              <a:t>0.21%-0.61%</a:t>
            </a:r>
            <a:r>
              <a:rPr lang="zh-CN" altLang="en-US" sz="1600" dirty="0">
                <a:solidFill>
                  <a:srgbClr val="010205"/>
                </a:solidFill>
                <a:latin typeface="Microsoft YaHei" pitchFamily="34" charset="-122"/>
                <a:ea typeface="Microsoft YaHei" pitchFamily="34" charset="-122"/>
              </a:rPr>
              <a:t>）</a:t>
            </a:r>
            <a:endParaRPr sz="1500" dirty="0">
              <a:solidFill>
                <a:srgbClr val="03070F"/>
              </a:solidFill>
              <a:latin typeface="Microsoft YaHei" pitchFamily="34" charset="-122"/>
              <a:ea typeface="Microsoft YaHei" pitchFamily="34" charset="-122"/>
            </a:endParaRPr>
          </a:p>
        </p:txBody>
      </p:sp>
      <p:sp>
        <p:nvSpPr>
          <p:cNvPr id="22" name="TextBox 19"/>
          <p:cNvSpPr txBox="1"/>
          <p:nvPr/>
        </p:nvSpPr>
        <p:spPr>
          <a:xfrm>
            <a:off x="8152501" y="2389131"/>
            <a:ext cx="772287" cy="225075"/>
          </a:xfrm>
          <a:prstGeom prst="rect">
            <a:avLst/>
          </a:prstGeom>
          <a:noFill/>
        </p:spPr>
        <p:txBody>
          <a:bodyPr wrap="none" lIns="0" tIns="0" rIns="0" bIns="0"/>
          <a:lstStyle/>
          <a:p>
            <a:pPr algn="ctr">
              <a:lnSpc>
                <a:spcPct val="107000"/>
              </a:lnSpc>
              <a:spcBef>
                <a:spcPts val="0"/>
              </a:spcBef>
              <a:spcAft>
                <a:spcPts val="0"/>
              </a:spcAft>
            </a:pPr>
            <a:r>
              <a:rPr sz="2000" dirty="0">
                <a:solidFill>
                  <a:srgbClr val="010205"/>
                </a:solidFill>
                <a:latin typeface="Microsoft YaHei" pitchFamily="34" charset="-122"/>
                <a:ea typeface="Microsoft YaHei" pitchFamily="34" charset="-122"/>
              </a:rPr>
              <a:t>+</a:t>
            </a:r>
            <a:r>
              <a:rPr lang="en-US" altLang="zh-CN" sz="2000" dirty="0">
                <a:solidFill>
                  <a:srgbClr val="010205"/>
                </a:solidFill>
                <a:latin typeface="Microsoft YaHei" pitchFamily="34" charset="-122"/>
                <a:ea typeface="Microsoft YaHei" pitchFamily="34" charset="-122"/>
              </a:rPr>
              <a:t>186</a:t>
            </a:r>
            <a:r>
              <a:rPr sz="2000" dirty="0">
                <a:solidFill>
                  <a:srgbClr val="010205"/>
                </a:solidFill>
                <a:latin typeface="Microsoft YaHei" pitchFamily="34" charset="-122"/>
                <a:ea typeface="Microsoft YaHei" pitchFamily="34" charset="-122"/>
              </a:rPr>
              <a:t>%</a:t>
            </a:r>
            <a:endParaRPr lang="en-US" sz="2000" dirty="0">
              <a:solidFill>
                <a:srgbClr val="010205"/>
              </a:solidFill>
              <a:latin typeface="Microsoft YaHei" pitchFamily="34" charset="-122"/>
              <a:ea typeface="Microsoft YaHei" pitchFamily="34" charset="-122"/>
            </a:endParaRPr>
          </a:p>
        </p:txBody>
      </p:sp>
      <p:grpSp>
        <p:nvGrpSpPr>
          <p:cNvPr id="48" name="组合 47"/>
          <p:cNvGrpSpPr/>
          <p:nvPr/>
        </p:nvGrpSpPr>
        <p:grpSpPr>
          <a:xfrm>
            <a:off x="2794595" y="3777045"/>
            <a:ext cx="8796274" cy="2186777"/>
            <a:chOff x="601131" y="1228764"/>
            <a:chExt cx="8796274" cy="2186777"/>
          </a:xfrm>
        </p:grpSpPr>
        <p:sp>
          <p:nvSpPr>
            <p:cNvPr id="35" name="圆角矩形 34"/>
            <p:cNvSpPr/>
            <p:nvPr/>
          </p:nvSpPr>
          <p:spPr>
            <a:xfrm>
              <a:off x="601131" y="1228764"/>
              <a:ext cx="8796274" cy="2186777"/>
            </a:xfrm>
            <a:prstGeom prst="roundRect">
              <a:avLst>
                <a:gd name="adj" fmla="val 7669"/>
              </a:avLst>
            </a:prstGeom>
            <a:solidFill>
              <a:srgbClr val="FCFFFB"/>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icrosoft YaHei" pitchFamily="34" charset="-122"/>
                <a:ea typeface="Microsoft YaHei" pitchFamily="34" charset="-122"/>
              </a:endParaRPr>
            </a:p>
          </p:txBody>
        </p:sp>
        <p:pic>
          <p:nvPicPr>
            <p:cNvPr id="11" name="Picture 8" descr="image.png"/>
            <p:cNvPicPr>
              <a:picLocks noChangeAspect="1"/>
            </p:cNvPicPr>
            <p:nvPr/>
          </p:nvPicPr>
          <p:blipFill>
            <a:blip r:embed="rId3"/>
            <a:stretch>
              <a:fillRect/>
            </a:stretch>
          </p:blipFill>
          <p:spPr>
            <a:xfrm>
              <a:off x="868319" y="2801630"/>
              <a:ext cx="3542606" cy="289274"/>
            </a:xfrm>
            <a:prstGeom prst="rect">
              <a:avLst/>
            </a:prstGeom>
          </p:spPr>
        </p:pic>
        <p:sp>
          <p:nvSpPr>
            <p:cNvPr id="18" name="TextBox 15"/>
            <p:cNvSpPr txBox="1"/>
            <p:nvPr/>
          </p:nvSpPr>
          <p:spPr>
            <a:xfrm>
              <a:off x="868319" y="1374771"/>
              <a:ext cx="5039121" cy="448534"/>
            </a:xfrm>
            <a:prstGeom prst="rect">
              <a:avLst/>
            </a:prstGeom>
            <a:noFill/>
          </p:spPr>
          <p:txBody>
            <a:bodyPr wrap="none" lIns="0" tIns="0" rIns="0" bIns="0"/>
            <a:lstStyle/>
            <a:p>
              <a:pPr algn="just">
                <a:lnSpc>
                  <a:spcPct val="130000"/>
                </a:lnSpc>
                <a:spcBef>
                  <a:spcPts val="0"/>
                </a:spcBef>
                <a:spcAft>
                  <a:spcPts val="0"/>
                </a:spcAft>
              </a:pPr>
              <a:r>
                <a:rPr sz="2000" dirty="0" err="1">
                  <a:solidFill>
                    <a:srgbClr val="000001"/>
                  </a:solidFill>
                  <a:latin typeface="Microsoft YaHei" pitchFamily="34" charset="-122"/>
                  <a:ea typeface="Microsoft YaHei" pitchFamily="34" charset="-122"/>
                </a:rPr>
                <a:t>内容Agent</a:t>
              </a:r>
              <a:r>
                <a:rPr lang="zh-CN" altLang="en-US" sz="2000" dirty="0">
                  <a:solidFill>
                    <a:srgbClr val="000001"/>
                  </a:solidFill>
                  <a:latin typeface="Microsoft YaHei" pitchFamily="34" charset="-122"/>
                  <a:ea typeface="Microsoft YaHei" pitchFamily="34" charset="-122"/>
                </a:rPr>
                <a:t>自动下发（私域存量横向跨科）</a:t>
              </a:r>
              <a:endParaRPr sz="2000" dirty="0">
                <a:solidFill>
                  <a:srgbClr val="000001"/>
                </a:solidFill>
                <a:latin typeface="Microsoft YaHei" pitchFamily="34" charset="-122"/>
                <a:ea typeface="Microsoft YaHei" pitchFamily="34" charset="-122"/>
              </a:endParaRPr>
            </a:p>
          </p:txBody>
        </p:sp>
        <p:sp>
          <p:nvSpPr>
            <p:cNvPr id="20" name="TextBox 17"/>
            <p:cNvSpPr txBox="1"/>
            <p:nvPr/>
          </p:nvSpPr>
          <p:spPr>
            <a:xfrm>
              <a:off x="935459" y="3069985"/>
              <a:ext cx="1699069" cy="289274"/>
            </a:xfrm>
            <a:prstGeom prst="rect">
              <a:avLst/>
            </a:prstGeom>
            <a:noFill/>
          </p:spPr>
          <p:txBody>
            <a:bodyPr wrap="none" lIns="0" tIns="0" rIns="0" bIns="0"/>
            <a:lstStyle/>
            <a:p>
              <a:pPr algn="just">
                <a:spcBef>
                  <a:spcPts val="0"/>
                </a:spcBef>
                <a:spcAft>
                  <a:spcPts val="0"/>
                </a:spcAft>
              </a:pPr>
              <a:r>
                <a:rPr sz="1600" dirty="0">
                  <a:solidFill>
                    <a:srgbClr val="010309"/>
                  </a:solidFill>
                  <a:latin typeface="Microsoft YaHei" pitchFamily="34" charset="-122"/>
                  <a:ea typeface="Microsoft YaHei" pitchFamily="34" charset="-122"/>
                </a:rPr>
                <a:t>当前</a:t>
              </a:r>
              <a:r>
                <a:rPr lang="en-US" altLang="zh-CN" sz="1600" dirty="0">
                  <a:solidFill>
                    <a:srgbClr val="010309"/>
                  </a:solidFill>
                  <a:latin typeface="Microsoft YaHei" pitchFamily="34" charset="-122"/>
                  <a:ea typeface="Microsoft YaHei" pitchFamily="34" charset="-122"/>
                </a:rPr>
                <a:t>:0.45</a:t>
              </a:r>
              <a:r>
                <a:rPr sz="1600" dirty="0">
                  <a:solidFill>
                    <a:srgbClr val="010309"/>
                  </a:solidFill>
                  <a:latin typeface="Microsoft YaHei" pitchFamily="34" charset="-122"/>
                  <a:ea typeface="Microsoft YaHei" pitchFamily="34" charset="-122"/>
                </a:rPr>
                <a:t>%</a:t>
              </a:r>
              <a:endParaRPr sz="1600" dirty="0">
                <a:solidFill>
                  <a:srgbClr val="010309"/>
                </a:solidFill>
                <a:latin typeface="Microsoft YaHei" pitchFamily="34" charset="-122"/>
                <a:ea typeface="Microsoft YaHei" pitchFamily="34" charset="-122"/>
              </a:endParaRPr>
            </a:p>
          </p:txBody>
        </p:sp>
        <p:sp>
          <p:nvSpPr>
            <p:cNvPr id="23" name="TextBox 20"/>
            <p:cNvSpPr txBox="1"/>
            <p:nvPr/>
          </p:nvSpPr>
          <p:spPr>
            <a:xfrm>
              <a:off x="898723" y="2585162"/>
              <a:ext cx="1301305" cy="257175"/>
            </a:xfrm>
            <a:prstGeom prst="rect">
              <a:avLst/>
            </a:prstGeom>
            <a:noFill/>
          </p:spPr>
          <p:txBody>
            <a:bodyPr wrap="none" lIns="0" tIns="0" rIns="0" bIns="0"/>
            <a:lstStyle/>
            <a:p>
              <a:pPr algn="just">
                <a:lnSpc>
                  <a:spcPct val="117000"/>
                </a:lnSpc>
                <a:spcBef>
                  <a:spcPts val="0"/>
                </a:spcBef>
                <a:spcAft>
                  <a:spcPts val="0"/>
                </a:spcAft>
              </a:pPr>
              <a:r>
                <a:rPr lang="en-US" sz="1600" dirty="0">
                  <a:solidFill>
                    <a:srgbClr val="010309"/>
                  </a:solidFill>
                  <a:latin typeface="Microsoft YaHei" pitchFamily="34" charset="-122"/>
                  <a:ea typeface="Microsoft YaHei" pitchFamily="34" charset="-122"/>
                </a:rPr>
                <a:t>day7跨科率</a:t>
              </a:r>
              <a:r>
                <a:rPr sz="1600" dirty="0">
                  <a:solidFill>
                    <a:srgbClr val="010309"/>
                  </a:solidFill>
                  <a:latin typeface="Microsoft YaHei" pitchFamily="34" charset="-122"/>
                  <a:ea typeface="Microsoft YaHei" pitchFamily="34" charset="-122"/>
                </a:rPr>
                <a:t>差距</a:t>
              </a:r>
              <a:r>
                <a:rPr lang="zh-CN" altLang="en-US" sz="1600" dirty="0">
                  <a:solidFill>
                    <a:srgbClr val="010309"/>
                  </a:solidFill>
                  <a:latin typeface="Microsoft YaHei" pitchFamily="34" charset="-122"/>
                  <a:ea typeface="Microsoft YaHei" pitchFamily="34" charset="-122"/>
                </a:rPr>
                <a:t>：</a:t>
              </a:r>
              <a:r>
                <a:rPr lang="en-US" altLang="zh-CN" sz="1600" dirty="0">
                  <a:solidFill>
                    <a:srgbClr val="010309"/>
                  </a:solidFill>
                  <a:latin typeface="Microsoft YaHei" pitchFamily="34" charset="-122"/>
                  <a:ea typeface="Microsoft YaHei" pitchFamily="34" charset="-122"/>
                </a:rPr>
                <a:t>30%</a:t>
              </a:r>
              <a:endParaRPr sz="1600" dirty="0">
                <a:solidFill>
                  <a:srgbClr val="010309"/>
                </a:solidFill>
                <a:latin typeface="Microsoft YaHei" pitchFamily="34" charset="-122"/>
                <a:ea typeface="Microsoft YaHei" pitchFamily="34" charset="-122"/>
              </a:endParaRPr>
            </a:p>
          </p:txBody>
        </p:sp>
        <p:sp>
          <p:nvSpPr>
            <p:cNvPr id="34" name="TextBox 17"/>
            <p:cNvSpPr txBox="1"/>
            <p:nvPr/>
          </p:nvSpPr>
          <p:spPr>
            <a:xfrm>
              <a:off x="3366810" y="3099764"/>
              <a:ext cx="1699069" cy="289274"/>
            </a:xfrm>
            <a:prstGeom prst="rect">
              <a:avLst/>
            </a:prstGeom>
            <a:noFill/>
          </p:spPr>
          <p:txBody>
            <a:bodyPr wrap="none" lIns="0" tIns="0" rIns="0" bIns="0"/>
            <a:lstStyle/>
            <a:p>
              <a:pPr algn="just">
                <a:spcBef>
                  <a:spcPts val="0"/>
                </a:spcBef>
                <a:spcAft>
                  <a:spcPts val="0"/>
                </a:spcAft>
              </a:pPr>
              <a:r>
                <a:rPr lang="zh-CN" altLang="en-US" sz="1600" dirty="0">
                  <a:solidFill>
                    <a:srgbClr val="010309"/>
                  </a:solidFill>
                  <a:latin typeface="Microsoft YaHei" pitchFamily="34" charset="-122"/>
                  <a:ea typeface="Microsoft YaHei" pitchFamily="34" charset="-122"/>
                </a:rPr>
                <a:t>目标</a:t>
              </a:r>
              <a:r>
                <a:rPr lang="en-US" altLang="zh-CN" sz="1600" dirty="0">
                  <a:solidFill>
                    <a:srgbClr val="010309"/>
                  </a:solidFill>
                  <a:latin typeface="Microsoft YaHei" pitchFamily="34" charset="-122"/>
                  <a:ea typeface="Microsoft YaHei" pitchFamily="34" charset="-122"/>
                </a:rPr>
                <a:t>:1</a:t>
              </a:r>
              <a:r>
                <a:rPr sz="1600" dirty="0">
                  <a:solidFill>
                    <a:srgbClr val="010309"/>
                  </a:solidFill>
                  <a:latin typeface="Microsoft YaHei" pitchFamily="34" charset="-122"/>
                  <a:ea typeface="Microsoft YaHei" pitchFamily="34" charset="-122"/>
                </a:rPr>
                <a:t>%</a:t>
              </a:r>
              <a:endParaRPr sz="1600" dirty="0">
                <a:solidFill>
                  <a:srgbClr val="010309"/>
                </a:solidFill>
                <a:latin typeface="Microsoft YaHei" pitchFamily="34" charset="-122"/>
                <a:ea typeface="Microsoft YaHei" pitchFamily="34" charset="-122"/>
              </a:endParaRPr>
            </a:p>
          </p:txBody>
        </p:sp>
        <p:sp>
          <p:nvSpPr>
            <p:cNvPr id="37" name="TextBox 17"/>
            <p:cNvSpPr txBox="1"/>
            <p:nvPr/>
          </p:nvSpPr>
          <p:spPr>
            <a:xfrm>
              <a:off x="887714" y="1837469"/>
              <a:ext cx="2249367" cy="289274"/>
            </a:xfrm>
            <a:prstGeom prst="rect">
              <a:avLst/>
            </a:prstGeom>
            <a:noFill/>
          </p:spPr>
          <p:txBody>
            <a:bodyPr wrap="none" lIns="0" tIns="0" rIns="0" bIns="0"/>
            <a:lstStyle/>
            <a:p>
              <a:pPr algn="just">
                <a:spcBef>
                  <a:spcPts val="0"/>
                </a:spcBef>
                <a:spcAft>
                  <a:spcPts val="0"/>
                </a:spcAft>
              </a:pPr>
              <a:r>
                <a:rPr lang="zh-CN" altLang="en-US" sz="1600" dirty="0">
                  <a:solidFill>
                    <a:srgbClr val="010309"/>
                  </a:solidFill>
                  <a:latin typeface="Microsoft YaHei" pitchFamily="34" charset="-122"/>
                  <a:ea typeface="Microsoft YaHei" pitchFamily="34" charset="-122"/>
                </a:rPr>
                <a:t>文案审核通过率达标</a:t>
              </a:r>
              <a:r>
                <a:rPr lang="en-US" altLang="zh-CN" sz="1600" dirty="0">
                  <a:solidFill>
                    <a:srgbClr val="010309"/>
                  </a:solidFill>
                  <a:latin typeface="Microsoft YaHei" pitchFamily="34" charset="-122"/>
                  <a:ea typeface="Microsoft YaHei" pitchFamily="34" charset="-122"/>
                </a:rPr>
                <a:t>98%</a:t>
              </a:r>
              <a:endParaRPr sz="1600" dirty="0">
                <a:solidFill>
                  <a:srgbClr val="010309"/>
                </a:solidFill>
                <a:latin typeface="Microsoft YaHei" pitchFamily="34" charset="-122"/>
                <a:ea typeface="Microsoft YaHei" pitchFamily="34" charset="-122"/>
              </a:endParaRPr>
            </a:p>
          </p:txBody>
        </p:sp>
        <p:sp>
          <p:nvSpPr>
            <p:cNvPr id="39" name="TextBox 17"/>
            <p:cNvSpPr txBox="1"/>
            <p:nvPr/>
          </p:nvSpPr>
          <p:spPr>
            <a:xfrm>
              <a:off x="887714" y="2144429"/>
              <a:ext cx="3174243" cy="256851"/>
            </a:xfrm>
            <a:prstGeom prst="rect">
              <a:avLst/>
            </a:prstGeom>
            <a:noFill/>
          </p:spPr>
          <p:txBody>
            <a:bodyPr wrap="none" lIns="0" tIns="0" rIns="0" bIns="0"/>
            <a:lstStyle/>
            <a:p>
              <a:pPr algn="just">
                <a:spcBef>
                  <a:spcPts val="0"/>
                </a:spcBef>
                <a:spcAft>
                  <a:spcPts val="0"/>
                </a:spcAft>
              </a:pPr>
              <a:r>
                <a:rPr lang="zh-CN" altLang="en-US" sz="1600" dirty="0">
                  <a:solidFill>
                    <a:srgbClr val="010309"/>
                  </a:solidFill>
                  <a:latin typeface="Microsoft YaHei" pitchFamily="34" charset="-122"/>
                  <a:ea typeface="Microsoft YaHei" pitchFamily="34" charset="-122"/>
                </a:rPr>
                <a:t>运营单品类耗时：</a:t>
              </a:r>
              <a:r>
                <a:rPr lang="en-US" altLang="zh-CN" sz="1600" dirty="0">
                  <a:solidFill>
                    <a:srgbClr val="010309"/>
                  </a:solidFill>
                  <a:latin typeface="Microsoft YaHei" pitchFamily="34" charset="-122"/>
                  <a:ea typeface="Microsoft YaHei" pitchFamily="34" charset="-122"/>
                </a:rPr>
                <a:t>45min—15min</a:t>
              </a:r>
              <a:endParaRPr sz="1600" dirty="0">
                <a:solidFill>
                  <a:srgbClr val="010309"/>
                </a:solidFill>
                <a:latin typeface="Microsoft YaHei" pitchFamily="34" charset="-122"/>
                <a:ea typeface="Microsoft YaHei" pitchFamily="34" charset="-122"/>
              </a:endParaRPr>
            </a:p>
          </p:txBody>
        </p:sp>
      </p:grpSp>
      <p:sp>
        <p:nvSpPr>
          <p:cNvPr id="41" name="TextBox 18"/>
          <p:cNvSpPr txBox="1"/>
          <p:nvPr/>
        </p:nvSpPr>
        <p:spPr>
          <a:xfrm>
            <a:off x="9706763" y="1770060"/>
            <a:ext cx="1423909" cy="654664"/>
          </a:xfrm>
          <a:prstGeom prst="rect">
            <a:avLst/>
          </a:prstGeom>
          <a:noFill/>
        </p:spPr>
        <p:txBody>
          <a:bodyPr wrap="none" lIns="0" tIns="0" rIns="0" bIns="0"/>
          <a:lstStyle/>
          <a:p>
            <a:pPr algn="just">
              <a:lnSpc>
                <a:spcPct val="135000"/>
              </a:lnSpc>
              <a:spcBef>
                <a:spcPts val="0"/>
              </a:spcBef>
              <a:spcAft>
                <a:spcPts val="0"/>
              </a:spcAft>
            </a:pPr>
            <a:r>
              <a:rPr lang="zh-CN" altLang="en-US" sz="1500" dirty="0">
                <a:solidFill>
                  <a:srgbClr val="03070F"/>
                </a:solidFill>
                <a:latin typeface="Microsoft YaHei" pitchFamily="34" charset="-122"/>
                <a:ea typeface="Microsoft YaHei" pitchFamily="34" charset="-122"/>
              </a:rPr>
              <a:t>直播间转化率提升</a:t>
            </a:r>
            <a:endParaRPr lang="en-US" altLang="zh-CN" sz="1500" dirty="0">
              <a:solidFill>
                <a:srgbClr val="03070F"/>
              </a:solidFill>
              <a:latin typeface="Microsoft YaHei" pitchFamily="34" charset="-122"/>
              <a:ea typeface="Microsoft YaHei" pitchFamily="34" charset="-122"/>
            </a:endParaRPr>
          </a:p>
          <a:p>
            <a:pPr algn="just">
              <a:lnSpc>
                <a:spcPct val="135000"/>
              </a:lnSpc>
              <a:spcBef>
                <a:spcPts val="0"/>
              </a:spcBef>
              <a:spcAft>
                <a:spcPts val="0"/>
              </a:spcAft>
            </a:pPr>
            <a:r>
              <a:rPr lang="en-US" altLang="zh-CN" sz="2800" dirty="0">
                <a:solidFill>
                  <a:schemeClr val="accent3"/>
                </a:solidFill>
                <a:latin typeface="Microsoft YaHei" pitchFamily="34" charset="-122"/>
                <a:ea typeface="Microsoft YaHei" pitchFamily="34" charset="-122"/>
              </a:rPr>
              <a:t>38%</a:t>
            </a:r>
            <a:endParaRPr lang="en-US" altLang="zh-CN" sz="2800" dirty="0">
              <a:solidFill>
                <a:schemeClr val="accent3"/>
              </a:solidFill>
              <a:latin typeface="Microsoft YaHei" pitchFamily="34" charset="-122"/>
              <a:ea typeface="Microsoft YaHei" pitchFamily="34" charset="-122"/>
            </a:endParaRPr>
          </a:p>
          <a:p>
            <a:pPr algn="just">
              <a:lnSpc>
                <a:spcPct val="135000"/>
              </a:lnSpc>
              <a:spcBef>
                <a:spcPts val="0"/>
              </a:spcBef>
              <a:spcAft>
                <a:spcPts val="0"/>
              </a:spcAft>
            </a:pPr>
            <a:r>
              <a:rPr lang="zh-CN" altLang="en-US" sz="1600" dirty="0">
                <a:latin typeface="Microsoft YaHei" pitchFamily="34" charset="-122"/>
                <a:ea typeface="Microsoft YaHei" pitchFamily="34" charset="-122"/>
              </a:rPr>
              <a:t>（</a:t>
            </a:r>
            <a:r>
              <a:rPr lang="en-US" altLang="zh-CN" sz="1600" dirty="0">
                <a:latin typeface="Microsoft YaHei" pitchFamily="34" charset="-122"/>
                <a:ea typeface="Microsoft YaHei" pitchFamily="34" charset="-122"/>
              </a:rPr>
              <a:t>18%—25%</a:t>
            </a:r>
            <a:r>
              <a:rPr lang="zh-CN" altLang="en-US" sz="1600" dirty="0">
                <a:latin typeface="Microsoft YaHei" pitchFamily="34" charset="-122"/>
                <a:ea typeface="Microsoft YaHei" pitchFamily="34" charset="-122"/>
              </a:rPr>
              <a:t>）</a:t>
            </a:r>
            <a:endParaRPr lang="en-US" altLang="zh-CN" sz="1600" dirty="0">
              <a:latin typeface="Microsoft YaHei" pitchFamily="34" charset="-122"/>
              <a:ea typeface="Microsoft YaHei" pitchFamily="34" charset="-122"/>
            </a:endParaRPr>
          </a:p>
          <a:p>
            <a:pPr algn="just">
              <a:lnSpc>
                <a:spcPct val="135000"/>
              </a:lnSpc>
              <a:spcBef>
                <a:spcPts val="0"/>
              </a:spcBef>
              <a:spcAft>
                <a:spcPts val="0"/>
              </a:spcAft>
            </a:pPr>
            <a:endParaRPr sz="1500" dirty="0">
              <a:solidFill>
                <a:srgbClr val="03070F"/>
              </a:solidFill>
              <a:latin typeface="Microsoft YaHei" pitchFamily="34" charset="-122"/>
              <a:ea typeface="Microsoft YaHei" pitchFamily="34" charset="-122"/>
            </a:endParaRPr>
          </a:p>
        </p:txBody>
      </p:sp>
      <p:grpSp>
        <p:nvGrpSpPr>
          <p:cNvPr id="50" name="组合 49"/>
          <p:cNvGrpSpPr/>
          <p:nvPr/>
        </p:nvGrpSpPr>
        <p:grpSpPr>
          <a:xfrm>
            <a:off x="503278" y="1224889"/>
            <a:ext cx="5696963" cy="2186777"/>
            <a:chOff x="548565" y="3677880"/>
            <a:chExt cx="5696963" cy="2186777"/>
          </a:xfrm>
        </p:grpSpPr>
        <p:grpSp>
          <p:nvGrpSpPr>
            <p:cNvPr id="49" name="组合 48"/>
            <p:cNvGrpSpPr/>
            <p:nvPr/>
          </p:nvGrpSpPr>
          <p:grpSpPr>
            <a:xfrm>
              <a:off x="548565" y="3677880"/>
              <a:ext cx="5486517" cy="2186777"/>
              <a:chOff x="548565" y="3677880"/>
              <a:chExt cx="5486517" cy="2186777"/>
            </a:xfrm>
          </p:grpSpPr>
          <p:sp>
            <p:nvSpPr>
              <p:cNvPr id="42" name="圆角矩形 41"/>
              <p:cNvSpPr/>
              <p:nvPr/>
            </p:nvSpPr>
            <p:spPr>
              <a:xfrm>
                <a:off x="548565" y="3677880"/>
                <a:ext cx="5486517" cy="2186777"/>
              </a:xfrm>
              <a:prstGeom prst="roundRect">
                <a:avLst>
                  <a:gd name="adj" fmla="val 7669"/>
                </a:avLst>
              </a:prstGeom>
              <a:solidFill>
                <a:srgbClr val="FCFFFB"/>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icrosoft YaHei" pitchFamily="34" charset="-122"/>
                  <a:ea typeface="Microsoft YaHei" pitchFamily="34" charset="-122"/>
                </a:endParaRPr>
              </a:p>
            </p:txBody>
          </p:sp>
          <p:pic>
            <p:nvPicPr>
              <p:cNvPr id="15" name="Picture 12" descr="image.png"/>
              <p:cNvPicPr>
                <a:picLocks noChangeAspect="1"/>
              </p:cNvPicPr>
              <p:nvPr/>
            </p:nvPicPr>
            <p:blipFill>
              <a:blip r:embed="rId4"/>
              <a:stretch>
                <a:fillRect/>
              </a:stretch>
            </p:blipFill>
            <p:spPr>
              <a:xfrm>
                <a:off x="898723" y="4918453"/>
                <a:ext cx="315202" cy="324612"/>
              </a:xfrm>
              <a:prstGeom prst="rect">
                <a:avLst/>
              </a:prstGeom>
            </p:spPr>
          </p:pic>
          <p:pic>
            <p:nvPicPr>
              <p:cNvPr id="16" name="Picture 13" descr="image.png"/>
              <p:cNvPicPr>
                <a:picLocks noChangeAspect="1"/>
              </p:cNvPicPr>
              <p:nvPr/>
            </p:nvPicPr>
            <p:blipFill>
              <a:blip r:embed="rId5"/>
              <a:stretch>
                <a:fillRect/>
              </a:stretch>
            </p:blipFill>
            <p:spPr>
              <a:xfrm>
                <a:off x="901258" y="4490113"/>
                <a:ext cx="299370" cy="299370"/>
              </a:xfrm>
              <a:prstGeom prst="rect">
                <a:avLst/>
              </a:prstGeom>
            </p:spPr>
          </p:pic>
          <p:sp>
            <p:nvSpPr>
              <p:cNvPr id="26" name="TextBox 23"/>
              <p:cNvSpPr txBox="1"/>
              <p:nvPr/>
            </p:nvSpPr>
            <p:spPr>
              <a:xfrm>
                <a:off x="936806" y="3786559"/>
                <a:ext cx="2597943" cy="347281"/>
              </a:xfrm>
              <a:prstGeom prst="rect">
                <a:avLst/>
              </a:prstGeom>
              <a:noFill/>
            </p:spPr>
            <p:txBody>
              <a:bodyPr wrap="none" lIns="0" tIns="0" rIns="0" bIns="0"/>
              <a:lstStyle/>
              <a:p>
                <a:pPr algn="just">
                  <a:lnSpc>
                    <a:spcPct val="140000"/>
                  </a:lnSpc>
                  <a:spcBef>
                    <a:spcPts val="0"/>
                  </a:spcBef>
                  <a:spcAft>
                    <a:spcPts val="0"/>
                  </a:spcAft>
                </a:pPr>
                <a:r>
                  <a:rPr sz="1950" dirty="0" err="1">
                    <a:solidFill>
                      <a:srgbClr val="000001"/>
                    </a:solidFill>
                    <a:latin typeface="Microsoft YaHei" pitchFamily="34" charset="-122"/>
                    <a:ea typeface="Microsoft YaHei" pitchFamily="34" charset="-122"/>
                  </a:rPr>
                  <a:t>新用户Agent覆盖进度</a:t>
                </a:r>
                <a:endParaRPr sz="1950" dirty="0">
                  <a:solidFill>
                    <a:srgbClr val="000001"/>
                  </a:solidFill>
                  <a:latin typeface="Microsoft YaHei" pitchFamily="34" charset="-122"/>
                  <a:ea typeface="Microsoft YaHei" pitchFamily="34" charset="-122"/>
                </a:endParaRPr>
              </a:p>
            </p:txBody>
          </p:sp>
          <p:sp>
            <p:nvSpPr>
              <p:cNvPr id="28" name="TextBox 25"/>
              <p:cNvSpPr txBox="1"/>
              <p:nvPr/>
            </p:nvSpPr>
            <p:spPr>
              <a:xfrm>
                <a:off x="1257492" y="4499638"/>
                <a:ext cx="3603265" cy="685800"/>
              </a:xfrm>
              <a:prstGeom prst="rect">
                <a:avLst/>
              </a:prstGeom>
              <a:noFill/>
            </p:spPr>
            <p:txBody>
              <a:bodyPr wrap="none" lIns="0" tIns="0" rIns="0" bIns="0"/>
              <a:lstStyle/>
              <a:p>
                <a:pPr marL="29210" algn="just">
                  <a:spcBef>
                    <a:spcPts val="0"/>
                  </a:spcBef>
                  <a:spcAft>
                    <a:spcPts val="0"/>
                  </a:spcAft>
                </a:pPr>
                <a:r>
                  <a:rPr sz="1685" dirty="0" err="1">
                    <a:solidFill>
                      <a:srgbClr val="02060D"/>
                    </a:solidFill>
                    <a:latin typeface="Microsoft YaHei" pitchFamily="34" charset="-122"/>
                    <a:ea typeface="Microsoft YaHei" pitchFamily="34" charset="-122"/>
                  </a:rPr>
                  <a:t>手机摄影BCD试点:完成</a:t>
                </a:r>
                <a:endParaRPr sz="1685" dirty="0">
                  <a:solidFill>
                    <a:srgbClr val="02060D"/>
                  </a:solidFill>
                  <a:latin typeface="Microsoft YaHei" pitchFamily="34" charset="-122"/>
                  <a:ea typeface="Microsoft YaHei" pitchFamily="34" charset="-122"/>
                </a:endParaRPr>
              </a:p>
              <a:p>
                <a:pPr>
                  <a:spcBef>
                    <a:spcPts val="1350"/>
                  </a:spcBef>
                </a:pPr>
                <a:r>
                  <a:rPr lang="zh-CN" sz="1685" dirty="0">
                    <a:latin typeface="Microsoft YaHei" pitchFamily="34" charset="-122"/>
                    <a:ea typeface="Microsoft YaHei" pitchFamily="34" charset="-122"/>
                  </a:rPr>
                  <a:t>其他品类:待</a:t>
                </a:r>
                <a:r>
                  <a:rPr lang="zh-CN" altLang="en-US" sz="1685" dirty="0">
                    <a:latin typeface="Microsoft YaHei" pitchFamily="34" charset="-122"/>
                    <a:ea typeface="Microsoft YaHei" pitchFamily="34" charset="-122"/>
                  </a:rPr>
                  <a:t>扩品（</a:t>
                </a:r>
                <a:r>
                  <a:rPr lang="en-US" altLang="zh-CN" sz="1685" dirty="0">
                    <a:latin typeface="Microsoft YaHei" pitchFamily="34" charset="-122"/>
                    <a:ea typeface="Microsoft YaHei" pitchFamily="34" charset="-122"/>
                  </a:rPr>
                  <a:t>4</a:t>
                </a:r>
                <a:r>
                  <a:rPr lang="zh-CN" altLang="en-US" sz="1685" dirty="0">
                    <a:latin typeface="Microsoft YaHei" pitchFamily="34" charset="-122"/>
                    <a:ea typeface="Microsoft YaHei" pitchFamily="34" charset="-122"/>
                  </a:rPr>
                  <a:t>月扩品</a:t>
                </a:r>
                <a:r>
                  <a:rPr lang="en-US" altLang="zh-CN" sz="1685" dirty="0">
                    <a:latin typeface="Microsoft YaHei" pitchFamily="34" charset="-122"/>
                    <a:ea typeface="Microsoft YaHei" pitchFamily="34" charset="-122"/>
                  </a:rPr>
                  <a:t>2</a:t>
                </a:r>
                <a:r>
                  <a:rPr lang="zh-CN" altLang="en-US" sz="1685" dirty="0">
                    <a:latin typeface="Microsoft YaHei" pitchFamily="34" charset="-122"/>
                    <a:ea typeface="Microsoft YaHei" pitchFamily="34" charset="-122"/>
                  </a:rPr>
                  <a:t>个品类）</a:t>
                </a:r>
                <a:endParaRPr lang="zh-CN" sz="1685" dirty="0">
                  <a:latin typeface="Microsoft YaHei" pitchFamily="34" charset="-122"/>
                  <a:ea typeface="Microsoft YaHei" pitchFamily="34" charset="-122"/>
                </a:endParaRPr>
              </a:p>
            </p:txBody>
          </p:sp>
          <p:sp>
            <p:nvSpPr>
              <p:cNvPr id="44" name="TextBox 21"/>
              <p:cNvSpPr txBox="1"/>
              <p:nvPr/>
            </p:nvSpPr>
            <p:spPr>
              <a:xfrm>
                <a:off x="1674646" y="5413086"/>
                <a:ext cx="2482406" cy="310750"/>
              </a:xfrm>
              <a:prstGeom prst="rect">
                <a:avLst/>
              </a:prstGeom>
              <a:noFill/>
            </p:spPr>
            <p:txBody>
              <a:bodyPr wrap="none" lIns="0" tIns="0" rIns="0" bIns="0"/>
              <a:lstStyle/>
              <a:p>
                <a:pPr algn="ctr">
                  <a:lnSpc>
                    <a:spcPct val="118000"/>
                  </a:lnSpc>
                  <a:spcBef>
                    <a:spcPts val="0"/>
                  </a:spcBef>
                  <a:spcAft>
                    <a:spcPts val="0"/>
                  </a:spcAft>
                </a:pPr>
                <a:r>
                  <a:rPr lang="zh-CN" altLang="en-US" sz="1600" dirty="0">
                    <a:solidFill>
                      <a:srgbClr val="03050D"/>
                    </a:solidFill>
                    <a:latin typeface="Microsoft YaHei" pitchFamily="34" charset="-122"/>
                    <a:ea typeface="Microsoft YaHei" pitchFamily="34" charset="-122"/>
                  </a:rPr>
                  <a:t>已实现</a:t>
                </a:r>
                <a:r>
                  <a:rPr lang="en-US" altLang="zh-CN" sz="1600" dirty="0">
                    <a:solidFill>
                      <a:srgbClr val="03050D"/>
                    </a:solidFill>
                    <a:latin typeface="Microsoft YaHei" pitchFamily="34" charset="-122"/>
                    <a:ea typeface="Microsoft YaHei" pitchFamily="34" charset="-122"/>
                  </a:rPr>
                  <a:t>2.0</a:t>
                </a:r>
                <a:r>
                  <a:rPr lang="zh-CN" altLang="en-US" sz="1600" dirty="0">
                    <a:solidFill>
                      <a:srgbClr val="03050D"/>
                    </a:solidFill>
                    <a:latin typeface="Microsoft YaHei" pitchFamily="34" charset="-122"/>
                    <a:ea typeface="Microsoft YaHei" pitchFamily="34" charset="-122"/>
                  </a:rPr>
                  <a:t>用户行为分层的精细化运营</a:t>
                </a:r>
                <a:endParaRPr sz="1600" dirty="0">
                  <a:solidFill>
                    <a:srgbClr val="03050D"/>
                  </a:solidFill>
                  <a:latin typeface="Microsoft YaHei" pitchFamily="34" charset="-122"/>
                  <a:ea typeface="Microsoft YaHei" pitchFamily="34" charset="-122"/>
                </a:endParaRPr>
              </a:p>
            </p:txBody>
          </p:sp>
          <p:sp>
            <p:nvSpPr>
              <p:cNvPr id="45" name="下箭头 44"/>
              <p:cNvSpPr/>
              <p:nvPr/>
            </p:nvSpPr>
            <p:spPr>
              <a:xfrm rot="10800000">
                <a:off x="958942" y="5401314"/>
                <a:ext cx="194322" cy="270575"/>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600">
                  <a:latin typeface="Microsoft YaHei" pitchFamily="34" charset="-122"/>
                  <a:ea typeface="Microsoft YaHei" pitchFamily="34" charset="-122"/>
                </a:endParaRPr>
              </a:p>
            </p:txBody>
          </p:sp>
        </p:grpSp>
        <p:sp>
          <p:nvSpPr>
            <p:cNvPr id="46" name="TextBox 18"/>
            <p:cNvSpPr txBox="1"/>
            <p:nvPr/>
          </p:nvSpPr>
          <p:spPr>
            <a:xfrm>
              <a:off x="4821619" y="4004355"/>
              <a:ext cx="1423909" cy="654664"/>
            </a:xfrm>
            <a:prstGeom prst="rect">
              <a:avLst/>
            </a:prstGeom>
            <a:noFill/>
          </p:spPr>
          <p:txBody>
            <a:bodyPr wrap="none" lIns="0" tIns="0" rIns="0" bIns="0"/>
            <a:lstStyle/>
            <a:p>
              <a:pPr algn="just">
                <a:lnSpc>
                  <a:spcPct val="135000"/>
                </a:lnSpc>
                <a:spcBef>
                  <a:spcPts val="0"/>
                </a:spcBef>
                <a:spcAft>
                  <a:spcPts val="0"/>
                </a:spcAft>
              </a:pPr>
              <a:r>
                <a:rPr lang="en-US" altLang="zh-CN" sz="1500" dirty="0">
                  <a:solidFill>
                    <a:srgbClr val="03070F"/>
                  </a:solidFill>
                  <a:latin typeface="Microsoft YaHei" pitchFamily="34" charset="-122"/>
                  <a:ea typeface="Microsoft YaHei" pitchFamily="34" charset="-122"/>
                </a:rPr>
                <a:t>3</a:t>
              </a:r>
              <a:r>
                <a:rPr lang="zh-CN" altLang="en-US" sz="1500" dirty="0">
                  <a:solidFill>
                    <a:srgbClr val="03070F"/>
                  </a:solidFill>
                  <a:latin typeface="Microsoft YaHei" pitchFamily="34" charset="-122"/>
                  <a:ea typeface="Microsoft YaHei" pitchFamily="34" charset="-122"/>
                </a:rPr>
                <a:t>月覆盖率</a:t>
              </a:r>
              <a:endParaRPr lang="en-US" altLang="zh-CN" sz="1500" dirty="0">
                <a:solidFill>
                  <a:srgbClr val="03070F"/>
                </a:solidFill>
                <a:latin typeface="Microsoft YaHei" pitchFamily="34" charset="-122"/>
                <a:ea typeface="Microsoft YaHei" pitchFamily="34" charset="-122"/>
              </a:endParaRPr>
            </a:p>
            <a:p>
              <a:pPr algn="just">
                <a:lnSpc>
                  <a:spcPct val="135000"/>
                </a:lnSpc>
                <a:spcBef>
                  <a:spcPts val="0"/>
                </a:spcBef>
                <a:spcAft>
                  <a:spcPts val="0"/>
                </a:spcAft>
              </a:pPr>
              <a:r>
                <a:rPr lang="en-US" altLang="zh-CN" sz="2800" dirty="0">
                  <a:solidFill>
                    <a:schemeClr val="accent3"/>
                  </a:solidFill>
                  <a:latin typeface="Microsoft YaHei" pitchFamily="34" charset="-122"/>
                  <a:ea typeface="Microsoft YaHei" pitchFamily="34" charset="-122"/>
                </a:rPr>
                <a:t>6%</a:t>
              </a:r>
              <a:endParaRPr lang="en-US" altLang="zh-CN" sz="2800" dirty="0">
                <a:solidFill>
                  <a:schemeClr val="accent3"/>
                </a:solidFill>
                <a:latin typeface="Microsoft YaHei" pitchFamily="34" charset="-122"/>
                <a:ea typeface="Microsoft YaHei" pitchFamily="34" charset="-122"/>
              </a:endParaRPr>
            </a:p>
            <a:p>
              <a:pPr algn="just">
                <a:lnSpc>
                  <a:spcPct val="135000"/>
                </a:lnSpc>
                <a:spcBef>
                  <a:spcPts val="0"/>
                </a:spcBef>
                <a:spcAft>
                  <a:spcPts val="0"/>
                </a:spcAft>
              </a:pPr>
              <a:endParaRPr sz="1500" dirty="0">
                <a:solidFill>
                  <a:srgbClr val="03070F"/>
                </a:solidFill>
                <a:latin typeface="Microsoft YaHei" pitchFamily="34" charset="-122"/>
                <a:ea typeface="Microsoft YaHei" pitchFamily="34" charset="-122"/>
              </a:endParaRPr>
            </a:p>
          </p:txBody>
        </p:sp>
        <p:sp>
          <p:nvSpPr>
            <p:cNvPr id="47" name="TextBox 18"/>
            <p:cNvSpPr txBox="1"/>
            <p:nvPr/>
          </p:nvSpPr>
          <p:spPr>
            <a:xfrm>
              <a:off x="4821618" y="4903561"/>
              <a:ext cx="1423909" cy="654664"/>
            </a:xfrm>
            <a:prstGeom prst="rect">
              <a:avLst/>
            </a:prstGeom>
            <a:noFill/>
          </p:spPr>
          <p:txBody>
            <a:bodyPr wrap="none" lIns="0" tIns="0" rIns="0" bIns="0"/>
            <a:lstStyle/>
            <a:p>
              <a:pPr algn="just">
                <a:lnSpc>
                  <a:spcPct val="135000"/>
                </a:lnSpc>
                <a:spcBef>
                  <a:spcPts val="0"/>
                </a:spcBef>
                <a:spcAft>
                  <a:spcPts val="0"/>
                </a:spcAft>
              </a:pPr>
              <a:r>
                <a:rPr lang="en-US" altLang="zh-CN" sz="1500" dirty="0">
                  <a:solidFill>
                    <a:srgbClr val="03070F"/>
                  </a:solidFill>
                  <a:latin typeface="Microsoft YaHei" pitchFamily="34" charset="-122"/>
                  <a:ea typeface="Microsoft YaHei" pitchFamily="34" charset="-122"/>
                </a:rPr>
                <a:t>4</a:t>
              </a:r>
              <a:r>
                <a:rPr lang="zh-CN" altLang="en-US" sz="1500" dirty="0">
                  <a:solidFill>
                    <a:srgbClr val="03070F"/>
                  </a:solidFill>
                  <a:latin typeface="Microsoft YaHei" pitchFamily="34" charset="-122"/>
                  <a:ea typeface="Microsoft YaHei" pitchFamily="34" charset="-122"/>
                </a:rPr>
                <a:t>月覆盖率</a:t>
              </a:r>
              <a:endParaRPr lang="en-US" altLang="zh-CN" sz="1500" dirty="0">
                <a:solidFill>
                  <a:srgbClr val="03070F"/>
                </a:solidFill>
                <a:latin typeface="Microsoft YaHei" pitchFamily="34" charset="-122"/>
                <a:ea typeface="Microsoft YaHei" pitchFamily="34" charset="-122"/>
              </a:endParaRPr>
            </a:p>
            <a:p>
              <a:pPr algn="just">
                <a:lnSpc>
                  <a:spcPct val="135000"/>
                </a:lnSpc>
                <a:spcBef>
                  <a:spcPts val="0"/>
                </a:spcBef>
                <a:spcAft>
                  <a:spcPts val="0"/>
                </a:spcAft>
              </a:pPr>
              <a:r>
                <a:rPr lang="en-US" altLang="zh-CN" sz="2800" dirty="0">
                  <a:solidFill>
                    <a:schemeClr val="accent3"/>
                  </a:solidFill>
                  <a:latin typeface="Microsoft YaHei" pitchFamily="34" charset="-122"/>
                  <a:ea typeface="Microsoft YaHei" pitchFamily="34" charset="-122"/>
                </a:rPr>
                <a:t>19%</a:t>
              </a:r>
              <a:endParaRPr lang="en-US" altLang="zh-CN" sz="2800" dirty="0">
                <a:solidFill>
                  <a:schemeClr val="accent3"/>
                </a:solidFill>
                <a:latin typeface="Microsoft YaHei" pitchFamily="34" charset="-122"/>
                <a:ea typeface="Microsoft YaHei" pitchFamily="34" charset="-122"/>
              </a:endParaRPr>
            </a:p>
            <a:p>
              <a:pPr algn="just">
                <a:lnSpc>
                  <a:spcPct val="135000"/>
                </a:lnSpc>
                <a:spcBef>
                  <a:spcPts val="0"/>
                </a:spcBef>
                <a:spcAft>
                  <a:spcPts val="0"/>
                </a:spcAft>
              </a:pPr>
              <a:endParaRPr sz="1500" dirty="0">
                <a:solidFill>
                  <a:srgbClr val="03070F"/>
                </a:solidFill>
                <a:latin typeface="Microsoft YaHei" pitchFamily="34" charset="-122"/>
                <a:ea typeface="Microsoft YaHei" pitchFamily="34" charset="-122"/>
              </a:endParaRPr>
            </a:p>
          </p:txBody>
        </p:sp>
      </p:grpSp>
      <p:pic>
        <p:nvPicPr>
          <p:cNvPr id="51" name="Picture 6" descr="image.png"/>
          <p:cNvPicPr>
            <a:picLocks noChangeAspect="1"/>
          </p:cNvPicPr>
          <p:nvPr/>
        </p:nvPicPr>
        <p:blipFill>
          <a:blip r:embed="rId6"/>
          <a:stretch>
            <a:fillRect/>
          </a:stretch>
        </p:blipFill>
        <p:spPr>
          <a:xfrm>
            <a:off x="9481709" y="4504365"/>
            <a:ext cx="1377886" cy="1344511"/>
          </a:xfrm>
          <a:prstGeom prst="rect">
            <a:avLst/>
          </a:prstGeom>
        </p:spPr>
      </p:pic>
      <p:sp>
        <p:nvSpPr>
          <p:cNvPr id="56" name="圆角矩形 55"/>
          <p:cNvSpPr/>
          <p:nvPr/>
        </p:nvSpPr>
        <p:spPr>
          <a:xfrm>
            <a:off x="6867116" y="5039131"/>
            <a:ext cx="2022989" cy="806705"/>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icrosoft YaHei" pitchFamily="34" charset="-122"/>
              <a:ea typeface="Microsoft YaHei" pitchFamily="34" charset="-122"/>
            </a:endParaRPr>
          </a:p>
        </p:txBody>
      </p:sp>
      <p:pic>
        <p:nvPicPr>
          <p:cNvPr id="52" name="Picture 10" descr="image.png"/>
          <p:cNvPicPr>
            <a:picLocks noChangeAspect="1"/>
          </p:cNvPicPr>
          <p:nvPr/>
        </p:nvPicPr>
        <p:blipFill>
          <a:blip r:embed="rId7"/>
          <a:stretch>
            <a:fillRect/>
          </a:stretch>
        </p:blipFill>
        <p:spPr>
          <a:xfrm>
            <a:off x="10991648" y="4720670"/>
            <a:ext cx="475358" cy="1065313"/>
          </a:xfrm>
          <a:prstGeom prst="rect">
            <a:avLst/>
          </a:prstGeom>
        </p:spPr>
      </p:pic>
      <p:sp>
        <p:nvSpPr>
          <p:cNvPr id="53" name="TextBox 22"/>
          <p:cNvSpPr txBox="1"/>
          <p:nvPr/>
        </p:nvSpPr>
        <p:spPr>
          <a:xfrm>
            <a:off x="8678076" y="3963509"/>
            <a:ext cx="2912793" cy="336870"/>
          </a:xfrm>
          <a:prstGeom prst="rect">
            <a:avLst/>
          </a:prstGeom>
          <a:noFill/>
        </p:spPr>
        <p:txBody>
          <a:bodyPr wrap="none" lIns="0" tIns="0" rIns="0" bIns="0"/>
          <a:lstStyle/>
          <a:p>
            <a:pPr algn="just">
              <a:lnSpc>
                <a:spcPct val="130000"/>
              </a:lnSpc>
              <a:spcBef>
                <a:spcPts val="0"/>
              </a:spcBef>
              <a:spcAft>
                <a:spcPts val="0"/>
              </a:spcAft>
            </a:pPr>
            <a:r>
              <a:rPr lang="zh-CN" altLang="en-US" sz="1950" dirty="0">
                <a:solidFill>
                  <a:srgbClr val="000000"/>
                </a:solidFill>
                <a:latin typeface="Microsoft YaHei" pitchFamily="34" charset="-122"/>
                <a:ea typeface="Microsoft YaHei" pitchFamily="34" charset="-122"/>
              </a:rPr>
              <a:t>单品类运营效率</a:t>
            </a:r>
            <a:r>
              <a:rPr sz="1950" dirty="0" err="1">
                <a:solidFill>
                  <a:srgbClr val="000000"/>
                </a:solidFill>
                <a:latin typeface="Microsoft YaHei" pitchFamily="34" charset="-122"/>
                <a:ea typeface="Microsoft YaHei" pitchFamily="34" charset="-122"/>
              </a:rPr>
              <a:t>提升</a:t>
            </a:r>
            <a:r>
              <a:rPr lang="zh-CN" altLang="en-US" sz="1950" dirty="0">
                <a:solidFill>
                  <a:srgbClr val="000000"/>
                </a:solidFill>
                <a:latin typeface="Microsoft YaHei" pitchFamily="34" charset="-122"/>
                <a:ea typeface="Microsoft YaHei" pitchFamily="34" charset="-122"/>
              </a:rPr>
              <a:t>幅度</a:t>
            </a:r>
            <a:endParaRPr sz="1950" dirty="0">
              <a:solidFill>
                <a:srgbClr val="000000"/>
              </a:solidFill>
              <a:latin typeface="Microsoft YaHei" pitchFamily="34" charset="-122"/>
              <a:ea typeface="Microsoft YaHei" pitchFamily="34" charset="-122"/>
            </a:endParaRPr>
          </a:p>
        </p:txBody>
      </p:sp>
      <p:sp>
        <p:nvSpPr>
          <p:cNvPr id="55" name="TextBox 26"/>
          <p:cNvSpPr txBox="1"/>
          <p:nvPr/>
        </p:nvSpPr>
        <p:spPr>
          <a:xfrm>
            <a:off x="9710499" y="5059815"/>
            <a:ext cx="920305" cy="257175"/>
          </a:xfrm>
          <a:prstGeom prst="rect">
            <a:avLst/>
          </a:prstGeom>
          <a:noFill/>
        </p:spPr>
        <p:txBody>
          <a:bodyPr wrap="none" lIns="0" tIns="0" rIns="0" bIns="0"/>
          <a:lstStyle/>
          <a:p>
            <a:pPr algn="ctr">
              <a:lnSpc>
                <a:spcPct val="113000"/>
              </a:lnSpc>
              <a:spcBef>
                <a:spcPts val="0"/>
              </a:spcBef>
              <a:spcAft>
                <a:spcPts val="0"/>
              </a:spcAft>
            </a:pPr>
            <a:r>
              <a:rPr lang="en-US" altLang="zh-CN" sz="1800" dirty="0">
                <a:solidFill>
                  <a:srgbClr val="000205"/>
                </a:solidFill>
                <a:latin typeface="Microsoft YaHei" pitchFamily="34" charset="-122"/>
                <a:ea typeface="Microsoft YaHei" pitchFamily="34" charset="-122"/>
              </a:rPr>
              <a:t>66%</a:t>
            </a:r>
            <a:endParaRPr lang="en-US" altLang="zh-CN" sz="1800" dirty="0">
              <a:solidFill>
                <a:srgbClr val="000205"/>
              </a:solidFill>
              <a:latin typeface="Microsoft YaHei" pitchFamily="34" charset="-122"/>
              <a:ea typeface="Microsoft YaHei" pitchFamily="34" charset="-122"/>
            </a:endParaRPr>
          </a:p>
        </p:txBody>
      </p:sp>
      <p:sp>
        <p:nvSpPr>
          <p:cNvPr id="57" name="TextBox 21"/>
          <p:cNvSpPr txBox="1"/>
          <p:nvPr/>
        </p:nvSpPr>
        <p:spPr>
          <a:xfrm>
            <a:off x="7123570" y="5171182"/>
            <a:ext cx="1452190" cy="621500"/>
          </a:xfrm>
          <a:prstGeom prst="rect">
            <a:avLst/>
          </a:prstGeom>
          <a:noFill/>
        </p:spPr>
        <p:txBody>
          <a:bodyPr wrap="none" lIns="0" tIns="0" rIns="0" bIns="0"/>
          <a:lstStyle/>
          <a:p>
            <a:pPr algn="ctr">
              <a:lnSpc>
                <a:spcPct val="118000"/>
              </a:lnSpc>
              <a:spcBef>
                <a:spcPts val="0"/>
              </a:spcBef>
              <a:spcAft>
                <a:spcPts val="0"/>
              </a:spcAft>
            </a:pPr>
            <a:r>
              <a:rPr sz="1600" dirty="0" err="1">
                <a:solidFill>
                  <a:schemeClr val="bg1"/>
                </a:solidFill>
                <a:latin typeface="Microsoft YaHei" pitchFamily="34" charset="-122"/>
                <a:ea typeface="Microsoft YaHei" pitchFamily="34" charset="-122"/>
              </a:rPr>
              <a:t>优化</a:t>
            </a:r>
            <a:r>
              <a:rPr lang="zh-CN" altLang="en-US" sz="1600" dirty="0">
                <a:solidFill>
                  <a:schemeClr val="bg1"/>
                </a:solidFill>
                <a:latin typeface="Microsoft YaHei" pitchFamily="34" charset="-122"/>
                <a:ea typeface="Microsoft YaHei" pitchFamily="34" charset="-122"/>
              </a:rPr>
              <a:t>流程化管理</a:t>
            </a:r>
            <a:endParaRPr lang="en-US" altLang="zh-CN" sz="1600" dirty="0">
              <a:solidFill>
                <a:schemeClr val="bg1"/>
              </a:solidFill>
              <a:latin typeface="Microsoft YaHei" pitchFamily="34" charset="-122"/>
              <a:ea typeface="Microsoft YaHei" pitchFamily="34" charset="-122"/>
            </a:endParaRPr>
          </a:p>
          <a:p>
            <a:pPr algn="ctr">
              <a:lnSpc>
                <a:spcPct val="118000"/>
              </a:lnSpc>
              <a:spcBef>
                <a:spcPts val="0"/>
              </a:spcBef>
              <a:spcAft>
                <a:spcPts val="0"/>
              </a:spcAft>
            </a:pPr>
            <a:r>
              <a:rPr lang="zh-CN" altLang="en-US" sz="1600" dirty="0">
                <a:solidFill>
                  <a:schemeClr val="bg1"/>
                </a:solidFill>
                <a:latin typeface="Microsoft YaHei" pitchFamily="34" charset="-122"/>
                <a:ea typeface="Microsoft YaHei" pitchFamily="34" charset="-122"/>
              </a:rPr>
              <a:t>场景、品类属性</a:t>
            </a:r>
            <a:endParaRPr sz="1600" dirty="0">
              <a:solidFill>
                <a:schemeClr val="bg1"/>
              </a:solidFill>
              <a:latin typeface="Microsoft YaHei" pitchFamily="34" charset="-122"/>
              <a:ea typeface="Microsoft YaHei" pitchFamily="34" charset="-122"/>
            </a:endParaRPr>
          </a:p>
        </p:txBody>
      </p:sp>
      <p:pic>
        <p:nvPicPr>
          <p:cNvPr id="58" name="Picture 5" descr="image.png"/>
          <p:cNvPicPr>
            <a:picLocks noChangeAspect="1"/>
          </p:cNvPicPr>
          <p:nvPr/>
        </p:nvPicPr>
        <p:blipFill>
          <a:blip r:embed="rId8"/>
          <a:stretch>
            <a:fillRect/>
          </a:stretch>
        </p:blipFill>
        <p:spPr>
          <a:xfrm>
            <a:off x="5651482" y="-3677"/>
            <a:ext cx="5793106" cy="616365"/>
          </a:xfrm>
          <a:prstGeom prst="rect">
            <a:avLst/>
          </a:prstGeom>
        </p:spPr>
      </p:pic>
      <p:sp>
        <p:nvSpPr>
          <p:cNvPr id="59" name="TextBox 6"/>
          <p:cNvSpPr txBox="1"/>
          <p:nvPr/>
        </p:nvSpPr>
        <p:spPr>
          <a:xfrm>
            <a:off x="5058761" y="94781"/>
            <a:ext cx="6846284" cy="385762"/>
          </a:xfrm>
          <a:prstGeom prst="rect">
            <a:avLst/>
          </a:prstGeom>
          <a:noFill/>
        </p:spPr>
        <p:txBody>
          <a:bodyPr wrap="none" lIns="0" tIns="0" rIns="0" bIns="0"/>
          <a:lstStyle/>
          <a:p>
            <a:pPr algn="ctr">
              <a:lnSpc>
                <a:spcPct val="116000"/>
              </a:lnSpc>
              <a:spcBef>
                <a:spcPts val="0"/>
              </a:spcBef>
              <a:spcAft>
                <a:spcPts val="0"/>
              </a:spcAft>
            </a:pPr>
            <a:r>
              <a:rPr sz="2000" dirty="0" err="1">
                <a:solidFill>
                  <a:srgbClr val="FDFCFD"/>
                </a:solidFill>
                <a:latin typeface="Microsoft YaHei" pitchFamily="34" charset="-122"/>
                <a:ea typeface="Microsoft YaHei" pitchFamily="34" charset="-122"/>
              </a:rPr>
              <a:t>人工运营效率低,内容生产耗时,直播触达粗放</a:t>
            </a:r>
            <a:endParaRPr sz="2000" dirty="0">
              <a:solidFill>
                <a:srgbClr val="FDFCFD"/>
              </a:solidFill>
              <a:latin typeface="Microsoft YaHei" pitchFamily="34" charset="-122"/>
              <a:ea typeface="Microsoft YaHei" pitchFamily="34" charset="-122"/>
            </a:endParaRPr>
          </a:p>
        </p:txBody>
      </p:sp>
      <p:sp>
        <p:nvSpPr>
          <p:cNvPr id="62" name="TextBox 8"/>
          <p:cNvSpPr txBox="1"/>
          <p:nvPr/>
        </p:nvSpPr>
        <p:spPr>
          <a:xfrm>
            <a:off x="503278" y="3948705"/>
            <a:ext cx="1157668" cy="321468"/>
          </a:xfrm>
          <a:prstGeom prst="rect">
            <a:avLst/>
          </a:prstGeom>
          <a:noFill/>
        </p:spPr>
        <p:txBody>
          <a:bodyPr wrap="none" lIns="0" tIns="0" rIns="0" bIns="0"/>
          <a:lstStyle/>
          <a:p>
            <a:pPr algn="just">
              <a:lnSpc>
                <a:spcPct val="116000"/>
              </a:lnSpc>
              <a:spcBef>
                <a:spcPts val="0"/>
              </a:spcBef>
              <a:spcAft>
                <a:spcPts val="0"/>
              </a:spcAft>
            </a:pPr>
            <a:endParaRPr sz="2175" dirty="0">
              <a:solidFill>
                <a:srgbClr val="000000"/>
              </a:solidFill>
              <a:latin typeface="Microsoft YaHei" pitchFamily="34" charset="-122"/>
              <a:ea typeface="Microsoft YaHei" pitchFamily="34" charset="-122"/>
            </a:endParaRPr>
          </a:p>
        </p:txBody>
      </p:sp>
      <p:sp>
        <p:nvSpPr>
          <p:cNvPr id="63" name="TextBox 9"/>
          <p:cNvSpPr txBox="1"/>
          <p:nvPr/>
        </p:nvSpPr>
        <p:spPr>
          <a:xfrm>
            <a:off x="503276" y="4474279"/>
            <a:ext cx="2291317" cy="1147102"/>
          </a:xfrm>
          <a:prstGeom prst="rect">
            <a:avLst/>
          </a:prstGeom>
          <a:noFill/>
        </p:spPr>
        <p:txBody>
          <a:bodyPr wrap="none" lIns="0" tIns="0" rIns="0" bIns="0"/>
          <a:lstStyle/>
          <a:p>
            <a:pPr algn="just">
              <a:lnSpc>
                <a:spcPct val="116000"/>
              </a:lnSpc>
              <a:spcBef>
                <a:spcPts val="0"/>
              </a:spcBef>
              <a:spcAft>
                <a:spcPts val="0"/>
              </a:spcAft>
            </a:pPr>
            <a:r>
              <a:rPr sz="2000" dirty="0" err="1">
                <a:solidFill>
                  <a:srgbClr val="000000"/>
                </a:solidFill>
                <a:latin typeface="Microsoft YaHei" pitchFamily="34" charset="-122"/>
                <a:ea typeface="Microsoft YaHei" pitchFamily="34" charset="-122"/>
              </a:rPr>
              <a:t>需求</a:t>
            </a:r>
            <a:r>
              <a:rPr lang="zh-CN" altLang="en-US" sz="2000" dirty="0">
                <a:solidFill>
                  <a:srgbClr val="000000"/>
                </a:solidFill>
                <a:latin typeface="Microsoft YaHei" pitchFamily="34" charset="-122"/>
                <a:ea typeface="Microsoft YaHei" pitchFamily="34" charset="-122"/>
              </a:rPr>
              <a:t>策略</a:t>
            </a:r>
            <a:r>
              <a:rPr sz="2000" dirty="0" err="1">
                <a:solidFill>
                  <a:srgbClr val="000000"/>
                </a:solidFill>
                <a:latin typeface="Microsoft YaHei" pitchFamily="34" charset="-122"/>
                <a:ea typeface="Microsoft YaHei" pitchFamily="34" charset="-122"/>
              </a:rPr>
              <a:t>定义</a:t>
            </a:r>
            <a:endParaRPr lang="en-US" sz="2000" dirty="0">
              <a:solidFill>
                <a:srgbClr val="000000"/>
              </a:solidFill>
              <a:latin typeface="Microsoft YaHei" pitchFamily="34" charset="-122"/>
              <a:ea typeface="Microsoft YaHei" pitchFamily="34" charset="-122"/>
            </a:endParaRPr>
          </a:p>
          <a:p>
            <a:pPr algn="just">
              <a:lnSpc>
                <a:spcPct val="116000"/>
              </a:lnSpc>
              <a:spcBef>
                <a:spcPts val="0"/>
              </a:spcBef>
              <a:spcAft>
                <a:spcPts val="0"/>
              </a:spcAft>
            </a:pPr>
            <a:r>
              <a:rPr sz="2000" dirty="0" err="1">
                <a:solidFill>
                  <a:srgbClr val="000000"/>
                </a:solidFill>
                <a:latin typeface="Microsoft YaHei" pitchFamily="34" charset="-122"/>
                <a:ea typeface="Microsoft YaHei" pitchFamily="34" charset="-122"/>
              </a:rPr>
              <a:t>与</a:t>
            </a:r>
            <a:r>
              <a:rPr lang="en-US" altLang="zh-CN" sz="2000" dirty="0" err="1">
                <a:solidFill>
                  <a:srgbClr val="000000"/>
                </a:solidFill>
                <a:latin typeface="Microsoft YaHei" pitchFamily="34" charset="-122"/>
                <a:ea typeface="Microsoft YaHei" pitchFamily="34" charset="-122"/>
              </a:rPr>
              <a:t>AI</a:t>
            </a:r>
            <a:r>
              <a:rPr sz="2000" dirty="0" err="1">
                <a:solidFill>
                  <a:srgbClr val="000000"/>
                </a:solidFill>
                <a:latin typeface="Microsoft YaHei" pitchFamily="34" charset="-122"/>
                <a:ea typeface="Microsoft YaHei" pitchFamily="34" charset="-122"/>
              </a:rPr>
              <a:t>BP</a:t>
            </a:r>
            <a:r>
              <a:rPr lang="zh-CN" altLang="en-US" sz="2000" dirty="0">
                <a:solidFill>
                  <a:srgbClr val="000000"/>
                </a:solidFill>
                <a:latin typeface="Microsoft YaHei" pitchFamily="34" charset="-122"/>
                <a:ea typeface="Microsoft YaHei" pitchFamily="34" charset="-122"/>
              </a:rPr>
              <a:t>、产研</a:t>
            </a:r>
            <a:r>
              <a:rPr sz="2000" dirty="0" err="1">
                <a:solidFill>
                  <a:srgbClr val="000000"/>
                </a:solidFill>
                <a:latin typeface="Microsoft YaHei" pitchFamily="34" charset="-122"/>
                <a:ea typeface="Microsoft YaHei" pitchFamily="34" charset="-122"/>
              </a:rPr>
              <a:t>协同</a:t>
            </a:r>
            <a:endParaRPr lang="en-US" sz="2000" dirty="0">
              <a:solidFill>
                <a:srgbClr val="000000"/>
              </a:solidFill>
              <a:latin typeface="Microsoft YaHei" pitchFamily="34" charset="-122"/>
              <a:ea typeface="Microsoft YaHei" pitchFamily="34" charset="-122"/>
            </a:endParaRPr>
          </a:p>
          <a:p>
            <a:pPr algn="just">
              <a:lnSpc>
                <a:spcPct val="116000"/>
              </a:lnSpc>
              <a:spcBef>
                <a:spcPts val="0"/>
              </a:spcBef>
              <a:spcAft>
                <a:spcPts val="0"/>
              </a:spcAft>
            </a:pPr>
            <a:r>
              <a:rPr sz="2000" dirty="0" err="1">
                <a:solidFill>
                  <a:srgbClr val="000000"/>
                </a:solidFill>
                <a:latin typeface="Microsoft YaHei" pitchFamily="34" charset="-122"/>
                <a:ea typeface="Microsoft YaHei" pitchFamily="34" charset="-122"/>
              </a:rPr>
              <a:t>效果验证</a:t>
            </a:r>
            <a:endParaRPr sz="2000" dirty="0">
              <a:solidFill>
                <a:srgbClr val="000000"/>
              </a:solidFill>
              <a:latin typeface="Microsoft YaHei" pitchFamily="34" charset="-122"/>
              <a:ea typeface="Microsoft YaHei" pitchFamily="34" charset="-122"/>
            </a:endParaRPr>
          </a:p>
        </p:txBody>
      </p:sp>
      <p:sp>
        <p:nvSpPr>
          <p:cNvPr id="3" name="圆角矩形 2"/>
          <p:cNvSpPr/>
          <p:nvPr/>
        </p:nvSpPr>
        <p:spPr>
          <a:xfrm>
            <a:off x="503276" y="3755738"/>
            <a:ext cx="1745719" cy="548755"/>
          </a:xfrm>
          <a:prstGeom prst="roundRect">
            <a:avLst>
              <a:gd name="adj" fmla="val 50000"/>
            </a:avLst>
          </a:prstGeom>
          <a:solidFill>
            <a:schemeClr val="accent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Microsoft YaHei" pitchFamily="34" charset="-122"/>
                <a:ea typeface="Microsoft YaHei" pitchFamily="34" charset="-122"/>
              </a:rPr>
              <a:t>个人职责</a:t>
            </a:r>
            <a:endParaRPr lang="zh-CN" altLang="en-US" sz="2000" dirty="0">
              <a:solidFill>
                <a:schemeClr val="bg1"/>
              </a:solidFill>
              <a:latin typeface="Microsoft YaHei" pitchFamily="34" charset="-122"/>
              <a:ea typeface="Microsoft YaHei" pitchFamily="34" charset="-122"/>
            </a:endParaRPr>
          </a:p>
        </p:txBody>
      </p:sp>
    </p:spTree>
    <p:custDataLst>
      <p:tags r:id="rId9"/>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7050994" y="1354159"/>
            <a:ext cx="4494581" cy="3968681"/>
            <a:chOff x="1861414" y="1371600"/>
            <a:chExt cx="4494581" cy="3968681"/>
          </a:xfrm>
        </p:grpSpPr>
        <p:sp>
          <p:nvSpPr>
            <p:cNvPr id="74" name="圆角矩形 73"/>
            <p:cNvSpPr/>
            <p:nvPr/>
          </p:nvSpPr>
          <p:spPr>
            <a:xfrm>
              <a:off x="1861414" y="1371600"/>
              <a:ext cx="4494581" cy="3968681"/>
            </a:xfrm>
            <a:prstGeom prst="roundRect">
              <a:avLst>
                <a:gd name="adj" fmla="val 6328"/>
              </a:avLst>
            </a:prstGeom>
            <a:solidFill>
              <a:srgbClr val="D606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75" name="圆角矩形 74"/>
            <p:cNvSpPr/>
            <p:nvPr/>
          </p:nvSpPr>
          <p:spPr>
            <a:xfrm>
              <a:off x="1898751" y="2024326"/>
              <a:ext cx="4398303" cy="3263167"/>
            </a:xfrm>
            <a:prstGeom prst="roundRect">
              <a:avLst>
                <a:gd name="adj" fmla="val 8483"/>
              </a:avLst>
            </a:prstGeom>
            <a:solidFill>
              <a:srgbClr val="FF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grpSp>
      <p:grpSp>
        <p:nvGrpSpPr>
          <p:cNvPr id="72" name="组合 71"/>
          <p:cNvGrpSpPr/>
          <p:nvPr/>
        </p:nvGrpSpPr>
        <p:grpSpPr>
          <a:xfrm>
            <a:off x="646425" y="1354159"/>
            <a:ext cx="4494581" cy="3968681"/>
            <a:chOff x="1861414" y="1371600"/>
            <a:chExt cx="4494581" cy="3968681"/>
          </a:xfrm>
        </p:grpSpPr>
        <p:sp>
          <p:nvSpPr>
            <p:cNvPr id="69" name="圆角矩形 68"/>
            <p:cNvSpPr/>
            <p:nvPr/>
          </p:nvSpPr>
          <p:spPr>
            <a:xfrm>
              <a:off x="1861414" y="1371600"/>
              <a:ext cx="4494581" cy="3968681"/>
            </a:xfrm>
            <a:prstGeom prst="roundRect">
              <a:avLst>
                <a:gd name="adj" fmla="val 6328"/>
              </a:avLst>
            </a:prstGeom>
            <a:solidFill>
              <a:srgbClr val="D606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71" name="圆角矩形 70"/>
            <p:cNvSpPr/>
            <p:nvPr/>
          </p:nvSpPr>
          <p:spPr>
            <a:xfrm>
              <a:off x="1898751" y="2024326"/>
              <a:ext cx="4398303" cy="3263167"/>
            </a:xfrm>
            <a:prstGeom prst="roundRect">
              <a:avLst>
                <a:gd name="adj" fmla="val 8483"/>
              </a:avLst>
            </a:prstGeom>
            <a:solidFill>
              <a:srgbClr val="FF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grpSp>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pic>
        <p:nvPicPr>
          <p:cNvPr id="8" name="Picture 5" descr="image.png"/>
          <p:cNvPicPr>
            <a:picLocks noChangeAspect="1"/>
          </p:cNvPicPr>
          <p:nvPr/>
        </p:nvPicPr>
        <p:blipFill>
          <a:blip r:embed="rId1"/>
          <a:stretch>
            <a:fillRect/>
          </a:stretch>
        </p:blipFill>
        <p:spPr>
          <a:xfrm>
            <a:off x="944880" y="3740030"/>
            <a:ext cx="683879" cy="670201"/>
          </a:xfrm>
          <a:prstGeom prst="rect">
            <a:avLst/>
          </a:prstGeom>
        </p:spPr>
      </p:pic>
      <p:pic>
        <p:nvPicPr>
          <p:cNvPr id="9" name="Picture 6" descr="image.png"/>
          <p:cNvPicPr>
            <a:picLocks noChangeAspect="1"/>
          </p:cNvPicPr>
          <p:nvPr/>
        </p:nvPicPr>
        <p:blipFill>
          <a:blip r:embed="rId2"/>
          <a:stretch>
            <a:fillRect/>
          </a:stretch>
        </p:blipFill>
        <p:spPr>
          <a:xfrm>
            <a:off x="953739" y="2068466"/>
            <a:ext cx="674468" cy="660796"/>
          </a:xfrm>
          <a:prstGeom prst="rect">
            <a:avLst/>
          </a:prstGeom>
        </p:spPr>
      </p:pic>
      <p:pic>
        <p:nvPicPr>
          <p:cNvPr id="13" name="Picture 7" descr="image.png"/>
          <p:cNvPicPr>
            <a:picLocks noChangeAspect="1"/>
          </p:cNvPicPr>
          <p:nvPr/>
        </p:nvPicPr>
        <p:blipFill>
          <a:blip r:embed="rId3"/>
          <a:stretch>
            <a:fillRect/>
          </a:stretch>
        </p:blipFill>
        <p:spPr>
          <a:xfrm>
            <a:off x="7246239" y="3738427"/>
            <a:ext cx="667980" cy="667980"/>
          </a:xfrm>
          <a:prstGeom prst="rect">
            <a:avLst/>
          </a:prstGeom>
        </p:spPr>
      </p:pic>
      <p:pic>
        <p:nvPicPr>
          <p:cNvPr id="14" name="Picture 8" descr="image.png"/>
          <p:cNvPicPr>
            <a:picLocks noChangeAspect="1"/>
          </p:cNvPicPr>
          <p:nvPr/>
        </p:nvPicPr>
        <p:blipFill>
          <a:blip r:embed="rId4"/>
          <a:stretch>
            <a:fillRect/>
          </a:stretch>
        </p:blipFill>
        <p:spPr>
          <a:xfrm>
            <a:off x="7240333" y="2895867"/>
            <a:ext cx="674833" cy="656594"/>
          </a:xfrm>
          <a:prstGeom prst="rect">
            <a:avLst/>
          </a:prstGeom>
        </p:spPr>
      </p:pic>
      <p:pic>
        <p:nvPicPr>
          <p:cNvPr id="17" name="Picture 9" descr="image.png"/>
          <p:cNvPicPr>
            <a:picLocks noChangeAspect="1"/>
          </p:cNvPicPr>
          <p:nvPr/>
        </p:nvPicPr>
        <p:blipFill>
          <a:blip r:embed="rId5"/>
          <a:stretch>
            <a:fillRect/>
          </a:stretch>
        </p:blipFill>
        <p:spPr>
          <a:xfrm>
            <a:off x="953864" y="2899944"/>
            <a:ext cx="673953" cy="655738"/>
          </a:xfrm>
          <a:prstGeom prst="rect">
            <a:avLst/>
          </a:prstGeom>
        </p:spPr>
      </p:pic>
      <p:pic>
        <p:nvPicPr>
          <p:cNvPr id="24" name="Picture 10" descr="image.png"/>
          <p:cNvPicPr>
            <a:picLocks noChangeAspect="1"/>
          </p:cNvPicPr>
          <p:nvPr/>
        </p:nvPicPr>
        <p:blipFill>
          <a:blip r:embed="rId6"/>
          <a:stretch>
            <a:fillRect/>
          </a:stretch>
        </p:blipFill>
        <p:spPr>
          <a:xfrm>
            <a:off x="7252910" y="2065217"/>
            <a:ext cx="658928" cy="663504"/>
          </a:xfrm>
          <a:prstGeom prst="rect">
            <a:avLst/>
          </a:prstGeom>
        </p:spPr>
      </p:pic>
      <p:sp>
        <p:nvSpPr>
          <p:cNvPr id="25" name="TextBox 12"/>
          <p:cNvSpPr txBox="1"/>
          <p:nvPr/>
        </p:nvSpPr>
        <p:spPr>
          <a:xfrm>
            <a:off x="1018574" y="1438906"/>
            <a:ext cx="970756" cy="400917"/>
          </a:xfrm>
          <a:prstGeom prst="rect">
            <a:avLst/>
          </a:prstGeom>
          <a:noFill/>
        </p:spPr>
        <p:txBody>
          <a:bodyPr wrap="none" lIns="0" tIns="0" rIns="0" bIns="0"/>
          <a:lstStyle/>
          <a:p>
            <a:pPr algn="ctr">
              <a:lnSpc>
                <a:spcPct val="115000"/>
              </a:lnSpc>
              <a:spcBef>
                <a:spcPts val="0"/>
              </a:spcBef>
              <a:spcAft>
                <a:spcPts val="0"/>
              </a:spcAft>
            </a:pPr>
            <a:r>
              <a:rPr sz="2850" dirty="0" err="1">
                <a:solidFill>
                  <a:srgbClr val="FEFEFE"/>
                </a:solidFill>
                <a:latin typeface="Microsoft YaHei" pitchFamily="34" charset="-122"/>
                <a:ea typeface="Microsoft YaHei" pitchFamily="34" charset="-122"/>
              </a:rPr>
              <a:t>改造前</a:t>
            </a:r>
            <a:endParaRPr sz="2850" dirty="0">
              <a:solidFill>
                <a:srgbClr val="FEFEFE"/>
              </a:solidFill>
              <a:latin typeface="Microsoft YaHei" pitchFamily="34" charset="-122"/>
              <a:ea typeface="Microsoft YaHei" pitchFamily="34" charset="-122"/>
            </a:endParaRPr>
          </a:p>
        </p:txBody>
      </p:sp>
      <p:sp>
        <p:nvSpPr>
          <p:cNvPr id="27" name="TextBox 13"/>
          <p:cNvSpPr txBox="1"/>
          <p:nvPr/>
        </p:nvSpPr>
        <p:spPr>
          <a:xfrm>
            <a:off x="7438990" y="1435979"/>
            <a:ext cx="945695" cy="400917"/>
          </a:xfrm>
          <a:prstGeom prst="rect">
            <a:avLst/>
          </a:prstGeom>
          <a:noFill/>
        </p:spPr>
        <p:txBody>
          <a:bodyPr wrap="none" lIns="0" tIns="0" rIns="0" bIns="0"/>
          <a:lstStyle/>
          <a:p>
            <a:pPr algn="ctr">
              <a:lnSpc>
                <a:spcPct val="119000"/>
              </a:lnSpc>
              <a:spcBef>
                <a:spcPts val="0"/>
              </a:spcBef>
              <a:spcAft>
                <a:spcPts val="0"/>
              </a:spcAft>
            </a:pPr>
            <a:r>
              <a:rPr sz="2775" dirty="0" err="1">
                <a:solidFill>
                  <a:srgbClr val="FEFEFE"/>
                </a:solidFill>
                <a:latin typeface="Microsoft YaHei" pitchFamily="34" charset="-122"/>
                <a:ea typeface="Microsoft YaHei" pitchFamily="34" charset="-122"/>
              </a:rPr>
              <a:t>改造后</a:t>
            </a:r>
            <a:endParaRPr sz="2775" dirty="0">
              <a:solidFill>
                <a:srgbClr val="FEFEFE"/>
              </a:solidFill>
              <a:latin typeface="Microsoft YaHei" pitchFamily="34" charset="-122"/>
              <a:ea typeface="Microsoft YaHei" pitchFamily="34" charset="-122"/>
            </a:endParaRPr>
          </a:p>
        </p:txBody>
      </p:sp>
      <p:sp>
        <p:nvSpPr>
          <p:cNvPr id="29" name="TextBox 14"/>
          <p:cNvSpPr txBox="1"/>
          <p:nvPr/>
        </p:nvSpPr>
        <p:spPr>
          <a:xfrm>
            <a:off x="1954815" y="2180284"/>
            <a:ext cx="3116042" cy="370034"/>
          </a:xfrm>
          <a:prstGeom prst="rect">
            <a:avLst/>
          </a:prstGeom>
          <a:noFill/>
        </p:spPr>
        <p:txBody>
          <a:bodyPr wrap="none" lIns="0" tIns="0" rIns="0" bIns="0"/>
          <a:lstStyle/>
          <a:p>
            <a:pPr algn="just">
              <a:lnSpc>
                <a:spcPct val="116000"/>
              </a:lnSpc>
              <a:spcBef>
                <a:spcPts val="0"/>
              </a:spcBef>
              <a:spcAft>
                <a:spcPts val="0"/>
              </a:spcAft>
            </a:pPr>
            <a:r>
              <a:rPr sz="2000" dirty="0" err="1">
                <a:solidFill>
                  <a:srgbClr val="000000"/>
                </a:solidFill>
                <a:latin typeface="Microsoft YaHei" pitchFamily="34" charset="-122"/>
                <a:ea typeface="Microsoft YaHei" pitchFamily="34" charset="-122"/>
              </a:rPr>
              <a:t>人工分析</a:t>
            </a:r>
            <a:r>
              <a:rPr lang="zh-CN" altLang="en-US" sz="2000" dirty="0">
                <a:solidFill>
                  <a:srgbClr val="000000"/>
                </a:solidFill>
                <a:latin typeface="Microsoft YaHei" pitchFamily="34" charset="-122"/>
                <a:ea typeface="Microsoft YaHei" pitchFamily="34" charset="-122"/>
              </a:rPr>
              <a:t>用户</a:t>
            </a:r>
            <a:r>
              <a:rPr sz="2000" dirty="0" err="1">
                <a:solidFill>
                  <a:srgbClr val="000000"/>
                </a:solidFill>
                <a:latin typeface="Microsoft YaHei" pitchFamily="34" charset="-122"/>
                <a:ea typeface="Microsoft YaHei" pitchFamily="34" charset="-122"/>
              </a:rPr>
              <a:t>需求</a:t>
            </a:r>
            <a:r>
              <a:rPr sz="2000" dirty="0">
                <a:solidFill>
                  <a:srgbClr val="000000"/>
                </a:solidFill>
                <a:latin typeface="Microsoft YaHei" pitchFamily="34" charset="-122"/>
                <a:ea typeface="Microsoft YaHei" pitchFamily="34" charset="-122"/>
              </a:rPr>
              <a:t>→</a:t>
            </a:r>
            <a:endParaRPr lang="en-US" sz="2000" dirty="0">
              <a:solidFill>
                <a:srgbClr val="000000"/>
              </a:solidFill>
              <a:latin typeface="Microsoft YaHei" pitchFamily="34" charset="-122"/>
              <a:ea typeface="Microsoft YaHei" pitchFamily="34" charset="-122"/>
            </a:endParaRPr>
          </a:p>
        </p:txBody>
      </p:sp>
      <p:sp>
        <p:nvSpPr>
          <p:cNvPr id="32" name="TextBox 17"/>
          <p:cNvSpPr txBox="1"/>
          <p:nvPr/>
        </p:nvSpPr>
        <p:spPr>
          <a:xfrm>
            <a:off x="1925478" y="3006959"/>
            <a:ext cx="2864454" cy="370034"/>
          </a:xfrm>
          <a:prstGeom prst="rect">
            <a:avLst/>
          </a:prstGeom>
          <a:noFill/>
        </p:spPr>
        <p:txBody>
          <a:bodyPr wrap="none" lIns="0" tIns="0" rIns="0" bIns="0"/>
          <a:lstStyle/>
          <a:p>
            <a:pPr algn="just">
              <a:lnSpc>
                <a:spcPct val="113000"/>
              </a:lnSpc>
              <a:spcBef>
                <a:spcPts val="0"/>
              </a:spcBef>
              <a:spcAft>
                <a:spcPts val="0"/>
              </a:spcAft>
            </a:pPr>
            <a:r>
              <a:rPr lang="zh-CN" altLang="en-US" sz="2000" dirty="0">
                <a:solidFill>
                  <a:srgbClr val="000000"/>
                </a:solidFill>
                <a:latin typeface="Microsoft YaHei" pitchFamily="34" charset="-122"/>
                <a:ea typeface="Microsoft YaHei" pitchFamily="34" charset="-122"/>
              </a:rPr>
              <a:t>利用</a:t>
            </a:r>
            <a:r>
              <a:rPr lang="en-US" altLang="zh-CN" sz="2000" dirty="0">
                <a:solidFill>
                  <a:srgbClr val="000000"/>
                </a:solidFill>
                <a:latin typeface="Microsoft YaHei" pitchFamily="34" charset="-122"/>
                <a:ea typeface="Microsoft YaHei" pitchFamily="34" charset="-122"/>
              </a:rPr>
              <a:t>AI</a:t>
            </a:r>
            <a:r>
              <a:rPr lang="zh-CN" altLang="en-US" sz="2000" dirty="0">
                <a:solidFill>
                  <a:srgbClr val="000000"/>
                </a:solidFill>
                <a:latin typeface="Microsoft YaHei" pitchFamily="34" charset="-122"/>
                <a:ea typeface="Microsoft YaHei" pitchFamily="34" charset="-122"/>
              </a:rPr>
              <a:t>工具</a:t>
            </a:r>
            <a:r>
              <a:rPr sz="2000" dirty="0" err="1">
                <a:solidFill>
                  <a:srgbClr val="000000"/>
                </a:solidFill>
                <a:latin typeface="Microsoft YaHei" pitchFamily="34" charset="-122"/>
                <a:ea typeface="Microsoft YaHei" pitchFamily="34" charset="-122"/>
              </a:rPr>
              <a:t>撰写文案</a:t>
            </a:r>
            <a:r>
              <a:rPr lang="zh-CN" altLang="en-US" sz="2000" dirty="0">
                <a:solidFill>
                  <a:srgbClr val="000000"/>
                </a:solidFill>
                <a:latin typeface="Microsoft YaHei" pitchFamily="34" charset="-122"/>
                <a:ea typeface="Microsoft YaHei" pitchFamily="34" charset="-122"/>
              </a:rPr>
              <a:t>→</a:t>
            </a:r>
            <a:endParaRPr sz="2000" dirty="0">
              <a:solidFill>
                <a:srgbClr val="000000"/>
              </a:solidFill>
              <a:latin typeface="Microsoft YaHei" pitchFamily="34" charset="-122"/>
              <a:ea typeface="Microsoft YaHei" pitchFamily="34" charset="-122"/>
            </a:endParaRPr>
          </a:p>
        </p:txBody>
      </p:sp>
      <p:sp>
        <p:nvSpPr>
          <p:cNvPr id="33" name="TextBox 18"/>
          <p:cNvSpPr txBox="1"/>
          <p:nvPr/>
        </p:nvSpPr>
        <p:spPr>
          <a:xfrm>
            <a:off x="1925478" y="3864209"/>
            <a:ext cx="1873030" cy="370034"/>
          </a:xfrm>
          <a:prstGeom prst="rect">
            <a:avLst/>
          </a:prstGeom>
          <a:noFill/>
        </p:spPr>
        <p:txBody>
          <a:bodyPr wrap="none" lIns="0" tIns="0" rIns="0" bIns="0"/>
          <a:lstStyle/>
          <a:p>
            <a:pPr algn="just">
              <a:lnSpc>
                <a:spcPct val="119000"/>
              </a:lnSpc>
              <a:spcBef>
                <a:spcPts val="0"/>
              </a:spcBef>
              <a:spcAft>
                <a:spcPts val="0"/>
              </a:spcAft>
            </a:pPr>
            <a:r>
              <a:rPr sz="2000" dirty="0" err="1">
                <a:solidFill>
                  <a:srgbClr val="000000"/>
                </a:solidFill>
                <a:latin typeface="Microsoft YaHei" pitchFamily="34" charset="-122"/>
                <a:ea typeface="Microsoft YaHei" pitchFamily="34" charset="-122"/>
              </a:rPr>
              <a:t>定时发送</a:t>
            </a:r>
            <a:r>
              <a:rPr lang="zh-CN" altLang="en-US" sz="2000" dirty="0">
                <a:solidFill>
                  <a:srgbClr val="000000"/>
                </a:solidFill>
                <a:latin typeface="Microsoft YaHei" pitchFamily="34" charset="-122"/>
                <a:ea typeface="Microsoft YaHei" pitchFamily="34" charset="-122"/>
              </a:rPr>
              <a:t>→</a:t>
            </a:r>
            <a:endParaRPr sz="2000" dirty="0">
              <a:solidFill>
                <a:srgbClr val="000000"/>
              </a:solidFill>
              <a:latin typeface="Microsoft YaHei" pitchFamily="34" charset="-122"/>
              <a:ea typeface="Microsoft YaHei" pitchFamily="34" charset="-122"/>
            </a:endParaRPr>
          </a:p>
        </p:txBody>
      </p:sp>
      <p:sp>
        <p:nvSpPr>
          <p:cNvPr id="36" name="TextBox 19"/>
          <p:cNvSpPr txBox="1"/>
          <p:nvPr/>
        </p:nvSpPr>
        <p:spPr>
          <a:xfrm>
            <a:off x="900493" y="4690236"/>
            <a:ext cx="2224119" cy="339153"/>
          </a:xfrm>
          <a:prstGeom prst="rect">
            <a:avLst/>
          </a:prstGeom>
          <a:noFill/>
        </p:spPr>
        <p:txBody>
          <a:bodyPr wrap="none" lIns="0" tIns="0" rIns="0" bIns="0"/>
          <a:lstStyle/>
          <a:p>
            <a:pPr algn="l">
              <a:lnSpc>
                <a:spcPct val="120000"/>
              </a:lnSpc>
              <a:spcBef>
                <a:spcPts val="0"/>
              </a:spcBef>
              <a:spcAft>
                <a:spcPts val="0"/>
              </a:spcAft>
            </a:pPr>
            <a:r>
              <a:rPr sz="2000" dirty="0" err="1">
                <a:solidFill>
                  <a:srgbClr val="000000"/>
                </a:solidFill>
                <a:latin typeface="Microsoft YaHei" pitchFamily="34" charset="-122"/>
                <a:ea typeface="Microsoft YaHei" pitchFamily="34" charset="-122"/>
              </a:rPr>
              <a:t>单品类</a:t>
            </a:r>
            <a:r>
              <a:rPr lang="zh-CN" altLang="en-US" sz="2000" dirty="0">
                <a:solidFill>
                  <a:srgbClr val="000000"/>
                </a:solidFill>
                <a:latin typeface="Microsoft YaHei" pitchFamily="34" charset="-122"/>
                <a:ea typeface="Microsoft YaHei" pitchFamily="34" charset="-122"/>
              </a:rPr>
              <a:t>推送大课</a:t>
            </a:r>
            <a:r>
              <a:rPr sz="2000" dirty="0" err="1">
                <a:solidFill>
                  <a:srgbClr val="000000"/>
                </a:solidFill>
                <a:latin typeface="Microsoft YaHei" pitchFamily="34" charset="-122"/>
                <a:ea typeface="Microsoft YaHei" pitchFamily="34" charset="-122"/>
              </a:rPr>
              <a:t>耗时</a:t>
            </a:r>
            <a:r>
              <a:rPr sz="2000" dirty="0">
                <a:solidFill>
                  <a:srgbClr val="000000"/>
                </a:solidFill>
                <a:latin typeface="Microsoft YaHei" pitchFamily="34" charset="-122"/>
                <a:ea typeface="Microsoft YaHei" pitchFamily="34" charset="-122"/>
              </a:rPr>
              <a:t>: 45分钟</a:t>
            </a:r>
            <a:endParaRPr sz="2000" dirty="0">
              <a:solidFill>
                <a:srgbClr val="000000"/>
              </a:solidFill>
              <a:latin typeface="Microsoft YaHei" pitchFamily="34" charset="-122"/>
              <a:ea typeface="Microsoft YaHei" pitchFamily="34" charset="-122"/>
            </a:endParaRPr>
          </a:p>
        </p:txBody>
      </p:sp>
      <p:sp>
        <p:nvSpPr>
          <p:cNvPr id="38" name="TextBox 20"/>
          <p:cNvSpPr txBox="1"/>
          <p:nvPr/>
        </p:nvSpPr>
        <p:spPr>
          <a:xfrm>
            <a:off x="7202328" y="4720361"/>
            <a:ext cx="4064000" cy="308361"/>
          </a:xfrm>
          <a:prstGeom prst="rect">
            <a:avLst/>
          </a:prstGeom>
          <a:noFill/>
        </p:spPr>
        <p:txBody>
          <a:bodyPr wrap="none" lIns="0" tIns="0" rIns="0" bIns="0"/>
          <a:lstStyle/>
          <a:p>
            <a:pPr algn="just">
              <a:lnSpc>
                <a:spcPct val="109000"/>
              </a:lnSpc>
              <a:spcBef>
                <a:spcPts val="0"/>
              </a:spcBef>
              <a:spcAft>
                <a:spcPts val="0"/>
              </a:spcAft>
            </a:pPr>
            <a:r>
              <a:rPr sz="2000" dirty="0" err="1">
                <a:solidFill>
                  <a:srgbClr val="000000"/>
                </a:solidFill>
                <a:latin typeface="Microsoft YaHei" pitchFamily="34" charset="-122"/>
                <a:ea typeface="Microsoft YaHei" pitchFamily="34" charset="-122"/>
              </a:rPr>
              <a:t>单品类</a:t>
            </a:r>
            <a:r>
              <a:rPr lang="zh-CN" altLang="en-US" sz="2000" dirty="0">
                <a:solidFill>
                  <a:srgbClr val="000000"/>
                </a:solidFill>
                <a:latin typeface="Microsoft YaHei" pitchFamily="34" charset="-122"/>
                <a:ea typeface="Microsoft YaHei" pitchFamily="34" charset="-122"/>
              </a:rPr>
              <a:t>推送大课</a:t>
            </a:r>
            <a:r>
              <a:rPr sz="2000" dirty="0">
                <a:solidFill>
                  <a:srgbClr val="000000"/>
                </a:solidFill>
                <a:latin typeface="Microsoft YaHei" pitchFamily="34" charset="-122"/>
                <a:ea typeface="Microsoft YaHei" pitchFamily="34" charset="-122"/>
              </a:rPr>
              <a:t>耗时:</a:t>
            </a:r>
            <a:r>
              <a:rPr lang="en-US" altLang="zh-CN" sz="2000" dirty="0">
                <a:solidFill>
                  <a:srgbClr val="000000"/>
                </a:solidFill>
                <a:latin typeface="Microsoft YaHei" pitchFamily="34" charset="-122"/>
                <a:ea typeface="Microsoft YaHei" pitchFamily="34" charset="-122"/>
              </a:rPr>
              <a:t>45</a:t>
            </a:r>
            <a:r>
              <a:rPr sz="2000" dirty="0">
                <a:solidFill>
                  <a:srgbClr val="000000"/>
                </a:solidFill>
                <a:latin typeface="Microsoft YaHei" pitchFamily="34" charset="-122"/>
                <a:ea typeface="Microsoft YaHei" pitchFamily="34" charset="-122"/>
              </a:rPr>
              <a:t>分钟</a:t>
            </a:r>
            <a:r>
              <a:rPr lang="zh-CN" altLang="en-US" sz="2000" dirty="0">
                <a:solidFill>
                  <a:srgbClr val="000000"/>
                </a:solidFill>
                <a:latin typeface="Microsoft YaHei" pitchFamily="34" charset="-122"/>
                <a:ea typeface="Microsoft YaHei" pitchFamily="34" charset="-122"/>
              </a:rPr>
              <a:t>→</a:t>
            </a:r>
            <a:r>
              <a:rPr lang="en-US" altLang="zh-CN" sz="2000" dirty="0">
                <a:solidFill>
                  <a:srgbClr val="000000"/>
                </a:solidFill>
                <a:latin typeface="Microsoft YaHei" pitchFamily="34" charset="-122"/>
                <a:ea typeface="Microsoft YaHei" pitchFamily="34" charset="-122"/>
              </a:rPr>
              <a:t>15</a:t>
            </a:r>
            <a:r>
              <a:rPr lang="zh-CN" altLang="en-US" sz="2000" dirty="0">
                <a:solidFill>
                  <a:srgbClr val="000000"/>
                </a:solidFill>
                <a:latin typeface="Microsoft YaHei" pitchFamily="34" charset="-122"/>
                <a:ea typeface="Microsoft YaHei" pitchFamily="34" charset="-122"/>
              </a:rPr>
              <a:t>分钟</a:t>
            </a:r>
            <a:endParaRPr sz="2000" dirty="0">
              <a:solidFill>
                <a:srgbClr val="000000"/>
              </a:solidFill>
              <a:latin typeface="Microsoft YaHei" pitchFamily="34" charset="-122"/>
              <a:ea typeface="Microsoft YaHei" pitchFamily="34" charset="-122"/>
            </a:endParaRPr>
          </a:p>
        </p:txBody>
      </p:sp>
      <p:sp>
        <p:nvSpPr>
          <p:cNvPr id="43" name="TextBox 21"/>
          <p:cNvSpPr txBox="1"/>
          <p:nvPr/>
        </p:nvSpPr>
        <p:spPr>
          <a:xfrm>
            <a:off x="3068479" y="5603157"/>
            <a:ext cx="1723068" cy="370034"/>
          </a:xfrm>
          <a:prstGeom prst="rect">
            <a:avLst/>
          </a:prstGeom>
          <a:noFill/>
        </p:spPr>
        <p:txBody>
          <a:bodyPr wrap="none" lIns="0" tIns="0" rIns="0" bIns="0"/>
          <a:lstStyle/>
          <a:p>
            <a:pPr algn="just">
              <a:lnSpc>
                <a:spcPct val="116000"/>
              </a:lnSpc>
              <a:spcBef>
                <a:spcPts val="0"/>
              </a:spcBef>
              <a:spcAft>
                <a:spcPts val="0"/>
              </a:spcAft>
            </a:pPr>
            <a:r>
              <a:rPr sz="2625" dirty="0" err="1">
                <a:solidFill>
                  <a:srgbClr val="000000"/>
                </a:solidFill>
                <a:latin typeface="Microsoft YaHei" pitchFamily="34" charset="-122"/>
                <a:ea typeface="Microsoft YaHei" pitchFamily="34" charset="-122"/>
              </a:rPr>
              <a:t>人工依赖减少</a:t>
            </a:r>
            <a:endParaRPr sz="2625" dirty="0">
              <a:solidFill>
                <a:srgbClr val="000000"/>
              </a:solidFill>
              <a:latin typeface="Microsoft YaHei" pitchFamily="34" charset="-122"/>
              <a:ea typeface="Microsoft YaHei" pitchFamily="34" charset="-122"/>
            </a:endParaRPr>
          </a:p>
        </p:txBody>
      </p:sp>
      <p:sp>
        <p:nvSpPr>
          <p:cNvPr id="54" name="TextBox 22"/>
          <p:cNvSpPr txBox="1"/>
          <p:nvPr/>
        </p:nvSpPr>
        <p:spPr>
          <a:xfrm>
            <a:off x="6028563" y="5603157"/>
            <a:ext cx="1748128" cy="370034"/>
          </a:xfrm>
          <a:prstGeom prst="rect">
            <a:avLst/>
          </a:prstGeom>
          <a:noFill/>
        </p:spPr>
        <p:txBody>
          <a:bodyPr wrap="none" lIns="0" tIns="0" rIns="0" bIns="0"/>
          <a:lstStyle/>
          <a:p>
            <a:pPr algn="ctr">
              <a:lnSpc>
                <a:spcPct val="116000"/>
              </a:lnSpc>
              <a:spcBef>
                <a:spcPts val="0"/>
              </a:spcBef>
              <a:spcAft>
                <a:spcPts val="0"/>
              </a:spcAft>
            </a:pPr>
            <a:r>
              <a:rPr sz="2625" dirty="0" err="1">
                <a:solidFill>
                  <a:srgbClr val="000000"/>
                </a:solidFill>
                <a:latin typeface="Microsoft YaHei" pitchFamily="34" charset="-122"/>
                <a:ea typeface="Microsoft YaHei" pitchFamily="34" charset="-122"/>
              </a:rPr>
              <a:t>迭代速度提升</a:t>
            </a:r>
            <a:endParaRPr sz="2625" dirty="0">
              <a:solidFill>
                <a:srgbClr val="000000"/>
              </a:solidFill>
              <a:latin typeface="Microsoft YaHei" pitchFamily="34" charset="-122"/>
              <a:ea typeface="Microsoft YaHei" pitchFamily="34" charset="-122"/>
            </a:endParaRPr>
          </a:p>
        </p:txBody>
      </p:sp>
      <p:sp>
        <p:nvSpPr>
          <p:cNvPr id="60" name="TextBox 23"/>
          <p:cNvSpPr txBox="1"/>
          <p:nvPr/>
        </p:nvSpPr>
        <p:spPr>
          <a:xfrm>
            <a:off x="8988647" y="5603157"/>
            <a:ext cx="2024450" cy="370034"/>
          </a:xfrm>
          <a:prstGeom prst="rect">
            <a:avLst/>
          </a:prstGeom>
          <a:noFill/>
        </p:spPr>
        <p:txBody>
          <a:bodyPr wrap="none" lIns="0" tIns="0" rIns="0" bIns="0"/>
          <a:lstStyle/>
          <a:p>
            <a:pPr algn="just">
              <a:lnSpc>
                <a:spcPct val="116000"/>
              </a:lnSpc>
              <a:spcBef>
                <a:spcPts val="0"/>
              </a:spcBef>
              <a:spcAft>
                <a:spcPts val="0"/>
              </a:spcAft>
            </a:pPr>
            <a:r>
              <a:rPr sz="2625" dirty="0" err="1">
                <a:solidFill>
                  <a:srgbClr val="040404"/>
                </a:solidFill>
                <a:latin typeface="Microsoft YaHei" pitchFamily="34" charset="-122"/>
                <a:ea typeface="Microsoft YaHei" pitchFamily="34" charset="-122"/>
              </a:rPr>
              <a:t>标准化程度提高</a:t>
            </a:r>
            <a:endParaRPr sz="2625" dirty="0">
              <a:solidFill>
                <a:srgbClr val="040404"/>
              </a:solidFill>
              <a:latin typeface="Microsoft YaHei" pitchFamily="34" charset="-122"/>
              <a:ea typeface="Microsoft YaHei" pitchFamily="34" charset="-122"/>
            </a:endParaRPr>
          </a:p>
        </p:txBody>
      </p:sp>
      <p:sp>
        <p:nvSpPr>
          <p:cNvPr id="61" name="TextBox 24"/>
          <p:cNvSpPr txBox="1"/>
          <p:nvPr/>
        </p:nvSpPr>
        <p:spPr>
          <a:xfrm>
            <a:off x="693897" y="5915964"/>
            <a:ext cx="1196874" cy="400824"/>
          </a:xfrm>
          <a:prstGeom prst="rect">
            <a:avLst/>
          </a:prstGeom>
          <a:noFill/>
        </p:spPr>
        <p:txBody>
          <a:bodyPr wrap="none" lIns="0" tIns="0" rIns="0" bIns="0"/>
          <a:lstStyle/>
          <a:p>
            <a:pPr algn="just">
              <a:lnSpc>
                <a:spcPct val="125000"/>
              </a:lnSpc>
              <a:spcBef>
                <a:spcPts val="0"/>
              </a:spcBef>
              <a:spcAft>
                <a:spcPts val="0"/>
              </a:spcAft>
            </a:pPr>
            <a:endParaRPr sz="2625" dirty="0">
              <a:solidFill>
                <a:srgbClr val="FEFDFE"/>
              </a:solidFill>
              <a:latin typeface="Microsoft YaHei" pitchFamily="34" charset="-122"/>
              <a:ea typeface="Microsoft YaHei" pitchFamily="34" charset="-122"/>
            </a:endParaRPr>
          </a:p>
        </p:txBody>
      </p:sp>
      <p:sp>
        <p:nvSpPr>
          <p:cNvPr id="64" name="TextBox 14"/>
          <p:cNvSpPr txBox="1"/>
          <p:nvPr/>
        </p:nvSpPr>
        <p:spPr>
          <a:xfrm>
            <a:off x="8213651" y="2256043"/>
            <a:ext cx="3116042" cy="370034"/>
          </a:xfrm>
          <a:prstGeom prst="rect">
            <a:avLst/>
          </a:prstGeom>
          <a:noFill/>
        </p:spPr>
        <p:txBody>
          <a:bodyPr wrap="none" lIns="0" tIns="0" rIns="0" bIns="0"/>
          <a:lstStyle/>
          <a:p>
            <a:pPr algn="just">
              <a:lnSpc>
                <a:spcPct val="116000"/>
              </a:lnSpc>
              <a:spcBef>
                <a:spcPts val="0"/>
              </a:spcBef>
              <a:spcAft>
                <a:spcPts val="0"/>
              </a:spcAft>
            </a:pPr>
            <a:r>
              <a:rPr lang="zh-CN" altLang="en-US" sz="2000" dirty="0">
                <a:solidFill>
                  <a:srgbClr val="000000"/>
                </a:solidFill>
                <a:latin typeface="Microsoft YaHei" pitchFamily="34" charset="-122"/>
                <a:ea typeface="Microsoft YaHei" pitchFamily="34" charset="-122"/>
              </a:rPr>
              <a:t>创建品类</a:t>
            </a:r>
            <a:r>
              <a:rPr lang="en-US" altLang="zh-CN" sz="2000" dirty="0">
                <a:solidFill>
                  <a:srgbClr val="000000"/>
                </a:solidFill>
                <a:latin typeface="Microsoft YaHei" pitchFamily="34" charset="-122"/>
                <a:ea typeface="Microsoft YaHei" pitchFamily="34" charset="-122"/>
              </a:rPr>
              <a:t>-</a:t>
            </a:r>
            <a:r>
              <a:rPr lang="zh-CN" altLang="en-US" sz="2000" dirty="0">
                <a:solidFill>
                  <a:srgbClr val="000000"/>
                </a:solidFill>
                <a:latin typeface="Microsoft YaHei" pitchFamily="34" charset="-122"/>
                <a:ea typeface="Microsoft YaHei" pitchFamily="34" charset="-122"/>
              </a:rPr>
              <a:t>需求映射表</a:t>
            </a:r>
            <a:r>
              <a:rPr sz="2000" dirty="0">
                <a:solidFill>
                  <a:srgbClr val="000000"/>
                </a:solidFill>
                <a:latin typeface="Microsoft YaHei" pitchFamily="34" charset="-122"/>
                <a:ea typeface="Microsoft YaHei" pitchFamily="34" charset="-122"/>
              </a:rPr>
              <a:t>→</a:t>
            </a:r>
            <a:endParaRPr lang="en-US" sz="2000" dirty="0">
              <a:solidFill>
                <a:srgbClr val="000000"/>
              </a:solidFill>
              <a:latin typeface="Microsoft YaHei" pitchFamily="34" charset="-122"/>
              <a:ea typeface="Microsoft YaHei" pitchFamily="34" charset="-122"/>
            </a:endParaRPr>
          </a:p>
        </p:txBody>
      </p:sp>
      <p:sp>
        <p:nvSpPr>
          <p:cNvPr id="65" name="TextBox 17"/>
          <p:cNvSpPr txBox="1"/>
          <p:nvPr/>
        </p:nvSpPr>
        <p:spPr>
          <a:xfrm>
            <a:off x="8184314" y="3082718"/>
            <a:ext cx="2864454" cy="370034"/>
          </a:xfrm>
          <a:prstGeom prst="rect">
            <a:avLst/>
          </a:prstGeom>
          <a:noFill/>
        </p:spPr>
        <p:txBody>
          <a:bodyPr wrap="none" lIns="0" tIns="0" rIns="0" bIns="0"/>
          <a:lstStyle/>
          <a:p>
            <a:pPr algn="just">
              <a:lnSpc>
                <a:spcPct val="113000"/>
              </a:lnSpc>
              <a:spcBef>
                <a:spcPts val="0"/>
              </a:spcBef>
              <a:spcAft>
                <a:spcPts val="0"/>
              </a:spcAft>
            </a:pPr>
            <a:r>
              <a:rPr lang="zh-CN" altLang="en-US" sz="2000" dirty="0">
                <a:solidFill>
                  <a:srgbClr val="000000"/>
                </a:solidFill>
                <a:latin typeface="Microsoft YaHei" pitchFamily="34" charset="-122"/>
                <a:ea typeface="Microsoft YaHei" pitchFamily="34" charset="-122"/>
              </a:rPr>
              <a:t>生成多版文案→</a:t>
            </a:r>
            <a:endParaRPr sz="2000" dirty="0">
              <a:solidFill>
                <a:srgbClr val="000000"/>
              </a:solidFill>
              <a:latin typeface="Microsoft YaHei" pitchFamily="34" charset="-122"/>
              <a:ea typeface="Microsoft YaHei" pitchFamily="34" charset="-122"/>
            </a:endParaRPr>
          </a:p>
        </p:txBody>
      </p:sp>
      <p:sp>
        <p:nvSpPr>
          <p:cNvPr id="66" name="TextBox 18"/>
          <p:cNvSpPr txBox="1"/>
          <p:nvPr/>
        </p:nvSpPr>
        <p:spPr>
          <a:xfrm>
            <a:off x="8184314" y="3939968"/>
            <a:ext cx="1873030" cy="370034"/>
          </a:xfrm>
          <a:prstGeom prst="rect">
            <a:avLst/>
          </a:prstGeom>
          <a:noFill/>
        </p:spPr>
        <p:txBody>
          <a:bodyPr wrap="none" lIns="0" tIns="0" rIns="0" bIns="0"/>
          <a:lstStyle/>
          <a:p>
            <a:pPr algn="just">
              <a:lnSpc>
                <a:spcPct val="119000"/>
              </a:lnSpc>
              <a:spcBef>
                <a:spcPts val="0"/>
              </a:spcBef>
              <a:spcAft>
                <a:spcPts val="0"/>
              </a:spcAft>
            </a:pPr>
            <a:r>
              <a:rPr lang="zh-CN" altLang="en-US" sz="2000" dirty="0">
                <a:solidFill>
                  <a:srgbClr val="000000"/>
                </a:solidFill>
                <a:latin typeface="Microsoft YaHei" pitchFamily="34" charset="-122"/>
                <a:ea typeface="Microsoft YaHei" pitchFamily="34" charset="-122"/>
              </a:rPr>
              <a:t>从人工审核下发→自动下发</a:t>
            </a:r>
            <a:endParaRPr sz="2000" dirty="0">
              <a:solidFill>
                <a:srgbClr val="000000"/>
              </a:solidFill>
              <a:latin typeface="Microsoft YaHei" pitchFamily="34" charset="-122"/>
              <a:ea typeface="Microsoft YaHei" pitchFamily="34" charset="-122"/>
            </a:endParaRPr>
          </a:p>
        </p:txBody>
      </p:sp>
      <p:sp>
        <p:nvSpPr>
          <p:cNvPr id="67" name="圆角矩形 66"/>
          <p:cNvSpPr/>
          <p:nvPr/>
        </p:nvSpPr>
        <p:spPr>
          <a:xfrm>
            <a:off x="693897" y="5587863"/>
            <a:ext cx="1752420" cy="483468"/>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EFDFE"/>
                </a:solidFill>
                <a:latin typeface="Microsoft YaHei" pitchFamily="34" charset="-122"/>
                <a:ea typeface="Microsoft YaHei" pitchFamily="34" charset="-122"/>
              </a:rPr>
              <a:t>关键变化</a:t>
            </a:r>
            <a:endParaRPr lang="zh-CN" altLang="en-US" dirty="0">
              <a:solidFill>
                <a:srgbClr val="FEFDFE"/>
              </a:solidFill>
              <a:latin typeface="Microsoft YaHei" pitchFamily="34" charset="-122"/>
              <a:ea typeface="Microsoft YaHei" pitchFamily="34" charset="-122"/>
            </a:endParaRPr>
          </a:p>
        </p:txBody>
      </p:sp>
      <p:sp>
        <p:nvSpPr>
          <p:cNvPr id="68" name="TextBox 11"/>
          <p:cNvSpPr txBox="1"/>
          <p:nvPr/>
        </p:nvSpPr>
        <p:spPr>
          <a:xfrm>
            <a:off x="765484" y="515025"/>
            <a:ext cx="5852731" cy="450056"/>
          </a:xfrm>
          <a:prstGeom prst="rect">
            <a:avLst/>
          </a:prstGeom>
          <a:noFill/>
        </p:spPr>
        <p:txBody>
          <a:bodyPr wrap="none" lIns="0" tIns="0" rIns="0" bIns="0"/>
          <a:lstStyle/>
          <a:p>
            <a:pPr algn="ctr">
              <a:lnSpc>
                <a:spcPct val="113000"/>
              </a:lnSpc>
              <a:spcBef>
                <a:spcPts val="0"/>
              </a:spcBef>
              <a:spcAft>
                <a:spcPts val="0"/>
              </a:spcAft>
            </a:pPr>
            <a:r>
              <a:rPr sz="3200" b="1" dirty="0" err="1">
                <a:solidFill>
                  <a:schemeClr val="tx2"/>
                </a:solidFill>
                <a:latin typeface="Microsoft YaHei" pitchFamily="34" charset="-122"/>
                <a:ea typeface="Microsoft YaHei" pitchFamily="34" charset="-122"/>
              </a:rPr>
              <a:t>流程改造前后对比-内容</a:t>
            </a:r>
            <a:r>
              <a:rPr lang="en-US" sz="3200" b="1" dirty="0" err="1">
                <a:solidFill>
                  <a:schemeClr val="tx2"/>
                </a:solidFill>
                <a:latin typeface="Microsoft YaHei" pitchFamily="34" charset="-122"/>
                <a:ea typeface="Microsoft YaHei" pitchFamily="34" charset="-122"/>
              </a:rPr>
              <a:t>agent</a:t>
            </a:r>
            <a:r>
              <a:rPr sz="3200" b="1" dirty="0" err="1">
                <a:solidFill>
                  <a:schemeClr val="tx2"/>
                </a:solidFill>
                <a:latin typeface="Microsoft YaHei" pitchFamily="34" charset="-122"/>
                <a:ea typeface="Microsoft YaHei" pitchFamily="34" charset="-122"/>
              </a:rPr>
              <a:t>示例</a:t>
            </a:r>
            <a:endParaRPr sz="3200" b="1" dirty="0">
              <a:solidFill>
                <a:schemeClr val="tx2"/>
              </a:solidFill>
              <a:latin typeface="Microsoft YaHei" pitchFamily="34" charset="-122"/>
              <a:ea typeface="Microsoft YaHei" pitchFamily="34" charset="-122"/>
            </a:endParaRPr>
          </a:p>
        </p:txBody>
      </p:sp>
      <p:sp>
        <p:nvSpPr>
          <p:cNvPr id="77" name="五边形 76"/>
          <p:cNvSpPr/>
          <p:nvPr/>
        </p:nvSpPr>
        <p:spPr>
          <a:xfrm>
            <a:off x="5262272" y="2952246"/>
            <a:ext cx="1773771" cy="880484"/>
          </a:xfrm>
          <a:prstGeom prst="homePlate">
            <a:avLst/>
          </a:prstGeom>
          <a:gradFill flip="none" rotWithShape="1">
            <a:gsLst>
              <a:gs pos="0">
                <a:srgbClr val="FB8543"/>
              </a:gs>
              <a:gs pos="100000">
                <a:srgbClr val="FD4444"/>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1" name="TextBox 16"/>
          <p:cNvSpPr txBox="1"/>
          <p:nvPr/>
        </p:nvSpPr>
        <p:spPr>
          <a:xfrm>
            <a:off x="5486809" y="3183535"/>
            <a:ext cx="1131406" cy="468890"/>
          </a:xfrm>
          <a:prstGeom prst="rect">
            <a:avLst/>
          </a:prstGeom>
          <a:noFill/>
        </p:spPr>
        <p:txBody>
          <a:bodyPr wrap="none" lIns="0" tIns="0" rIns="0" bIns="0"/>
          <a:lstStyle/>
          <a:p>
            <a:pPr algn="ctr">
              <a:spcBef>
                <a:spcPts val="0"/>
              </a:spcBef>
              <a:spcAft>
                <a:spcPts val="0"/>
              </a:spcAft>
            </a:pPr>
            <a:r>
              <a:rPr sz="2360" dirty="0" err="1">
                <a:solidFill>
                  <a:srgbClr val="FEFDFE"/>
                </a:solidFill>
                <a:latin typeface="Microsoft YaHei" pitchFamily="34" charset="-122"/>
                <a:ea typeface="Microsoft YaHei" pitchFamily="34" charset="-122"/>
              </a:rPr>
              <a:t>效率提</a:t>
            </a:r>
            <a:r>
              <a:rPr lang="zh-CN" altLang="en-US" sz="2360" dirty="0">
                <a:solidFill>
                  <a:srgbClr val="FEFDFE"/>
                </a:solidFill>
                <a:latin typeface="Microsoft YaHei" pitchFamily="34" charset="-122"/>
                <a:ea typeface="Microsoft YaHei" pitchFamily="34" charset="-122"/>
              </a:rPr>
              <a:t>升</a:t>
            </a:r>
            <a:endParaRPr lang="zh-CN" altLang="en-US" sz="2360" dirty="0">
              <a:solidFill>
                <a:srgbClr val="FEFDFE"/>
              </a:solidFill>
              <a:latin typeface="Microsoft YaHei" pitchFamily="34" charset="-122"/>
              <a:ea typeface="Microsoft YaHei" pitchFamily="34" charset="-122"/>
            </a:endParaRPr>
          </a:p>
        </p:txBody>
      </p:sp>
    </p:spTree>
    <p:custDataLst>
      <p:tags r:id="rId7"/>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sp>
        <p:nvSpPr>
          <p:cNvPr id="68" name="TextBox 11"/>
          <p:cNvSpPr txBox="1"/>
          <p:nvPr/>
        </p:nvSpPr>
        <p:spPr>
          <a:xfrm>
            <a:off x="2724029" y="497879"/>
            <a:ext cx="5852731" cy="450056"/>
          </a:xfrm>
          <a:prstGeom prst="rect">
            <a:avLst/>
          </a:prstGeom>
          <a:noFill/>
        </p:spPr>
        <p:txBody>
          <a:bodyPr wrap="none" lIns="0" tIns="0" rIns="0" bIns="0"/>
          <a:lstStyle/>
          <a:p>
            <a:pPr algn="ctr">
              <a:lnSpc>
                <a:spcPct val="113000"/>
              </a:lnSpc>
              <a:spcBef>
                <a:spcPts val="0"/>
              </a:spcBef>
              <a:spcAft>
                <a:spcPts val="0"/>
              </a:spcAft>
            </a:pPr>
            <a:r>
              <a:rPr sz="3150" b="1" dirty="0" err="1">
                <a:solidFill>
                  <a:schemeClr val="tx2"/>
                </a:solidFill>
                <a:latin typeface="Microsoft YaHei" pitchFamily="34" charset="-122"/>
                <a:ea typeface="Microsoft YaHei" pitchFamily="34" charset="-122"/>
              </a:rPr>
              <a:t>流程改造前后对比</a:t>
            </a:r>
            <a:r>
              <a:rPr sz="3150" b="1" dirty="0">
                <a:solidFill>
                  <a:schemeClr val="tx2"/>
                </a:solidFill>
                <a:latin typeface="Microsoft YaHei" pitchFamily="34" charset="-122"/>
                <a:ea typeface="Microsoft YaHei" pitchFamily="34" charset="-122"/>
              </a:rPr>
              <a:t>-</a:t>
            </a:r>
            <a:r>
              <a:rPr lang="zh-CN" altLang="en-US" sz="3150" b="1" dirty="0">
                <a:solidFill>
                  <a:schemeClr val="tx2"/>
                </a:solidFill>
                <a:latin typeface="Microsoft YaHei" pitchFamily="34" charset="-122"/>
                <a:ea typeface="Microsoft YaHei" pitchFamily="34" charset="-122"/>
              </a:rPr>
              <a:t>直播</a:t>
            </a:r>
            <a:r>
              <a:rPr lang="en-US" altLang="zh-CN" sz="3150" b="1" dirty="0">
                <a:solidFill>
                  <a:schemeClr val="tx2"/>
                </a:solidFill>
                <a:latin typeface="Microsoft YaHei" pitchFamily="34" charset="-122"/>
                <a:ea typeface="Microsoft YaHei" pitchFamily="34" charset="-122"/>
              </a:rPr>
              <a:t>MA</a:t>
            </a:r>
            <a:r>
              <a:rPr lang="zh-CN" altLang="en-US" sz="3150" b="1" dirty="0">
                <a:solidFill>
                  <a:schemeClr val="tx2"/>
                </a:solidFill>
                <a:latin typeface="Microsoft YaHei" pitchFamily="34" charset="-122"/>
                <a:ea typeface="Microsoft YaHei" pitchFamily="34" charset="-122"/>
              </a:rPr>
              <a:t>全链路设计（预约</a:t>
            </a:r>
            <a:r>
              <a:rPr lang="en-US" altLang="zh-CN" sz="3150" b="1" dirty="0">
                <a:solidFill>
                  <a:schemeClr val="tx2"/>
                </a:solidFill>
                <a:latin typeface="Microsoft YaHei" pitchFamily="34" charset="-122"/>
                <a:ea typeface="Microsoft YaHei" pitchFamily="34" charset="-122"/>
              </a:rPr>
              <a:t>-</a:t>
            </a:r>
            <a:r>
              <a:rPr lang="zh-CN" altLang="en-US" sz="3150" b="1" dirty="0">
                <a:solidFill>
                  <a:schemeClr val="tx2"/>
                </a:solidFill>
                <a:latin typeface="Microsoft YaHei" pitchFamily="34" charset="-122"/>
                <a:ea typeface="Microsoft YaHei" pitchFamily="34" charset="-122"/>
              </a:rPr>
              <a:t>到课</a:t>
            </a:r>
            <a:r>
              <a:rPr lang="en-US" altLang="zh-CN" sz="3150" b="1" dirty="0">
                <a:solidFill>
                  <a:schemeClr val="tx2"/>
                </a:solidFill>
                <a:latin typeface="Microsoft YaHei" pitchFamily="34" charset="-122"/>
                <a:ea typeface="Microsoft YaHei" pitchFamily="34" charset="-122"/>
              </a:rPr>
              <a:t>-</a:t>
            </a:r>
            <a:r>
              <a:rPr lang="zh-CN" altLang="en-US" sz="3150" b="1" dirty="0">
                <a:solidFill>
                  <a:schemeClr val="tx2"/>
                </a:solidFill>
                <a:latin typeface="Microsoft YaHei" pitchFamily="34" charset="-122"/>
                <a:ea typeface="Microsoft YaHei" pitchFamily="34" charset="-122"/>
              </a:rPr>
              <a:t>回捞）</a:t>
            </a:r>
            <a:endParaRPr sz="3150" b="1" dirty="0">
              <a:solidFill>
                <a:schemeClr val="tx2"/>
              </a:solidFill>
              <a:latin typeface="Microsoft YaHei" pitchFamily="34" charset="-122"/>
              <a:ea typeface="Microsoft YaHei" pitchFamily="34" charset="-122"/>
            </a:endParaRPr>
          </a:p>
        </p:txBody>
      </p:sp>
      <p:pic>
        <p:nvPicPr>
          <p:cNvPr id="2" name="图片 1"/>
          <p:cNvPicPr>
            <a:picLocks noChangeAspect="1"/>
          </p:cNvPicPr>
          <p:nvPr/>
        </p:nvPicPr>
        <p:blipFill>
          <a:blip r:embed="rId1"/>
          <a:stretch>
            <a:fillRect/>
          </a:stretch>
        </p:blipFill>
        <p:spPr>
          <a:xfrm>
            <a:off x="763814" y="1215884"/>
            <a:ext cx="7442199" cy="2557739"/>
          </a:xfrm>
          <a:prstGeom prst="rect">
            <a:avLst/>
          </a:prstGeom>
        </p:spPr>
      </p:pic>
      <p:sp>
        <p:nvSpPr>
          <p:cNvPr id="3" name="圆角矩形 2"/>
          <p:cNvSpPr/>
          <p:nvPr/>
        </p:nvSpPr>
        <p:spPr>
          <a:xfrm>
            <a:off x="543371" y="4022052"/>
            <a:ext cx="869737" cy="727404"/>
          </a:xfrm>
          <a:prstGeom prst="roundRect">
            <a:avLst>
              <a:gd name="adj" fmla="val 24524"/>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分层节点</a:t>
            </a:r>
            <a:endParaRPr kumimoji="1" lang="zh-CN" altLang="en-US" dirty="0">
              <a:latin typeface="Microsoft YaHei" pitchFamily="34" charset="-122"/>
              <a:ea typeface="Microsoft YaHei" pitchFamily="34" charset="-122"/>
            </a:endParaRPr>
          </a:p>
        </p:txBody>
      </p:sp>
      <p:sp>
        <p:nvSpPr>
          <p:cNvPr id="5" name="圆角矩形 4"/>
          <p:cNvSpPr/>
          <p:nvPr/>
        </p:nvSpPr>
        <p:spPr>
          <a:xfrm>
            <a:off x="1562946" y="4052800"/>
            <a:ext cx="2013042" cy="374526"/>
          </a:xfrm>
          <a:prstGeom prst="roundRect">
            <a:avLst>
              <a:gd name="adj" fmla="val 50000"/>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预约行为分层</a:t>
            </a:r>
            <a:endParaRPr kumimoji="1" lang="zh-CN" altLang="en-US" dirty="0">
              <a:latin typeface="Microsoft YaHei" pitchFamily="34" charset="-122"/>
              <a:ea typeface="Microsoft YaHei" pitchFamily="34" charset="-122"/>
            </a:endParaRPr>
          </a:p>
        </p:txBody>
      </p:sp>
      <p:sp>
        <p:nvSpPr>
          <p:cNvPr id="6" name="圆角矩形 5"/>
          <p:cNvSpPr/>
          <p:nvPr/>
        </p:nvSpPr>
        <p:spPr>
          <a:xfrm>
            <a:off x="5118606" y="4037817"/>
            <a:ext cx="1800491" cy="374526"/>
          </a:xfrm>
          <a:prstGeom prst="roundRect">
            <a:avLst>
              <a:gd name="adj" fmla="val 50000"/>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到课行为分层</a:t>
            </a:r>
            <a:endParaRPr kumimoji="1" lang="zh-CN" altLang="en-US" dirty="0">
              <a:latin typeface="Microsoft YaHei" pitchFamily="34" charset="-122"/>
              <a:ea typeface="Microsoft YaHei" pitchFamily="34" charset="-122"/>
            </a:endParaRPr>
          </a:p>
        </p:txBody>
      </p:sp>
      <p:sp>
        <p:nvSpPr>
          <p:cNvPr id="7" name="右箭头 6"/>
          <p:cNvSpPr/>
          <p:nvPr/>
        </p:nvSpPr>
        <p:spPr>
          <a:xfrm rot="16200000">
            <a:off x="1655642" y="3383257"/>
            <a:ext cx="855952" cy="453167"/>
          </a:xfrm>
          <a:prstGeom prst="rightArrow">
            <a:avLst>
              <a:gd name="adj1" fmla="val 50000"/>
              <a:gd name="adj2" fmla="val 46656"/>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0" name="右箭头 9"/>
          <p:cNvSpPr/>
          <p:nvPr/>
        </p:nvSpPr>
        <p:spPr>
          <a:xfrm rot="16200000">
            <a:off x="5449003" y="3383166"/>
            <a:ext cx="855952" cy="453167"/>
          </a:xfrm>
          <a:prstGeom prst="rightArrow">
            <a:avLst>
              <a:gd name="adj1" fmla="val 50000"/>
              <a:gd name="adj2" fmla="val 46656"/>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1" name="圆角矩形 10"/>
          <p:cNvSpPr/>
          <p:nvPr/>
        </p:nvSpPr>
        <p:spPr>
          <a:xfrm>
            <a:off x="543372" y="5165472"/>
            <a:ext cx="869736" cy="637318"/>
          </a:xfrm>
          <a:prstGeom prst="roundRect">
            <a:avLst>
              <a:gd name="adj" fmla="val 21339"/>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目标</a:t>
            </a:r>
            <a:endParaRPr kumimoji="1" lang="zh-CN" altLang="en-US" dirty="0">
              <a:latin typeface="Microsoft YaHei" pitchFamily="34" charset="-122"/>
              <a:ea typeface="Microsoft YaHei" pitchFamily="34" charset="-122"/>
            </a:endParaRPr>
          </a:p>
        </p:txBody>
      </p:sp>
      <p:sp>
        <p:nvSpPr>
          <p:cNvPr id="12" name="文本框 11"/>
          <p:cNvSpPr txBox="1"/>
          <p:nvPr/>
        </p:nvSpPr>
        <p:spPr>
          <a:xfrm>
            <a:off x="1645036" y="5093272"/>
            <a:ext cx="877163" cy="923330"/>
          </a:xfrm>
          <a:prstGeom prst="rect">
            <a:avLst/>
          </a:prstGeom>
          <a:noFill/>
        </p:spPr>
        <p:txBody>
          <a:bodyPr wrap="none" rtlCol="0">
            <a:spAutoFit/>
          </a:bodyPr>
          <a:lstStyle/>
          <a:p>
            <a:pPr algn="ctr"/>
            <a:r>
              <a:rPr kumimoji="1" lang="zh-CN" altLang="en-US" dirty="0">
                <a:latin typeface="Microsoft YaHei" pitchFamily="34" charset="-122"/>
                <a:ea typeface="Microsoft YaHei" pitchFamily="34" charset="-122"/>
              </a:rPr>
              <a:t>预约率</a:t>
            </a:r>
            <a:endParaRPr kumimoji="1" lang="en-US" altLang="zh-CN" dirty="0">
              <a:latin typeface="Microsoft YaHei" pitchFamily="34" charset="-122"/>
              <a:ea typeface="Microsoft YaHei" pitchFamily="34" charset="-122"/>
            </a:endParaRPr>
          </a:p>
          <a:p>
            <a:pPr algn="ctr"/>
            <a:endParaRPr kumimoji="1" lang="en-US" altLang="zh-CN" dirty="0">
              <a:latin typeface="Microsoft YaHei" pitchFamily="34" charset="-122"/>
              <a:ea typeface="Microsoft YaHei" pitchFamily="34" charset="-122"/>
            </a:endParaRPr>
          </a:p>
          <a:p>
            <a:pPr algn="ctr"/>
            <a:r>
              <a:rPr kumimoji="1" lang="zh-CN" altLang="en-US" dirty="0">
                <a:latin typeface="Microsoft YaHei" pitchFamily="34" charset="-122"/>
                <a:ea typeface="Microsoft YaHei" pitchFamily="34" charset="-122"/>
              </a:rPr>
              <a:t>到课率</a:t>
            </a:r>
            <a:endParaRPr kumimoji="1" lang="zh-CN" altLang="en-US" dirty="0">
              <a:latin typeface="Microsoft YaHei" pitchFamily="34" charset="-122"/>
              <a:ea typeface="Microsoft YaHei" pitchFamily="34" charset="-122"/>
            </a:endParaRPr>
          </a:p>
        </p:txBody>
      </p:sp>
      <p:sp>
        <p:nvSpPr>
          <p:cNvPr id="15" name="文本框 14"/>
          <p:cNvSpPr txBox="1"/>
          <p:nvPr/>
        </p:nvSpPr>
        <p:spPr>
          <a:xfrm>
            <a:off x="4976732" y="5138791"/>
            <a:ext cx="1800493" cy="369332"/>
          </a:xfrm>
          <a:prstGeom prst="rect">
            <a:avLst/>
          </a:prstGeom>
          <a:noFill/>
        </p:spPr>
        <p:txBody>
          <a:bodyPr wrap="none" rtlCol="0">
            <a:spAutoFit/>
          </a:bodyPr>
          <a:lstStyle/>
          <a:p>
            <a:pPr algn="ctr"/>
            <a:r>
              <a:rPr kumimoji="1" lang="zh-CN" altLang="en-US" dirty="0">
                <a:latin typeface="Microsoft YaHei" pitchFamily="34" charset="-122"/>
                <a:ea typeface="Microsoft YaHei" pitchFamily="34" charset="-122"/>
              </a:rPr>
              <a:t>直播整体转化率</a:t>
            </a:r>
            <a:endParaRPr kumimoji="1" lang="zh-CN" altLang="en-US" dirty="0">
              <a:latin typeface="Microsoft YaHei" pitchFamily="34" charset="-122"/>
              <a:ea typeface="Microsoft YaHei" pitchFamily="34" charset="-122"/>
            </a:endParaRPr>
          </a:p>
        </p:txBody>
      </p:sp>
      <p:sp>
        <p:nvSpPr>
          <p:cNvPr id="16" name="圆角矩形 15"/>
          <p:cNvSpPr/>
          <p:nvPr/>
        </p:nvSpPr>
        <p:spPr>
          <a:xfrm>
            <a:off x="8134170" y="3032148"/>
            <a:ext cx="3659835" cy="423721"/>
          </a:xfrm>
          <a:prstGeom prst="roundRect">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后续拓展场景：中价课全链路</a:t>
            </a:r>
            <a:endParaRPr kumimoji="1" lang="zh-CN" altLang="en-US" dirty="0">
              <a:latin typeface="Microsoft YaHei" pitchFamily="34" charset="-122"/>
              <a:ea typeface="Microsoft YaHei" pitchFamily="34" charset="-122"/>
            </a:endParaRPr>
          </a:p>
        </p:txBody>
      </p:sp>
      <p:cxnSp>
        <p:nvCxnSpPr>
          <p:cNvPr id="21" name="直线连接符 20"/>
          <p:cNvCxnSpPr/>
          <p:nvPr/>
        </p:nvCxnSpPr>
        <p:spPr>
          <a:xfrm>
            <a:off x="2083618" y="4412343"/>
            <a:ext cx="0" cy="592455"/>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21"/>
          <p:cNvCxnSpPr/>
          <p:nvPr/>
        </p:nvCxnSpPr>
        <p:spPr>
          <a:xfrm>
            <a:off x="5876978" y="4412343"/>
            <a:ext cx="0" cy="592455"/>
          </a:xfrm>
          <a:prstGeom prst="line">
            <a:avLst/>
          </a:prstGeom>
          <a:ln w="38100">
            <a:prstDash val="sysDot"/>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072487" y="3821268"/>
            <a:ext cx="1001486" cy="897735"/>
          </a:xfrm>
          <a:prstGeom prst="ellipse">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领券行为</a:t>
            </a:r>
            <a:endParaRPr kumimoji="1" lang="zh-CN" altLang="en-US" dirty="0">
              <a:latin typeface="Microsoft YaHei" pitchFamily="34" charset="-122"/>
              <a:ea typeface="Microsoft YaHei" pitchFamily="34" charset="-122"/>
            </a:endParaRPr>
          </a:p>
        </p:txBody>
      </p:sp>
      <p:sp>
        <p:nvSpPr>
          <p:cNvPr id="28" name="左中括号 27"/>
          <p:cNvSpPr/>
          <p:nvPr/>
        </p:nvSpPr>
        <p:spPr>
          <a:xfrm>
            <a:off x="2940105" y="4825203"/>
            <a:ext cx="279895" cy="914400"/>
          </a:xfrm>
          <a:prstGeom prst="leftBracket">
            <a:avLst>
              <a:gd name="adj" fmla="val 0"/>
            </a:avLst>
          </a:prstGeom>
          <a:ln w="28575">
            <a:solidFill>
              <a:schemeClr val="tx2"/>
            </a:solidFill>
          </a:ln>
        </p:spPr>
        <p:style>
          <a:lnRef idx="1">
            <a:schemeClr val="dk1"/>
          </a:lnRef>
          <a:fillRef idx="0">
            <a:schemeClr val="dk1"/>
          </a:fillRef>
          <a:effectRef idx="0">
            <a:schemeClr val="dk1"/>
          </a:effectRef>
          <a:fontRef idx="minor">
            <a:schemeClr val="tx1"/>
          </a:fontRef>
        </p:style>
        <p:txBody>
          <a:bodyPr rtlCol="0" anchor="ctr"/>
          <a:lstStyle/>
          <a:p>
            <a:pPr algn="ctr"/>
            <a:endParaRPr kumimoji="1" lang="zh-CN" altLang="en-US">
              <a:latin typeface="Microsoft YaHei" pitchFamily="34" charset="-122"/>
              <a:ea typeface="Microsoft YaHei" pitchFamily="34" charset="-122"/>
            </a:endParaRPr>
          </a:p>
        </p:txBody>
      </p:sp>
      <p:cxnSp>
        <p:nvCxnSpPr>
          <p:cNvPr id="34" name="直线连接符 33"/>
          <p:cNvCxnSpPr>
            <a:endCxn id="28" idx="1"/>
          </p:cNvCxnSpPr>
          <p:nvPr/>
        </p:nvCxnSpPr>
        <p:spPr>
          <a:xfrm>
            <a:off x="2512296" y="5282403"/>
            <a:ext cx="427809"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3181859" y="4655926"/>
            <a:ext cx="1420582" cy="584775"/>
          </a:xfrm>
          <a:prstGeom prst="rect">
            <a:avLst/>
          </a:prstGeom>
          <a:noFill/>
        </p:spPr>
        <p:txBody>
          <a:bodyPr wrap="none" rtlCol="0">
            <a:spAutoFit/>
          </a:bodyPr>
          <a:lstStyle/>
          <a:p>
            <a:pPr algn="ctr"/>
            <a:r>
              <a:rPr kumimoji="1" lang="zh-CN" altLang="en-US" sz="1600" dirty="0">
                <a:latin typeface="Microsoft YaHei" pitchFamily="34" charset="-122"/>
                <a:ea typeface="Microsoft YaHei" pitchFamily="34" charset="-122"/>
              </a:rPr>
              <a:t>（已预约）</a:t>
            </a:r>
            <a:endParaRPr kumimoji="1" lang="en-US" altLang="zh-CN" sz="1600" dirty="0">
              <a:latin typeface="Microsoft YaHei" pitchFamily="34" charset="-122"/>
              <a:ea typeface="Microsoft YaHei" pitchFamily="34" charset="-122"/>
            </a:endParaRPr>
          </a:p>
          <a:p>
            <a:pPr algn="ctr"/>
            <a:r>
              <a:rPr kumimoji="1" lang="zh-CN" altLang="en-US" sz="1600" dirty="0">
                <a:latin typeface="Microsoft YaHei" pitchFamily="34" charset="-122"/>
                <a:ea typeface="Microsoft YaHei" pitchFamily="34" charset="-122"/>
              </a:rPr>
              <a:t>创造</a:t>
            </a:r>
            <a:r>
              <a:rPr kumimoji="1" lang="en-US" altLang="zh-CN" sz="1600" dirty="0">
                <a:latin typeface="Microsoft YaHei" pitchFamily="34" charset="-122"/>
                <a:ea typeface="Microsoft YaHei" pitchFamily="34" charset="-122"/>
              </a:rPr>
              <a:t>aha</a:t>
            </a:r>
            <a:r>
              <a:rPr kumimoji="1" lang="zh-CN" altLang="en-US" sz="1600" dirty="0">
                <a:latin typeface="Microsoft YaHei" pitchFamily="34" charset="-122"/>
                <a:ea typeface="Microsoft YaHei" pitchFamily="34" charset="-122"/>
              </a:rPr>
              <a:t> 时刻</a:t>
            </a:r>
            <a:endParaRPr kumimoji="1" lang="zh-CN" altLang="en-US" sz="1600" dirty="0">
              <a:latin typeface="Microsoft YaHei" pitchFamily="34" charset="-122"/>
              <a:ea typeface="Microsoft YaHei" pitchFamily="34" charset="-122"/>
            </a:endParaRPr>
          </a:p>
        </p:txBody>
      </p:sp>
      <p:sp>
        <p:nvSpPr>
          <p:cNvPr id="39" name="文本框 38"/>
          <p:cNvSpPr txBox="1"/>
          <p:nvPr/>
        </p:nvSpPr>
        <p:spPr>
          <a:xfrm>
            <a:off x="3235177" y="5484284"/>
            <a:ext cx="1210588" cy="584775"/>
          </a:xfrm>
          <a:prstGeom prst="rect">
            <a:avLst/>
          </a:prstGeom>
          <a:noFill/>
        </p:spPr>
        <p:txBody>
          <a:bodyPr wrap="none" rtlCol="0">
            <a:spAutoFit/>
          </a:bodyPr>
          <a:lstStyle/>
          <a:p>
            <a:pPr algn="ctr"/>
            <a:r>
              <a:rPr kumimoji="1" lang="zh-CN" altLang="en-US" sz="1600" dirty="0">
                <a:latin typeface="Microsoft YaHei" pitchFamily="34" charset="-122"/>
                <a:ea typeface="Microsoft YaHei" pitchFamily="34" charset="-122"/>
              </a:rPr>
              <a:t>（未预约）</a:t>
            </a:r>
            <a:endParaRPr kumimoji="1" lang="en-US" altLang="zh-CN" sz="1600" dirty="0">
              <a:latin typeface="Microsoft YaHei" pitchFamily="34" charset="-122"/>
              <a:ea typeface="Microsoft YaHei" pitchFamily="34" charset="-122"/>
            </a:endParaRPr>
          </a:p>
          <a:p>
            <a:pPr algn="ctr"/>
            <a:r>
              <a:rPr kumimoji="1" lang="zh-CN" altLang="en-US" sz="1600" dirty="0">
                <a:latin typeface="Microsoft YaHei" pitchFamily="34" charset="-122"/>
                <a:ea typeface="Microsoft YaHei" pitchFamily="34" charset="-122"/>
              </a:rPr>
              <a:t>二次激活</a:t>
            </a:r>
            <a:endParaRPr kumimoji="1" lang="zh-CN" altLang="en-US" sz="1600" dirty="0">
              <a:latin typeface="Microsoft YaHei" pitchFamily="34" charset="-122"/>
              <a:ea typeface="Microsoft YaHei" pitchFamily="34" charset="-122"/>
            </a:endParaRPr>
          </a:p>
        </p:txBody>
      </p:sp>
      <p:sp>
        <p:nvSpPr>
          <p:cNvPr id="42" name="圆角矩形 41"/>
          <p:cNvSpPr/>
          <p:nvPr/>
        </p:nvSpPr>
        <p:spPr>
          <a:xfrm>
            <a:off x="8164022" y="1295463"/>
            <a:ext cx="1291519" cy="450056"/>
          </a:xfrm>
          <a:prstGeom prst="roundRect">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痛点</a:t>
            </a:r>
            <a:endParaRPr kumimoji="1" lang="en-US" altLang="zh-CN" dirty="0">
              <a:latin typeface="Microsoft YaHei" pitchFamily="34" charset="-122"/>
              <a:ea typeface="Microsoft YaHei" pitchFamily="34" charset="-122"/>
            </a:endParaRPr>
          </a:p>
        </p:txBody>
      </p:sp>
      <p:sp>
        <p:nvSpPr>
          <p:cNvPr id="45" name="文本框 44"/>
          <p:cNvSpPr txBox="1"/>
          <p:nvPr/>
        </p:nvSpPr>
        <p:spPr>
          <a:xfrm>
            <a:off x="8214569" y="1981925"/>
            <a:ext cx="2481943" cy="707886"/>
          </a:xfrm>
          <a:prstGeom prst="rect">
            <a:avLst/>
          </a:prstGeom>
          <a:noFill/>
        </p:spPr>
        <p:txBody>
          <a:bodyPr wrap="square">
            <a:spAutoFit/>
          </a:bodyPr>
          <a:lstStyle/>
          <a:p>
            <a:r>
              <a:rPr kumimoji="1" lang="zh-CN" altLang="en-US" sz="2000" dirty="0">
                <a:latin typeface="Microsoft YaHei" pitchFamily="34" charset="-122"/>
                <a:ea typeface="Microsoft YaHei" pitchFamily="34" charset="-122"/>
              </a:rPr>
              <a:t>触达方式粗糙</a:t>
            </a:r>
            <a:endParaRPr kumimoji="1" lang="en-US" altLang="zh-CN" sz="2000" dirty="0">
              <a:latin typeface="Microsoft YaHei" pitchFamily="34" charset="-122"/>
              <a:ea typeface="Microsoft YaHei" pitchFamily="34" charset="-122"/>
            </a:endParaRPr>
          </a:p>
          <a:p>
            <a:r>
              <a:rPr kumimoji="1" lang="zh-CN" altLang="en-US" sz="2000" dirty="0">
                <a:latin typeface="Microsoft YaHei" pitchFamily="34" charset="-122"/>
                <a:ea typeface="Microsoft YaHei" pitchFamily="34" charset="-122"/>
              </a:rPr>
              <a:t>缺乏用户行为感知</a:t>
            </a:r>
            <a:endParaRPr kumimoji="1" lang="zh-CN" altLang="en-US" sz="2000" dirty="0">
              <a:latin typeface="Microsoft YaHei" pitchFamily="34" charset="-122"/>
              <a:ea typeface="Microsoft YaHei" pitchFamily="34" charset="-122"/>
            </a:endParaRPr>
          </a:p>
        </p:txBody>
      </p:sp>
      <p:sp>
        <p:nvSpPr>
          <p:cNvPr id="47" name="椭圆 46"/>
          <p:cNvSpPr/>
          <p:nvPr/>
        </p:nvSpPr>
        <p:spPr>
          <a:xfrm>
            <a:off x="9427224" y="3821268"/>
            <a:ext cx="1001486" cy="897735"/>
          </a:xfrm>
          <a:prstGeom prst="ellipse">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看课行为</a:t>
            </a:r>
            <a:endParaRPr kumimoji="1" lang="zh-CN" altLang="en-US" dirty="0">
              <a:latin typeface="Microsoft YaHei" pitchFamily="34" charset="-122"/>
              <a:ea typeface="Microsoft YaHei" pitchFamily="34" charset="-122"/>
            </a:endParaRPr>
          </a:p>
        </p:txBody>
      </p:sp>
      <p:sp>
        <p:nvSpPr>
          <p:cNvPr id="48" name="椭圆 47"/>
          <p:cNvSpPr/>
          <p:nvPr/>
        </p:nvSpPr>
        <p:spPr>
          <a:xfrm>
            <a:off x="10864362" y="3821268"/>
            <a:ext cx="1001486" cy="897735"/>
          </a:xfrm>
          <a:prstGeom prst="ellipse">
            <a:avLst/>
          </a:prstGeom>
          <a:gradFill>
            <a:gsLst>
              <a:gs pos="0">
                <a:srgbClr val="FD8F41"/>
              </a:gs>
              <a:gs pos="50000">
                <a:srgbClr val="F2694A"/>
              </a:gs>
              <a:gs pos="100000">
                <a:srgbClr val="FD4444"/>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引导添加好友</a:t>
            </a:r>
            <a:endParaRPr kumimoji="1" lang="zh-CN" altLang="en-US" dirty="0">
              <a:latin typeface="Microsoft YaHei" pitchFamily="34" charset="-122"/>
              <a:ea typeface="Microsoft YaHei" pitchFamily="34" charset="-122"/>
            </a:endParaRPr>
          </a:p>
        </p:txBody>
      </p:sp>
      <p:cxnSp>
        <p:nvCxnSpPr>
          <p:cNvPr id="50" name="直线连接符 49"/>
          <p:cNvCxnSpPr/>
          <p:nvPr/>
        </p:nvCxnSpPr>
        <p:spPr>
          <a:xfrm>
            <a:off x="9595440" y="5554937"/>
            <a:ext cx="737294" cy="0"/>
          </a:xfrm>
          <a:prstGeom prst="line">
            <a:avLst/>
          </a:prstGeom>
          <a:ln w="38100">
            <a:prstDash val="sysDash"/>
          </a:ln>
        </p:spPr>
        <p:style>
          <a:lnRef idx="1">
            <a:schemeClr val="accent1"/>
          </a:lnRef>
          <a:fillRef idx="0">
            <a:schemeClr val="accent1"/>
          </a:fillRef>
          <a:effectRef idx="0">
            <a:schemeClr val="accent1"/>
          </a:effectRef>
          <a:fontRef idx="minor">
            <a:schemeClr val="tx1"/>
          </a:fontRef>
        </p:style>
      </p:cxnSp>
      <p:cxnSp>
        <p:nvCxnSpPr>
          <p:cNvPr id="53" name="直线箭头连接符 52"/>
          <p:cNvCxnSpPr>
            <a:stCxn id="26" idx="4"/>
          </p:cNvCxnSpPr>
          <p:nvPr/>
        </p:nvCxnSpPr>
        <p:spPr>
          <a:xfrm>
            <a:off x="8573230" y="4719003"/>
            <a:ext cx="1022210" cy="7891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54"/>
          <p:cNvCxnSpPr/>
          <p:nvPr/>
        </p:nvCxnSpPr>
        <p:spPr>
          <a:xfrm>
            <a:off x="9964087" y="4719003"/>
            <a:ext cx="0" cy="7652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p:cNvCxnSpPr>
            <a:stCxn id="48" idx="4"/>
          </p:cNvCxnSpPr>
          <p:nvPr/>
        </p:nvCxnSpPr>
        <p:spPr>
          <a:xfrm flipH="1">
            <a:off x="10332734" y="4719003"/>
            <a:ext cx="1032371" cy="7652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8872115" y="5685749"/>
            <a:ext cx="2492990" cy="369332"/>
          </a:xfrm>
          <a:prstGeom prst="rect">
            <a:avLst/>
          </a:prstGeom>
          <a:noFill/>
        </p:spPr>
        <p:txBody>
          <a:bodyPr wrap="none" rtlCol="0">
            <a:spAutoFit/>
          </a:bodyPr>
          <a:lstStyle/>
          <a:p>
            <a:r>
              <a:rPr kumimoji="1" lang="zh-CN" altLang="en-US" dirty="0">
                <a:latin typeface="Microsoft YaHei" pitchFamily="34" charset="-122"/>
                <a:ea typeface="Microsoft YaHei" pitchFamily="34" charset="-122"/>
              </a:rPr>
              <a:t>延伸更丰富的用户行为</a:t>
            </a:r>
            <a:endParaRPr kumimoji="1" lang="zh-CN" altLang="en-US" dirty="0">
              <a:latin typeface="Microsoft YaHei" pitchFamily="34" charset="-122"/>
              <a:ea typeface="Microsoft YaHei" pitchFamily="34" charset="-122"/>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sp>
        <p:nvSpPr>
          <p:cNvPr id="68" name="TextBox 11"/>
          <p:cNvSpPr txBox="1"/>
          <p:nvPr/>
        </p:nvSpPr>
        <p:spPr>
          <a:xfrm>
            <a:off x="1600079" y="497879"/>
            <a:ext cx="5852731" cy="450056"/>
          </a:xfrm>
          <a:prstGeom prst="rect">
            <a:avLst/>
          </a:prstGeom>
          <a:noFill/>
        </p:spPr>
        <p:txBody>
          <a:bodyPr wrap="none" lIns="0" tIns="0" rIns="0" bIns="0"/>
          <a:lstStyle/>
          <a:p>
            <a:pPr algn="ctr">
              <a:lnSpc>
                <a:spcPct val="113000"/>
              </a:lnSpc>
              <a:spcBef>
                <a:spcPts val="0"/>
              </a:spcBef>
              <a:spcAft>
                <a:spcPts val="0"/>
              </a:spcAft>
            </a:pPr>
            <a:r>
              <a:rPr lang="zh-CN" altLang="en-US" sz="3150" b="1" dirty="0">
                <a:solidFill>
                  <a:schemeClr val="tx2"/>
                </a:solidFill>
                <a:latin typeface="Microsoft YaHei" pitchFamily="34" charset="-122"/>
                <a:ea typeface="Microsoft YaHei" pitchFamily="34" charset="-122"/>
              </a:rPr>
              <a:t>个人学习</a:t>
            </a:r>
            <a:r>
              <a:rPr lang="en-US" altLang="zh-CN" sz="3150" b="1" dirty="0">
                <a:solidFill>
                  <a:schemeClr val="tx2"/>
                </a:solidFill>
                <a:latin typeface="Microsoft YaHei" pitchFamily="34" charset="-122"/>
                <a:ea typeface="Microsoft YaHei" pitchFamily="34" charset="-122"/>
              </a:rPr>
              <a:t>-</a:t>
            </a:r>
            <a:r>
              <a:rPr lang="zh-CN" altLang="en-US" sz="3150" b="1" dirty="0">
                <a:solidFill>
                  <a:schemeClr val="tx2"/>
                </a:solidFill>
                <a:latin typeface="Microsoft YaHei" pitchFamily="34" charset="-122"/>
                <a:ea typeface="Microsoft YaHei" pitchFamily="34" charset="-122"/>
              </a:rPr>
              <a:t>利用</a:t>
            </a:r>
            <a:r>
              <a:rPr lang="en-US" altLang="zh-CN" sz="3150" b="1" dirty="0">
                <a:solidFill>
                  <a:schemeClr val="tx2"/>
                </a:solidFill>
                <a:latin typeface="Microsoft YaHei" pitchFamily="34" charset="-122"/>
                <a:ea typeface="Microsoft YaHei" pitchFamily="34" charset="-122"/>
              </a:rPr>
              <a:t>cursor</a:t>
            </a:r>
            <a:r>
              <a:rPr lang="zh-CN" altLang="en-US" sz="3150" b="1" dirty="0">
                <a:solidFill>
                  <a:schemeClr val="tx2"/>
                </a:solidFill>
                <a:latin typeface="Microsoft YaHei" pitchFamily="34" charset="-122"/>
                <a:ea typeface="Microsoft YaHei" pitchFamily="34" charset="-122"/>
              </a:rPr>
              <a:t>搭建</a:t>
            </a:r>
            <a:r>
              <a:rPr lang="en-US" altLang="zh-CN" sz="3150" b="1" dirty="0">
                <a:solidFill>
                  <a:schemeClr val="tx2"/>
                </a:solidFill>
                <a:latin typeface="Microsoft YaHei" pitchFamily="34" charset="-122"/>
                <a:ea typeface="Microsoft YaHei" pitchFamily="34" charset="-122"/>
              </a:rPr>
              <a:t>app</a:t>
            </a:r>
            <a:r>
              <a:rPr lang="zh-CN" altLang="en-US" sz="3150" b="1" dirty="0">
                <a:solidFill>
                  <a:schemeClr val="tx2"/>
                </a:solidFill>
                <a:latin typeface="Microsoft YaHei" pitchFamily="34" charset="-122"/>
                <a:ea typeface="Microsoft YaHei" pitchFamily="34" charset="-122"/>
              </a:rPr>
              <a:t>商业化效率看板</a:t>
            </a:r>
            <a:endParaRPr sz="3150" b="1" dirty="0">
              <a:solidFill>
                <a:schemeClr val="tx2"/>
              </a:solidFill>
              <a:latin typeface="Microsoft YaHei" pitchFamily="34" charset="-122"/>
              <a:ea typeface="Microsoft YaHei" pitchFamily="34" charset="-122"/>
            </a:endParaRPr>
          </a:p>
        </p:txBody>
      </p:sp>
      <p:pic>
        <p:nvPicPr>
          <p:cNvPr id="13" name="图片 12"/>
          <p:cNvPicPr>
            <a:picLocks noChangeAspect="1"/>
          </p:cNvPicPr>
          <p:nvPr/>
        </p:nvPicPr>
        <p:blipFill>
          <a:blip r:embed="rId1"/>
          <a:stretch>
            <a:fillRect/>
          </a:stretch>
        </p:blipFill>
        <p:spPr>
          <a:xfrm>
            <a:off x="561340" y="2983845"/>
            <a:ext cx="3343910" cy="3178194"/>
          </a:xfrm>
          <a:prstGeom prst="rect">
            <a:avLst/>
          </a:prstGeom>
        </p:spPr>
      </p:pic>
      <p:sp>
        <p:nvSpPr>
          <p:cNvPr id="14" name="圆角矩形 13"/>
          <p:cNvSpPr/>
          <p:nvPr/>
        </p:nvSpPr>
        <p:spPr>
          <a:xfrm>
            <a:off x="4054525" y="2983845"/>
            <a:ext cx="1987100" cy="5715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Microsoft YaHei" pitchFamily="34" charset="-122"/>
                <a:ea typeface="Microsoft YaHei" pitchFamily="34" charset="-122"/>
              </a:rPr>
              <a:t>资源位效率矩阵 </a:t>
            </a:r>
            <a:endParaRPr lang="en-US" altLang="zh-CN" dirty="0">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四象限定位</a:t>
            </a:r>
            <a:endParaRPr lang="zh-CN" altLang="en-US" dirty="0">
              <a:latin typeface="Microsoft YaHei" pitchFamily="34" charset="-122"/>
              <a:ea typeface="Microsoft YaHei" pitchFamily="34" charset="-122"/>
            </a:endParaRPr>
          </a:p>
        </p:txBody>
      </p:sp>
      <p:sp>
        <p:nvSpPr>
          <p:cNvPr id="17" name="圆角矩形 16"/>
          <p:cNvSpPr/>
          <p:nvPr/>
        </p:nvSpPr>
        <p:spPr>
          <a:xfrm>
            <a:off x="4054802" y="3688579"/>
            <a:ext cx="1987100" cy="571501"/>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Microsoft YaHei" pitchFamily="34" charset="-122"/>
                <a:ea typeface="Microsoft YaHei" pitchFamily="34" charset="-122"/>
              </a:rPr>
              <a:t>品类</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价格带交叉分析</a:t>
            </a:r>
            <a:endParaRPr lang="zh-CN" altLang="en-US" dirty="0">
              <a:latin typeface="Microsoft YaHei" pitchFamily="34" charset="-122"/>
              <a:ea typeface="Microsoft YaHei" pitchFamily="34" charset="-122"/>
            </a:endParaRPr>
          </a:p>
        </p:txBody>
      </p:sp>
      <p:sp>
        <p:nvSpPr>
          <p:cNvPr id="18" name="圆角矩形 17"/>
          <p:cNvSpPr/>
          <p:nvPr/>
        </p:nvSpPr>
        <p:spPr>
          <a:xfrm>
            <a:off x="4054802" y="4429693"/>
            <a:ext cx="1987100" cy="36933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Microsoft YaHei" pitchFamily="34" charset="-122"/>
                <a:ea typeface="Microsoft YaHei" pitchFamily="34" charset="-122"/>
              </a:rPr>
              <a:t>月度环比预警</a:t>
            </a:r>
            <a:endParaRPr lang="zh-CN" altLang="en-US" dirty="0">
              <a:latin typeface="Microsoft YaHei" pitchFamily="34" charset="-122"/>
              <a:ea typeface="Microsoft YaHei" pitchFamily="34" charset="-122"/>
            </a:endParaRPr>
          </a:p>
        </p:txBody>
      </p:sp>
      <p:pic>
        <p:nvPicPr>
          <p:cNvPr id="19" name="图片 18"/>
          <p:cNvPicPr>
            <a:picLocks noChangeAspect="1"/>
          </p:cNvPicPr>
          <p:nvPr/>
        </p:nvPicPr>
        <p:blipFill>
          <a:blip r:embed="rId2"/>
          <a:stretch>
            <a:fillRect/>
          </a:stretch>
        </p:blipFill>
        <p:spPr>
          <a:xfrm>
            <a:off x="487045" y="1051560"/>
            <a:ext cx="3492500" cy="2008485"/>
          </a:xfrm>
          <a:prstGeom prst="rect">
            <a:avLst/>
          </a:prstGeom>
        </p:spPr>
      </p:pic>
      <p:sp>
        <p:nvSpPr>
          <p:cNvPr id="20" name="燕尾形 19"/>
          <p:cNvSpPr/>
          <p:nvPr/>
        </p:nvSpPr>
        <p:spPr>
          <a:xfrm>
            <a:off x="6135697" y="3128559"/>
            <a:ext cx="628650" cy="400050"/>
          </a:xfrm>
          <a:prstGeom prst="chevron">
            <a:avLst/>
          </a:prstGeom>
          <a:solidFill>
            <a:schemeClr val="accent5">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itchFamily="34" charset="-122"/>
              <a:ea typeface="Microsoft YaHei" pitchFamily="34" charset="-122"/>
            </a:endParaRPr>
          </a:p>
        </p:txBody>
      </p:sp>
      <p:sp>
        <p:nvSpPr>
          <p:cNvPr id="23" name="燕尾形 22"/>
          <p:cNvSpPr/>
          <p:nvPr/>
        </p:nvSpPr>
        <p:spPr>
          <a:xfrm>
            <a:off x="6182872" y="3757153"/>
            <a:ext cx="628650" cy="400050"/>
          </a:xfrm>
          <a:prstGeom prst="chevron">
            <a:avLst/>
          </a:prstGeom>
          <a:solidFill>
            <a:schemeClr val="accent3">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itchFamily="34" charset="-122"/>
              <a:ea typeface="Microsoft YaHei" pitchFamily="34" charset="-122"/>
            </a:endParaRPr>
          </a:p>
        </p:txBody>
      </p:sp>
      <p:sp>
        <p:nvSpPr>
          <p:cNvPr id="24" name="燕尾形 23"/>
          <p:cNvSpPr/>
          <p:nvPr/>
        </p:nvSpPr>
        <p:spPr>
          <a:xfrm>
            <a:off x="6182872" y="4429694"/>
            <a:ext cx="628650" cy="400050"/>
          </a:xfrm>
          <a:prstGeom prst="chevron">
            <a:avLst/>
          </a:prstGeom>
          <a:solidFill>
            <a:schemeClr val="accent2">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itchFamily="34" charset="-122"/>
              <a:ea typeface="Microsoft YaHei" pitchFamily="34" charset="-122"/>
            </a:endParaRPr>
          </a:p>
        </p:txBody>
      </p:sp>
      <p:sp>
        <p:nvSpPr>
          <p:cNvPr id="27" name="文本框 26"/>
          <p:cNvSpPr txBox="1"/>
          <p:nvPr/>
        </p:nvSpPr>
        <p:spPr>
          <a:xfrm>
            <a:off x="6952492" y="3754475"/>
            <a:ext cx="5137150" cy="369332"/>
          </a:xfrm>
          <a:prstGeom prst="rect">
            <a:avLst/>
          </a:prstGeom>
          <a:noFill/>
        </p:spPr>
        <p:txBody>
          <a:bodyPr wrap="square">
            <a:spAutoFit/>
          </a:bodyPr>
          <a:lstStyle/>
          <a:p>
            <a:r>
              <a:rPr lang="zh-CN" altLang="en-US" dirty="0">
                <a:effectLst/>
                <a:latin typeface="Microsoft YaHei" pitchFamily="34" charset="-122"/>
                <a:ea typeface="Microsoft YaHei" pitchFamily="34" charset="-122"/>
              </a:rPr>
              <a:t>按品类</a:t>
            </a:r>
            <a:r>
              <a:rPr lang="en-US" altLang="zh-CN" dirty="0">
                <a:effectLst/>
                <a:latin typeface="Microsoft YaHei" pitchFamily="34" charset="-122"/>
                <a:ea typeface="Microsoft YaHei" pitchFamily="34" charset="-122"/>
              </a:rPr>
              <a:t>×</a:t>
            </a:r>
            <a:r>
              <a:rPr lang="zh-CN" altLang="en-US" dirty="0">
                <a:effectLst/>
                <a:latin typeface="Microsoft YaHei" pitchFamily="34" charset="-122"/>
                <a:ea typeface="Microsoft YaHei" pitchFamily="34" charset="-122"/>
              </a:rPr>
              <a:t>价格带聚合，自动识别最优推广路径</a:t>
            </a:r>
            <a:endParaRPr lang="zh-CN" altLang="en-US" dirty="0">
              <a:latin typeface="Microsoft YaHei" pitchFamily="34" charset="-122"/>
              <a:ea typeface="Microsoft YaHei" pitchFamily="34" charset="-122"/>
            </a:endParaRPr>
          </a:p>
        </p:txBody>
      </p:sp>
      <p:sp>
        <p:nvSpPr>
          <p:cNvPr id="30" name="文本框 29"/>
          <p:cNvSpPr txBox="1"/>
          <p:nvPr/>
        </p:nvSpPr>
        <p:spPr>
          <a:xfrm>
            <a:off x="6952492" y="4469834"/>
            <a:ext cx="4897386" cy="369332"/>
          </a:xfrm>
          <a:prstGeom prst="rect">
            <a:avLst/>
          </a:prstGeom>
          <a:noFill/>
        </p:spPr>
        <p:txBody>
          <a:bodyPr wrap="square">
            <a:spAutoFit/>
          </a:bodyPr>
          <a:lstStyle/>
          <a:p>
            <a:r>
              <a:rPr lang="zh-CN" altLang="en-US" dirty="0">
                <a:effectLst/>
                <a:latin typeface="Microsoft YaHei" pitchFamily="34" charset="-122"/>
                <a:ea typeface="Microsoft YaHei" pitchFamily="34" charset="-122"/>
              </a:rPr>
              <a:t>效率下降</a:t>
            </a:r>
            <a:r>
              <a:rPr lang="en-US" altLang="zh-CN" dirty="0">
                <a:effectLst/>
                <a:latin typeface="Microsoft YaHei" pitchFamily="34" charset="-122"/>
                <a:ea typeface="Microsoft YaHei" pitchFamily="34" charset="-122"/>
              </a:rPr>
              <a:t>&gt;20%</a:t>
            </a:r>
            <a:r>
              <a:rPr lang="zh-CN" altLang="en-US" dirty="0">
                <a:effectLst/>
                <a:latin typeface="Microsoft YaHei" pitchFamily="34" charset="-122"/>
                <a:ea typeface="Microsoft YaHei" pitchFamily="34" charset="-122"/>
              </a:rPr>
              <a:t>自动标红，辅助运营调整动作</a:t>
            </a:r>
            <a:endParaRPr lang="zh-CN" altLang="en-US" dirty="0">
              <a:latin typeface="Microsoft YaHei" pitchFamily="34" charset="-122"/>
              <a:ea typeface="Microsoft YaHei" pitchFamily="34" charset="-122"/>
            </a:endParaRPr>
          </a:p>
        </p:txBody>
      </p:sp>
      <p:sp>
        <p:nvSpPr>
          <p:cNvPr id="31" name="文本框 30"/>
          <p:cNvSpPr txBox="1"/>
          <p:nvPr/>
        </p:nvSpPr>
        <p:spPr>
          <a:xfrm>
            <a:off x="6952492" y="3128559"/>
            <a:ext cx="4119880" cy="369332"/>
          </a:xfrm>
          <a:prstGeom prst="rect">
            <a:avLst/>
          </a:prstGeom>
          <a:noFill/>
        </p:spPr>
        <p:txBody>
          <a:bodyPr wrap="square">
            <a:spAutoFit/>
          </a:bodyPr>
          <a:lstStyle/>
          <a:p>
            <a:r>
              <a:rPr lang="zh-CN" altLang="en-US" dirty="0">
                <a:effectLst/>
                <a:latin typeface="Microsoft YaHei" pitchFamily="34" charset="-122"/>
                <a:ea typeface="Microsoft YaHei" pitchFamily="34" charset="-122"/>
              </a:rPr>
              <a:t>定位高杠杆资源位，辅助决策推广路径</a:t>
            </a:r>
            <a:endParaRPr lang="zh-CN" altLang="en-US" dirty="0">
              <a:latin typeface="Microsoft YaHei" pitchFamily="34" charset="-122"/>
              <a:ea typeface="Microsoft YaHei" pitchFamily="34" charset="-122"/>
            </a:endParaRPr>
          </a:p>
        </p:txBody>
      </p:sp>
      <p:sp>
        <p:nvSpPr>
          <p:cNvPr id="36" name="文本框 35"/>
          <p:cNvSpPr txBox="1"/>
          <p:nvPr/>
        </p:nvSpPr>
        <p:spPr>
          <a:xfrm>
            <a:off x="4019170" y="1166340"/>
            <a:ext cx="6823001" cy="1131079"/>
          </a:xfrm>
          <a:prstGeom prst="rect">
            <a:avLst/>
          </a:prstGeom>
          <a:noFill/>
        </p:spPr>
        <p:txBody>
          <a:bodyPr wrap="square">
            <a:spAutoFit/>
          </a:bodyPr>
          <a:lstStyle/>
          <a:p>
            <a:pPr algn="l">
              <a:buNone/>
            </a:pPr>
            <a:r>
              <a:rPr lang="zh-CN" altLang="en-US" sz="2000" dirty="0">
                <a:effectLst/>
                <a:latin typeface="Microsoft YaHei" pitchFamily="34" charset="-122"/>
                <a:ea typeface="Microsoft YaHei" pitchFamily="34" charset="-122"/>
              </a:rPr>
              <a:t>现有资源位效率痛点</a:t>
            </a:r>
            <a:endParaRPr lang="zh-CN" altLang="en-US" sz="2000" dirty="0">
              <a:effectLst/>
              <a:latin typeface="Microsoft YaHei" pitchFamily="34" charset="-122"/>
              <a:ea typeface="Microsoft YaHei" pitchFamily="34" charset="-122"/>
            </a:endParaRPr>
          </a:p>
          <a:p>
            <a:pPr algn="l">
              <a:spcBef>
                <a:spcPts val="300"/>
              </a:spcBef>
              <a:spcAft>
                <a:spcPts val="300"/>
              </a:spcAft>
              <a:buFont typeface="Arial" panose="020B0604020202090204" pitchFamily="34" charset="0"/>
              <a:buChar char="•"/>
            </a:pPr>
            <a:r>
              <a:rPr lang="zh-CN" altLang="en-US" sz="2000" dirty="0">
                <a:effectLst/>
                <a:latin typeface="Microsoft YaHei" pitchFamily="34" charset="-122"/>
                <a:ea typeface="Microsoft YaHei" pitchFamily="34" charset="-122"/>
              </a:rPr>
              <a:t>看不清：无法横向对比哪个效率高</a:t>
            </a:r>
            <a:endParaRPr lang="en-US" altLang="zh-CN" sz="2000" dirty="0">
              <a:effectLst/>
              <a:latin typeface="Microsoft YaHei" pitchFamily="34" charset="-122"/>
              <a:ea typeface="Microsoft YaHei" pitchFamily="34" charset="-122"/>
            </a:endParaRPr>
          </a:p>
          <a:p>
            <a:pPr algn="l">
              <a:spcBef>
                <a:spcPts val="300"/>
              </a:spcBef>
              <a:spcAft>
                <a:spcPts val="300"/>
              </a:spcAft>
              <a:buFont typeface="Arial" panose="020B0604020202090204" pitchFamily="34" charset="0"/>
              <a:buChar char="•"/>
            </a:pPr>
            <a:r>
              <a:rPr lang="zh-CN" altLang="en-US" sz="2000" dirty="0">
                <a:effectLst/>
                <a:latin typeface="Microsoft YaHei" pitchFamily="34" charset="-122"/>
                <a:ea typeface="Microsoft YaHei" pitchFamily="34" charset="-122"/>
              </a:rPr>
              <a:t>调不准：流量分配靠经验，效率变化无法及时发现</a:t>
            </a:r>
            <a:endParaRPr lang="zh-CN" altLang="en-US" sz="2000" dirty="0">
              <a:effectLst/>
              <a:latin typeface="Microsoft YaHei" pitchFamily="34" charset="-122"/>
              <a:ea typeface="Microsoft YaHei" pitchFamily="34" charset="-122"/>
            </a:endParaRPr>
          </a:p>
        </p:txBody>
      </p:sp>
      <p:sp>
        <p:nvSpPr>
          <p:cNvPr id="40" name="文本框 39"/>
          <p:cNvSpPr txBox="1"/>
          <p:nvPr/>
        </p:nvSpPr>
        <p:spPr>
          <a:xfrm>
            <a:off x="4019170" y="2507944"/>
            <a:ext cx="1755329" cy="400110"/>
          </a:xfrm>
          <a:prstGeom prst="rect">
            <a:avLst/>
          </a:prstGeom>
          <a:noFill/>
        </p:spPr>
        <p:txBody>
          <a:bodyPr wrap="square">
            <a:spAutoFit/>
          </a:bodyPr>
          <a:lstStyle/>
          <a:p>
            <a:pPr algn="l">
              <a:buNone/>
            </a:pPr>
            <a:r>
              <a:rPr lang="zh-CN" altLang="en-US" sz="2000" dirty="0">
                <a:effectLst/>
                <a:latin typeface="Microsoft YaHei" pitchFamily="34" charset="-122"/>
                <a:ea typeface="Microsoft YaHei" pitchFamily="34" charset="-122"/>
              </a:rPr>
              <a:t>现有看板功能</a:t>
            </a:r>
            <a:endParaRPr lang="zh-CN" altLang="en-US" sz="2000" dirty="0">
              <a:effectLst/>
              <a:latin typeface="Microsoft YaHei" pitchFamily="34" charset="-122"/>
              <a:ea typeface="Microsoft YaHei" pitchFamily="34" charset="-122"/>
            </a:endParaRPr>
          </a:p>
        </p:txBody>
      </p:sp>
      <p:sp>
        <p:nvSpPr>
          <p:cNvPr id="41" name="圆角矩形 40"/>
          <p:cNvSpPr/>
          <p:nvPr/>
        </p:nvSpPr>
        <p:spPr>
          <a:xfrm>
            <a:off x="4054802" y="5071516"/>
            <a:ext cx="1987100"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latin typeface="Microsoft YaHei" pitchFamily="34" charset="-122"/>
                <a:ea typeface="Microsoft YaHei" pitchFamily="34" charset="-122"/>
              </a:rPr>
              <a:t>自动诊断报告</a:t>
            </a:r>
            <a:endParaRPr lang="zh-CN" altLang="en-US" dirty="0">
              <a:latin typeface="Microsoft YaHei" pitchFamily="34" charset="-122"/>
              <a:ea typeface="Microsoft YaHei" pitchFamily="34" charset="-122"/>
            </a:endParaRPr>
          </a:p>
        </p:txBody>
      </p:sp>
      <p:sp>
        <p:nvSpPr>
          <p:cNvPr id="43" name="燕尾形 42"/>
          <p:cNvSpPr/>
          <p:nvPr/>
        </p:nvSpPr>
        <p:spPr>
          <a:xfrm>
            <a:off x="6182872" y="5071517"/>
            <a:ext cx="628650" cy="400050"/>
          </a:xfrm>
          <a:prstGeom prst="chevron">
            <a:avLst/>
          </a:prstGeom>
          <a:solidFill>
            <a:srgbClr val="C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latin typeface="Microsoft YaHei" pitchFamily="34" charset="-122"/>
              <a:ea typeface="Microsoft YaHei" pitchFamily="34" charset="-122"/>
            </a:endParaRPr>
          </a:p>
        </p:txBody>
      </p:sp>
      <p:sp>
        <p:nvSpPr>
          <p:cNvPr id="44" name="文本框 43"/>
          <p:cNvSpPr txBox="1"/>
          <p:nvPr/>
        </p:nvSpPr>
        <p:spPr>
          <a:xfrm>
            <a:off x="6952492" y="5102235"/>
            <a:ext cx="4678168" cy="369332"/>
          </a:xfrm>
          <a:prstGeom prst="rect">
            <a:avLst/>
          </a:prstGeom>
          <a:noFill/>
        </p:spPr>
        <p:txBody>
          <a:bodyPr wrap="square">
            <a:spAutoFit/>
          </a:bodyPr>
          <a:lstStyle/>
          <a:p>
            <a:r>
              <a:rPr lang="zh-CN" altLang="en-US" dirty="0">
                <a:latin typeface="Microsoft YaHei" pitchFamily="34" charset="-122"/>
                <a:ea typeface="Microsoft YaHei" pitchFamily="34" charset="-122"/>
              </a:rPr>
              <a:t>一键生成数据诊断报告，替代人工拉表</a:t>
            </a:r>
            <a:endParaRPr lang="zh-CN" altLang="en-US" dirty="0">
              <a:latin typeface="Microsoft YaHei" pitchFamily="34" charset="-122"/>
              <a:ea typeface="Microsoft YaHei" pitchFamily="34" charset="-122"/>
            </a:endParaRPr>
          </a:p>
        </p:txBody>
      </p:sp>
      <p:sp>
        <p:nvSpPr>
          <p:cNvPr id="46" name="文本框 45"/>
          <p:cNvSpPr txBox="1"/>
          <p:nvPr/>
        </p:nvSpPr>
        <p:spPr>
          <a:xfrm>
            <a:off x="4019170" y="5578141"/>
            <a:ext cx="7241004" cy="707886"/>
          </a:xfrm>
          <a:prstGeom prst="rect">
            <a:avLst/>
          </a:prstGeom>
          <a:noFill/>
        </p:spPr>
        <p:txBody>
          <a:bodyPr wrap="square">
            <a:spAutoFit/>
          </a:bodyPr>
          <a:lstStyle/>
          <a:p>
            <a:pPr algn="l">
              <a:buNone/>
            </a:pPr>
            <a:r>
              <a:rPr lang="zh-CN" altLang="en-US" sz="2000" dirty="0">
                <a:solidFill>
                  <a:schemeClr val="accent6"/>
                </a:solidFill>
                <a:effectLst/>
                <a:latin typeface="Microsoft YaHei" pitchFamily="34" charset="-122"/>
                <a:ea typeface="Microsoft YaHei" pitchFamily="34" charset="-122"/>
              </a:rPr>
              <a:t>待拓展</a:t>
            </a:r>
            <a:r>
              <a:rPr lang="en-US" altLang="zh-CN" sz="2000" dirty="0">
                <a:solidFill>
                  <a:schemeClr val="accent6"/>
                </a:solidFill>
                <a:effectLst/>
                <a:latin typeface="Microsoft YaHei" pitchFamily="34" charset="-122"/>
                <a:ea typeface="Microsoft YaHei" pitchFamily="34" charset="-122"/>
              </a:rPr>
              <a:t>—</a:t>
            </a:r>
            <a:r>
              <a:rPr lang="zh-CN" altLang="en-US" sz="2000" dirty="0">
                <a:solidFill>
                  <a:schemeClr val="accent6"/>
                </a:solidFill>
                <a:effectLst/>
                <a:latin typeface="Microsoft YaHei" pitchFamily="34" charset="-122"/>
                <a:ea typeface="Microsoft YaHei" pitchFamily="34" charset="-122"/>
              </a:rPr>
              <a:t>用户行为相关性分析、</a:t>
            </a:r>
            <a:r>
              <a:rPr lang="en-US" altLang="zh-CN" sz="2000" dirty="0">
                <a:solidFill>
                  <a:schemeClr val="accent6"/>
                </a:solidFill>
                <a:effectLst/>
                <a:latin typeface="Microsoft YaHei" pitchFamily="34" charset="-122"/>
                <a:ea typeface="Microsoft YaHei" pitchFamily="34" charset="-122"/>
              </a:rPr>
              <a:t>A/B</a:t>
            </a:r>
            <a:r>
              <a:rPr lang="zh-CN" altLang="en-US" sz="2000" dirty="0">
                <a:solidFill>
                  <a:schemeClr val="accent6"/>
                </a:solidFill>
                <a:effectLst/>
                <a:latin typeface="Microsoft YaHei" pitchFamily="34" charset="-122"/>
                <a:ea typeface="Microsoft YaHei" pitchFamily="34" charset="-122"/>
              </a:rPr>
              <a:t>测试效率</a:t>
            </a:r>
            <a:r>
              <a:rPr lang="en-US" altLang="zh-CN" sz="2000" dirty="0">
                <a:solidFill>
                  <a:schemeClr val="accent6"/>
                </a:solidFill>
                <a:effectLst/>
                <a:latin typeface="Microsoft YaHei" pitchFamily="34" charset="-122"/>
                <a:ea typeface="Microsoft YaHei" pitchFamily="34" charset="-122"/>
              </a:rPr>
              <a:t>—</a:t>
            </a:r>
            <a:r>
              <a:rPr lang="zh-CN" altLang="en-US" sz="2000" dirty="0">
                <a:solidFill>
                  <a:schemeClr val="accent6"/>
                </a:solidFill>
                <a:effectLst/>
                <a:latin typeface="Microsoft YaHei" pitchFamily="34" charset="-122"/>
                <a:ea typeface="Microsoft YaHei" pitchFamily="34" charset="-122"/>
              </a:rPr>
              <a:t>通过数据接口搭建</a:t>
            </a:r>
            <a:r>
              <a:rPr lang="en-US" altLang="zh-CN" sz="2000" dirty="0">
                <a:solidFill>
                  <a:schemeClr val="accent6"/>
                </a:solidFill>
                <a:effectLst/>
                <a:latin typeface="Microsoft YaHei" pitchFamily="34" charset="-122"/>
                <a:ea typeface="Microsoft YaHei" pitchFamily="34" charset="-122"/>
              </a:rPr>
              <a:t>APP </a:t>
            </a:r>
            <a:r>
              <a:rPr lang="zh-CN" altLang="en-US" sz="2000" dirty="0">
                <a:solidFill>
                  <a:schemeClr val="accent6"/>
                </a:solidFill>
                <a:effectLst/>
                <a:latin typeface="Microsoft YaHei" pitchFamily="34" charset="-122"/>
                <a:ea typeface="Microsoft YaHei" pitchFamily="34" charset="-122"/>
              </a:rPr>
              <a:t>整体数据看板</a:t>
            </a:r>
            <a:endParaRPr lang="zh-CN" altLang="en-US" sz="2000" dirty="0">
              <a:solidFill>
                <a:schemeClr val="accent6"/>
              </a:solidFill>
              <a:effectLst/>
              <a:latin typeface="Microsoft YaHei" pitchFamily="34" charset="-122"/>
              <a:ea typeface="Microsoft YaHei" pitchFamily="34" charset="-122"/>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73851" y="2153966"/>
            <a:ext cx="10839450" cy="1783715"/>
            <a:chOff x="2210" y="4957"/>
            <a:chExt cx="17070" cy="2809"/>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a:solidFill>
                    <a:srgbClr val="F63643"/>
                  </a:solidFill>
                  <a:latin typeface="微软雅黑" charset="-122"/>
                  <a:ea typeface="微软雅黑" charset="-122"/>
                  <a:cs typeface="DIN Alternate" panose="020B0500000000000000" charset="0"/>
                </a:rPr>
                <a:t>04</a:t>
              </a:r>
              <a:endParaRPr lang="en-US" altLang="zh-CN" sz="11000" b="1">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122"/>
                <a:ea typeface="微软雅黑" charset="-122"/>
              </a:endParaRPr>
            </a:p>
          </p:txBody>
        </p:sp>
        <p:sp>
          <p:nvSpPr>
            <p:cNvPr id="4" name="文本框 3"/>
            <p:cNvSpPr txBox="1"/>
            <p:nvPr>
              <p:custDataLst>
                <p:tags r:id="rId3"/>
              </p:custDataLst>
            </p:nvPr>
          </p:nvSpPr>
          <p:spPr>
            <a:xfrm>
              <a:off x="5402" y="5226"/>
              <a:ext cx="13878" cy="1452"/>
            </a:xfrm>
            <a:prstGeom prst="rect">
              <a:avLst/>
            </a:prstGeom>
            <a:noFill/>
          </p:spPr>
          <p:txBody>
            <a:bodyPr wrap="square" rtlCol="0">
              <a:spAutoFit/>
            </a:bodyPr>
            <a:lstStyle/>
            <a:p>
              <a:pPr algn="l">
                <a:lnSpc>
                  <a:spcPct val="100000"/>
                </a:lnSpc>
                <a:spcBef>
                  <a:spcPts val="0"/>
                </a:spcBef>
                <a:buClrTx/>
                <a:buSzTx/>
                <a:buFontTx/>
              </a:pPr>
              <a:r>
                <a:rPr lang="zh-CN" altLang="en-US" sz="5400" b="1" dirty="0"/>
                <a:t>个人提升与不足</a:t>
              </a:r>
              <a:endParaRPr lang="en-US" altLang="zh-CN" sz="4000" dirty="0">
                <a:latin typeface="微软雅黑" charset="-122"/>
                <a:ea typeface="微软雅黑" charset="-122"/>
              </a:endParaRPr>
            </a:p>
          </p:txBody>
        </p:sp>
      </p:grpSp>
    </p:spTree>
    <p:custDataLst>
      <p:tags r:id="rId4"/>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47631" y="-584895"/>
            <a:ext cx="12569273" cy="7017844"/>
          </a:xfrm>
          <a:prstGeom prst="rect">
            <a:avLst/>
          </a:prstGeom>
        </p:spPr>
      </p:pic>
      <p:sp>
        <p:nvSpPr>
          <p:cNvPr id="28" name="文本框 27"/>
          <p:cNvSpPr txBox="1"/>
          <p:nvPr/>
        </p:nvSpPr>
        <p:spPr>
          <a:xfrm>
            <a:off x="455862" y="425051"/>
            <a:ext cx="9730365"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dirty="0">
                <a:latin typeface="Microsoft YaHei" pitchFamily="34" charset="-122"/>
                <a:ea typeface="Microsoft YaHei" pitchFamily="34" charset="-122"/>
                <a:sym typeface="+mn-ea"/>
              </a:rPr>
              <a:t>个人提升与不足</a:t>
            </a:r>
            <a:endParaRPr lang="zh-CN" altLang="en-US" sz="3200" dirty="0">
              <a:latin typeface="Microsoft YaHei" pitchFamily="34" charset="-122"/>
              <a:ea typeface="Microsoft YaHei" pitchFamily="34" charset="-122"/>
            </a:endParaRPr>
          </a:p>
        </p:txBody>
      </p:sp>
      <p:sp>
        <p:nvSpPr>
          <p:cNvPr id="16" name="文本框 15"/>
          <p:cNvSpPr txBox="1"/>
          <p:nvPr/>
        </p:nvSpPr>
        <p:spPr>
          <a:xfrm>
            <a:off x="1167984" y="1212855"/>
            <a:ext cx="3243943" cy="400110"/>
          </a:xfrm>
          <a:prstGeom prst="rect">
            <a:avLst/>
          </a:prstGeom>
          <a:noFill/>
        </p:spPr>
        <p:txBody>
          <a:bodyPr wrap="square">
            <a:spAutoFit/>
          </a:bodyPr>
          <a:lstStyle/>
          <a:p>
            <a:r>
              <a:rPr lang="en-US" altLang="zh-CN" sz="2000" b="1" kern="0" spc="91" dirty="0">
                <a:solidFill>
                  <a:srgbClr val="000000">
                    <a:alpha val="100000"/>
                  </a:srgbClr>
                </a:solidFill>
                <a:latin typeface="Microsoft YaHei" pitchFamily="34" charset="-122"/>
                <a:ea typeface="Microsoft YaHei" pitchFamily="34" charset="-122"/>
                <a:cs typeface="黑体"/>
              </a:rPr>
              <a:t>(</a:t>
            </a:r>
            <a:r>
              <a:rPr lang="zh-CN" altLang="en-US" sz="2000" b="1" kern="0" spc="91" dirty="0">
                <a:solidFill>
                  <a:srgbClr val="000000">
                    <a:alpha val="100000"/>
                  </a:srgbClr>
                </a:solidFill>
                <a:latin typeface="Microsoft YaHei" pitchFamily="34" charset="-122"/>
                <a:ea typeface="Microsoft YaHei" pitchFamily="34" charset="-122"/>
                <a:cs typeface="黑体"/>
              </a:rPr>
              <a:t>组长视角</a:t>
            </a:r>
            <a:r>
              <a:rPr lang="zh-CN" altLang="en-US" sz="2000" b="1" kern="0" dirty="0">
                <a:solidFill>
                  <a:srgbClr val="000000">
                    <a:alpha val="100000"/>
                  </a:srgbClr>
                </a:solidFill>
                <a:latin typeface="Microsoft YaHei" pitchFamily="34" charset="-122"/>
                <a:ea typeface="Microsoft YaHei" pitchFamily="34" charset="-122"/>
                <a:cs typeface="宋体"/>
              </a:rPr>
              <a:t> 对比</a:t>
            </a:r>
            <a:r>
              <a:rPr lang="en-GB" altLang="zh-CN" sz="2000" b="1" kern="0" spc="91" dirty="0">
                <a:solidFill>
                  <a:srgbClr val="000000">
                    <a:alpha val="100000"/>
                  </a:srgbClr>
                </a:solidFill>
                <a:latin typeface="Microsoft YaHei" pitchFamily="34" charset="-122"/>
                <a:ea typeface="Microsoft YaHei" pitchFamily="34" charset="-122"/>
                <a:cs typeface="宋体"/>
              </a:rPr>
              <a:t> </a:t>
            </a:r>
            <a:r>
              <a:rPr lang="zh-CN" altLang="en-US" sz="2000" b="1" kern="0" spc="91" dirty="0">
                <a:solidFill>
                  <a:srgbClr val="000000">
                    <a:alpha val="100000"/>
                  </a:srgbClr>
                </a:solidFill>
                <a:latin typeface="Microsoft YaHei" pitchFamily="34" charset="-122"/>
                <a:ea typeface="Microsoft YaHei" pitchFamily="34" charset="-122"/>
                <a:cs typeface="宋体"/>
              </a:rPr>
              <a:t>统筹</a:t>
            </a:r>
            <a:r>
              <a:rPr lang="zh-CN" altLang="en-US" sz="2000" b="1" kern="0" spc="91" dirty="0">
                <a:solidFill>
                  <a:srgbClr val="000000">
                    <a:alpha val="100000"/>
                  </a:srgbClr>
                </a:solidFill>
                <a:latin typeface="Microsoft YaHei" pitchFamily="34" charset="-122"/>
                <a:ea typeface="Microsoft YaHei" pitchFamily="34" charset="-122"/>
                <a:cs typeface="黑体"/>
              </a:rPr>
              <a:t>视角</a:t>
            </a:r>
            <a:r>
              <a:rPr lang="en-US" altLang="zh-CN" sz="2000" b="1" kern="0" spc="91" dirty="0">
                <a:solidFill>
                  <a:srgbClr val="000000">
                    <a:alpha val="100000"/>
                  </a:srgbClr>
                </a:solidFill>
                <a:latin typeface="Microsoft YaHei" pitchFamily="34" charset="-122"/>
                <a:ea typeface="Microsoft YaHei" pitchFamily="34" charset="-122"/>
                <a:cs typeface="黑体"/>
              </a:rPr>
              <a:t>)</a:t>
            </a:r>
            <a:r>
              <a:rPr lang="zh-CN" altLang="en-US" sz="2000" b="1" kern="0" spc="49" dirty="0">
                <a:solidFill>
                  <a:srgbClr val="000000">
                    <a:alpha val="100000"/>
                  </a:srgbClr>
                </a:solidFill>
                <a:latin typeface="Microsoft YaHei" pitchFamily="34" charset="-122"/>
                <a:ea typeface="Microsoft YaHei" pitchFamily="34" charset="-122"/>
                <a:cs typeface="黑体"/>
              </a:rPr>
              <a:t> </a:t>
            </a:r>
            <a:endParaRPr lang="zh-CN" altLang="en-US" sz="2000" b="1" dirty="0">
              <a:latin typeface="Microsoft YaHei" pitchFamily="34" charset="-122"/>
              <a:ea typeface="Microsoft YaHei" pitchFamily="34" charset="-122"/>
            </a:endParaRPr>
          </a:p>
        </p:txBody>
      </p:sp>
      <p:sp>
        <p:nvSpPr>
          <p:cNvPr id="19" name="textbox 222"/>
          <p:cNvSpPr/>
          <p:nvPr/>
        </p:nvSpPr>
        <p:spPr>
          <a:xfrm>
            <a:off x="7565375" y="1757218"/>
            <a:ext cx="4052884" cy="3640037"/>
          </a:xfrm>
          <a:prstGeom prst="rect">
            <a:avLst/>
          </a:prstGeom>
          <a:noFill/>
          <a:ln w="0" cap="flat">
            <a:noFill/>
            <a:prstDash val="solid"/>
            <a:miter lim="0"/>
          </a:ln>
        </p:spPr>
        <p:txBody>
          <a:bodyPr vert="horz" wrap="square" lIns="0" tIns="0" rIns="0" bIns="0"/>
          <a:lstStyle/>
          <a:p>
            <a:pPr algn="l" rtl="0" eaLnBrk="0">
              <a:lnSpc>
                <a:spcPct val="73000"/>
              </a:lnSpc>
            </a:pPr>
            <a:endParaRPr dirty="0">
              <a:latin typeface="Microsoft YaHei" pitchFamily="34" charset="-122"/>
              <a:ea typeface="Microsoft YaHei" pitchFamily="34" charset="-122"/>
              <a:cs typeface="Arial" panose="020B0604020202090204"/>
            </a:endParaRPr>
          </a:p>
          <a:p>
            <a:pPr marL="8890" eaLnBrk="0">
              <a:lnSpc>
                <a:spcPct val="87000"/>
              </a:lnSpc>
            </a:pPr>
            <a:r>
              <a:rPr kern="0" spc="70" dirty="0" err="1">
                <a:latin typeface="Microsoft YaHei" pitchFamily="34" charset="-122"/>
                <a:ea typeface="Microsoft YaHei" pitchFamily="34" charset="-122"/>
                <a:cs typeface="黑体"/>
              </a:rPr>
              <a:t>战略规划力：从只会做季度规划，到主动</a:t>
            </a:r>
            <a:r>
              <a:rPr lang="zh-CN" altLang="en-US" dirty="0">
                <a:latin typeface="Microsoft YaHei" pitchFamily="34" charset="-122"/>
                <a:ea typeface="Microsoft YaHei" pitchFamily="34" charset="-122"/>
                <a:cs typeface="黑体"/>
              </a:rPr>
              <a:t>，</a:t>
            </a:r>
            <a:r>
              <a:rPr kern="0" spc="77" dirty="0" err="1">
                <a:latin typeface="Microsoft YaHei" pitchFamily="34" charset="-122"/>
                <a:ea typeface="Microsoft YaHei" pitchFamily="34" charset="-122"/>
                <a:cs typeface="黑体"/>
              </a:rPr>
              <a:t>参与公司级</a:t>
            </a:r>
            <a:r>
              <a:rPr lang="zh-CN" altLang="en-US" kern="0" dirty="0">
                <a:latin typeface="Microsoft YaHei" pitchFamily="34" charset="-122"/>
                <a:ea typeface="Microsoft YaHei" pitchFamily="34" charset="-122"/>
                <a:cs typeface="宋体"/>
              </a:rPr>
              <a:t>目标</a:t>
            </a:r>
            <a:r>
              <a:rPr kern="0" spc="77" dirty="0" err="1">
                <a:latin typeface="Microsoft YaHei" pitchFamily="34" charset="-122"/>
                <a:ea typeface="Microsoft YaHei" pitchFamily="34" charset="-122"/>
                <a:cs typeface="黑体"/>
              </a:rPr>
              <a:t>对齐，提升向上全局视</a:t>
            </a:r>
            <a:r>
              <a:rPr kern="0" spc="-63" dirty="0" err="1">
                <a:latin typeface="Microsoft YaHei" pitchFamily="34" charset="-122"/>
                <a:ea typeface="Microsoft YaHei" pitchFamily="34" charset="-122"/>
                <a:cs typeface="黑体"/>
              </a:rPr>
              <a:t>角</a:t>
            </a:r>
            <a:endParaRPr dirty="0">
              <a:latin typeface="Microsoft YaHei" pitchFamily="34" charset="-122"/>
              <a:ea typeface="Microsoft YaHei" pitchFamily="34" charset="-122"/>
              <a:cs typeface="黑体"/>
            </a:endParaRPr>
          </a:p>
          <a:p>
            <a:pPr algn="l" rtl="0" eaLnBrk="0">
              <a:lnSpc>
                <a:spcPct val="104000"/>
              </a:lnSpc>
            </a:pPr>
            <a:endParaRPr dirty="0">
              <a:latin typeface="Microsoft YaHei" pitchFamily="34" charset="-122"/>
              <a:ea typeface="Microsoft YaHei" pitchFamily="34" charset="-122"/>
              <a:cs typeface="Arial" panose="020B0604020202090204"/>
            </a:endParaRPr>
          </a:p>
          <a:p>
            <a:pPr marL="8890" eaLnBrk="0">
              <a:lnSpc>
                <a:spcPct val="87000"/>
              </a:lnSpc>
              <a:spcBef>
                <a:spcPts val="465"/>
              </a:spcBef>
            </a:pPr>
            <a:endParaRPr lang="en-US" dirty="0">
              <a:latin typeface="Microsoft YaHei" pitchFamily="34" charset="-122"/>
              <a:ea typeface="Microsoft YaHei" pitchFamily="34" charset="-122"/>
              <a:cs typeface="Arial" panose="020B0604020202090204"/>
            </a:endParaRPr>
          </a:p>
          <a:p>
            <a:pPr marL="8890" eaLnBrk="0">
              <a:lnSpc>
                <a:spcPct val="87000"/>
              </a:lnSpc>
              <a:spcBef>
                <a:spcPts val="465"/>
              </a:spcBef>
            </a:pPr>
            <a:endParaRPr lang="en-US" kern="0" spc="56" dirty="0">
              <a:latin typeface="Microsoft YaHei" pitchFamily="34" charset="-122"/>
              <a:ea typeface="Microsoft YaHei" pitchFamily="34" charset="-122"/>
              <a:cs typeface="黑体"/>
            </a:endParaRPr>
          </a:p>
          <a:p>
            <a:pPr marL="8890" eaLnBrk="0">
              <a:lnSpc>
                <a:spcPct val="87000"/>
              </a:lnSpc>
              <a:spcBef>
                <a:spcPts val="465"/>
              </a:spcBef>
            </a:pPr>
            <a:r>
              <a:rPr kern="0" spc="56" dirty="0" err="1">
                <a:latin typeface="Microsoft YaHei" pitchFamily="34" charset="-122"/>
                <a:ea typeface="Microsoft YaHei" pitchFamily="34" charset="-122"/>
                <a:cs typeface="黑体"/>
              </a:rPr>
              <a:t>团队赋能力</a:t>
            </a:r>
            <a:r>
              <a:rPr kern="0" spc="56" dirty="0">
                <a:latin typeface="Microsoft YaHei" pitchFamily="34" charset="-122"/>
                <a:ea typeface="Microsoft YaHei" pitchFamily="34" charset="-122"/>
                <a:cs typeface="黑体"/>
              </a:rPr>
              <a:t>：</a:t>
            </a:r>
            <a:r>
              <a:rPr kern="0" spc="-314" dirty="0">
                <a:latin typeface="Microsoft YaHei" pitchFamily="34" charset="-122"/>
                <a:ea typeface="Microsoft YaHei" pitchFamily="34" charset="-122"/>
                <a:cs typeface="黑体"/>
              </a:rPr>
              <a:t> </a:t>
            </a:r>
            <a:r>
              <a:rPr kern="0" spc="56" dirty="0" err="1">
                <a:latin typeface="Microsoft YaHei" pitchFamily="34" charset="-122"/>
                <a:ea typeface="Microsoft YaHei" pitchFamily="34" charset="-122"/>
                <a:cs typeface="黑体"/>
              </a:rPr>
              <a:t>克服决策依</a:t>
            </a:r>
            <a:r>
              <a:rPr kern="0" spc="49" dirty="0" err="1">
                <a:latin typeface="Microsoft YaHei" pitchFamily="34" charset="-122"/>
                <a:ea typeface="Microsoft YaHei" pitchFamily="34" charset="-122"/>
                <a:cs typeface="黑体"/>
              </a:rPr>
              <a:t>赖，赋予团队成</a:t>
            </a:r>
            <a:r>
              <a:rPr kern="0" spc="-35" dirty="0" err="1">
                <a:latin typeface="Microsoft YaHei" pitchFamily="34" charset="-122"/>
                <a:ea typeface="Microsoft YaHei" pitchFamily="34" charset="-122"/>
                <a:cs typeface="黑体"/>
              </a:rPr>
              <a:t>员“独立权</a:t>
            </a:r>
            <a:r>
              <a:rPr kern="0" spc="-35" dirty="0">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algn="l" rtl="0" eaLnBrk="0">
              <a:lnSpc>
                <a:spcPct val="113000"/>
              </a:lnSpc>
            </a:pPr>
            <a:endParaRPr dirty="0">
              <a:latin typeface="Microsoft YaHei" pitchFamily="34" charset="-122"/>
              <a:ea typeface="Microsoft YaHei" pitchFamily="34" charset="-122"/>
              <a:cs typeface="Arial" panose="020B0604020202090204"/>
            </a:endParaRPr>
          </a:p>
          <a:p>
            <a:pPr algn="l" rtl="0" eaLnBrk="0">
              <a:lnSpc>
                <a:spcPct val="113000"/>
              </a:lnSpc>
            </a:pPr>
            <a:endParaRPr dirty="0">
              <a:latin typeface="Microsoft YaHei" pitchFamily="34" charset="-122"/>
              <a:ea typeface="Microsoft YaHei" pitchFamily="34" charset="-122"/>
              <a:cs typeface="Arial" panose="020B0604020202090204"/>
            </a:endParaRPr>
          </a:p>
          <a:p>
            <a:pPr marL="8890" eaLnBrk="0">
              <a:lnSpc>
                <a:spcPct val="87000"/>
              </a:lnSpc>
              <a:spcBef>
                <a:spcPts val="465"/>
              </a:spcBef>
            </a:pPr>
            <a:r>
              <a:rPr lang="zh-CN" altLang="en-US" kern="0" spc="-42" dirty="0">
                <a:latin typeface="Microsoft YaHei" pitchFamily="34" charset="-122"/>
                <a:ea typeface="Microsoft YaHei" pitchFamily="34" charset="-122"/>
                <a:cs typeface="黑体"/>
              </a:rPr>
              <a:t>用户分析能力需继续深入：</a:t>
            </a:r>
            <a:r>
              <a:rPr lang="zh-CN" altLang="en-US" dirty="0">
                <a:latin typeface="Microsoft YaHei" pitchFamily="34" charset="-122"/>
                <a:ea typeface="Microsoft YaHei" pitchFamily="34" charset="-122"/>
              </a:rPr>
              <a:t>关联性用户行为</a:t>
            </a:r>
            <a:endParaRPr lang="en-US" altLang="zh-CN" dirty="0">
              <a:latin typeface="Microsoft YaHei" pitchFamily="34" charset="-122"/>
              <a:ea typeface="Microsoft YaHei" pitchFamily="34" charset="-122"/>
            </a:endParaRPr>
          </a:p>
          <a:p>
            <a:pPr marL="8890" eaLnBrk="0">
              <a:lnSpc>
                <a:spcPct val="87000"/>
              </a:lnSpc>
              <a:spcBef>
                <a:spcPts val="465"/>
              </a:spcBef>
            </a:pPr>
            <a:r>
              <a:rPr lang="zh-CN" altLang="en-US" dirty="0">
                <a:latin typeface="Microsoft YaHei" pitchFamily="34" charset="-122"/>
                <a:ea typeface="Microsoft YaHei" pitchFamily="34" charset="-122"/>
              </a:rPr>
              <a:t>分析薄弱，以及现有</a:t>
            </a:r>
            <a:r>
              <a:rPr lang="en-US" altLang="zh-CN" dirty="0" err="1">
                <a:latin typeface="Microsoft YaHei" pitchFamily="34" charset="-122"/>
                <a:ea typeface="Microsoft YaHei" pitchFamily="34" charset="-122"/>
              </a:rPr>
              <a:t>cdp</a:t>
            </a:r>
            <a:r>
              <a:rPr lang="zh-CN" altLang="en-US" dirty="0">
                <a:latin typeface="Microsoft YaHei" pitchFamily="34" charset="-122"/>
                <a:ea typeface="Microsoft YaHei" pitchFamily="34" charset="-122"/>
              </a:rPr>
              <a:t>的应用场景挖掘</a:t>
            </a:r>
            <a:endParaRPr lang="zh-CN" altLang="en-US" dirty="0">
              <a:latin typeface="Microsoft YaHei" pitchFamily="34" charset="-122"/>
              <a:ea typeface="Microsoft YaHei" pitchFamily="34" charset="-122"/>
            </a:endParaRPr>
          </a:p>
          <a:p>
            <a:pPr marL="8890" eaLnBrk="0">
              <a:lnSpc>
                <a:spcPct val="87000"/>
              </a:lnSpc>
              <a:spcBef>
                <a:spcPts val="465"/>
              </a:spcBef>
            </a:pPr>
            <a:endParaRPr dirty="0">
              <a:latin typeface="Microsoft YaHei" pitchFamily="34" charset="-122"/>
              <a:ea typeface="Microsoft YaHei" pitchFamily="34" charset="-122"/>
              <a:cs typeface="Arial" panose="020B0604020202090204"/>
            </a:endParaRPr>
          </a:p>
          <a:p>
            <a:pPr algn="l" rtl="0" eaLnBrk="0">
              <a:lnSpc>
                <a:spcPct val="117000"/>
              </a:lnSpc>
            </a:pPr>
            <a:endParaRPr dirty="0">
              <a:latin typeface="Microsoft YaHei" pitchFamily="34" charset="-122"/>
              <a:ea typeface="Microsoft YaHei" pitchFamily="34" charset="-122"/>
              <a:cs typeface="Arial" panose="020B0604020202090204"/>
            </a:endParaRPr>
          </a:p>
        </p:txBody>
      </p:sp>
      <p:sp>
        <p:nvSpPr>
          <p:cNvPr id="23" name="textbox 226"/>
          <p:cNvSpPr/>
          <p:nvPr/>
        </p:nvSpPr>
        <p:spPr>
          <a:xfrm>
            <a:off x="3778028" y="1757218"/>
            <a:ext cx="1921624" cy="4106939"/>
          </a:xfrm>
          <a:prstGeom prst="rect">
            <a:avLst/>
          </a:prstGeom>
          <a:noFill/>
          <a:ln w="0" cap="flat">
            <a:noFill/>
            <a:prstDash val="solid"/>
            <a:miter lim="0"/>
          </a:ln>
        </p:spPr>
        <p:txBody>
          <a:bodyPr vert="horz" wrap="square" lIns="0" tIns="0" rIns="0" bIns="0"/>
          <a:lstStyle/>
          <a:p>
            <a:pPr marL="8890" eaLnBrk="0">
              <a:lnSpc>
                <a:spcPct val="87000"/>
              </a:lnSpc>
            </a:pPr>
            <a:r>
              <a:rPr kern="0" spc="77" dirty="0" err="1">
                <a:solidFill>
                  <a:srgbClr val="000000">
                    <a:alpha val="100000"/>
                  </a:srgbClr>
                </a:solidFill>
                <a:latin typeface="Microsoft YaHei" pitchFamily="34" charset="-122"/>
                <a:ea typeface="Microsoft YaHei" pitchFamily="34" charset="-122"/>
                <a:cs typeface="黑体"/>
              </a:rPr>
              <a:t>系统</a:t>
            </a:r>
            <a:r>
              <a:rPr lang="zh-CN" altLang="en-US" kern="0" spc="77" dirty="0">
                <a:solidFill>
                  <a:srgbClr val="000000">
                    <a:alpha val="100000"/>
                  </a:srgbClr>
                </a:solidFill>
                <a:latin typeface="Microsoft YaHei" pitchFamily="34" charset="-122"/>
                <a:ea typeface="Microsoft YaHei" pitchFamily="34" charset="-122"/>
                <a:cs typeface="黑体"/>
              </a:rPr>
              <a:t>思维</a:t>
            </a:r>
            <a:r>
              <a:rPr kern="0" spc="77" dirty="0" err="1">
                <a:solidFill>
                  <a:srgbClr val="000000">
                    <a:alpha val="100000"/>
                  </a:srgbClr>
                </a:solidFill>
                <a:latin typeface="Microsoft YaHei" pitchFamily="34" charset="-122"/>
                <a:ea typeface="Microsoft YaHei" pitchFamily="34" charset="-122"/>
                <a:cs typeface="黑体"/>
              </a:rPr>
              <a:t>构建</a:t>
            </a:r>
            <a:endParaRPr dirty="0">
              <a:latin typeface="Microsoft YaHei" pitchFamily="34" charset="-122"/>
              <a:ea typeface="Microsoft YaHei" pitchFamily="34" charset="-122"/>
              <a:cs typeface="黑体"/>
            </a:endParaRPr>
          </a:p>
          <a:p>
            <a:pPr marL="141605" eaLnBrk="0">
              <a:lnSpc>
                <a:spcPts val="2365"/>
              </a:lnSpc>
            </a:pPr>
            <a:r>
              <a:rPr kern="0" spc="56" dirty="0">
                <a:solidFill>
                  <a:srgbClr val="000000">
                    <a:alpha val="100000"/>
                  </a:srgbClr>
                </a:solidFill>
                <a:latin typeface="Microsoft YaHei" pitchFamily="34" charset="-122"/>
                <a:ea typeface="Microsoft YaHei" pitchFamily="34" charset="-122"/>
                <a:cs typeface="黑体"/>
              </a:rPr>
              <a:t>(</a:t>
            </a:r>
            <a:r>
              <a:rPr kern="0" spc="56" dirty="0" err="1">
                <a:solidFill>
                  <a:srgbClr val="000000">
                    <a:alpha val="100000"/>
                  </a:srgbClr>
                </a:solidFill>
                <a:latin typeface="Microsoft YaHei" pitchFamily="34" charset="-122"/>
                <a:ea typeface="Microsoft YaHei" pitchFamily="34" charset="-122"/>
                <a:cs typeface="黑体"/>
              </a:rPr>
              <a:t>私域+</a:t>
            </a:r>
            <a:r>
              <a:rPr kern="0" dirty="0" err="1">
                <a:solidFill>
                  <a:srgbClr val="000000">
                    <a:alpha val="100000"/>
                  </a:srgbClr>
                </a:solidFill>
                <a:latin typeface="Microsoft YaHei" pitchFamily="34" charset="-122"/>
                <a:ea typeface="Microsoft YaHei" pitchFamily="34" charset="-122"/>
                <a:cs typeface="Arial" panose="020B0604020202090204"/>
              </a:rPr>
              <a:t>APP</a:t>
            </a:r>
            <a:r>
              <a:rPr kern="0" spc="56" dirty="0">
                <a:solidFill>
                  <a:srgbClr val="000000">
                    <a:alpha val="100000"/>
                  </a:srgbClr>
                </a:solidFill>
                <a:latin typeface="Microsoft YaHei" pitchFamily="34" charset="-122"/>
                <a:ea typeface="Microsoft YaHei" pitchFamily="34" charset="-122"/>
                <a:cs typeface="Arial" panose="020B0604020202090204"/>
              </a:rPr>
              <a:t>)</a:t>
            </a:r>
            <a:endParaRPr lang="en-US" kern="0" spc="56" dirty="0">
              <a:solidFill>
                <a:srgbClr val="000000">
                  <a:alpha val="100000"/>
                </a:srgbClr>
              </a:solidFill>
              <a:latin typeface="Microsoft YaHei" pitchFamily="34" charset="-122"/>
              <a:ea typeface="Microsoft YaHei" pitchFamily="34" charset="-122"/>
              <a:cs typeface="Arial" panose="020B0604020202090204"/>
            </a:endParaRPr>
          </a:p>
          <a:p>
            <a:pPr marL="8890" eaLnBrk="0">
              <a:lnSpc>
                <a:spcPct val="87000"/>
              </a:lnSpc>
              <a:spcBef>
                <a:spcPts val="465"/>
              </a:spcBef>
            </a:pPr>
            <a:endParaRPr lang="en-US" dirty="0">
              <a:latin typeface="Microsoft YaHei" pitchFamily="34" charset="-122"/>
              <a:ea typeface="Microsoft YaHei" pitchFamily="34" charset="-122"/>
              <a:cs typeface="Arial" panose="020B0604020202090204"/>
            </a:endParaRPr>
          </a:p>
          <a:p>
            <a:pPr marL="8890" eaLnBrk="0">
              <a:lnSpc>
                <a:spcPct val="87000"/>
              </a:lnSpc>
              <a:spcBef>
                <a:spcPts val="465"/>
              </a:spcBef>
            </a:pPr>
            <a:endParaRPr lang="en-US" kern="0" spc="56" dirty="0">
              <a:solidFill>
                <a:srgbClr val="000000">
                  <a:alpha val="100000"/>
                </a:srgbClr>
              </a:solidFill>
              <a:latin typeface="Microsoft YaHei" pitchFamily="34" charset="-122"/>
              <a:ea typeface="Microsoft YaHei" pitchFamily="34" charset="-122"/>
              <a:cs typeface="黑体"/>
            </a:endParaRPr>
          </a:p>
          <a:p>
            <a:pPr marL="8890" eaLnBrk="0">
              <a:lnSpc>
                <a:spcPct val="87000"/>
              </a:lnSpc>
              <a:spcBef>
                <a:spcPts val="465"/>
              </a:spcBef>
            </a:pPr>
            <a:r>
              <a:rPr kern="0" spc="56" dirty="0" err="1">
                <a:solidFill>
                  <a:srgbClr val="000000">
                    <a:alpha val="100000"/>
                  </a:srgbClr>
                </a:solidFill>
                <a:latin typeface="Microsoft YaHei" pitchFamily="34" charset="-122"/>
                <a:ea typeface="Microsoft YaHei" pitchFamily="34" charset="-122"/>
                <a:cs typeface="黑体"/>
              </a:rPr>
              <a:t>关注</a:t>
            </a:r>
            <a:r>
              <a:rPr kern="0" dirty="0" err="1">
                <a:solidFill>
                  <a:srgbClr val="000000">
                    <a:alpha val="100000"/>
                  </a:srgbClr>
                </a:solidFill>
                <a:latin typeface="Microsoft YaHei" pitchFamily="34" charset="-122"/>
                <a:ea typeface="Microsoft YaHei" pitchFamily="34" charset="-122"/>
                <a:cs typeface="Arial" panose="020B0604020202090204"/>
              </a:rPr>
              <a:t>LTV</a:t>
            </a:r>
            <a:r>
              <a:rPr kern="0" spc="-244" dirty="0">
                <a:solidFill>
                  <a:srgbClr val="000000">
                    <a:alpha val="100000"/>
                  </a:srgbClr>
                </a:solidFill>
                <a:latin typeface="Microsoft YaHei" pitchFamily="34" charset="-122"/>
                <a:ea typeface="Microsoft YaHei" pitchFamily="34" charset="-122"/>
                <a:cs typeface="Arial" panose="020B0604020202090204"/>
              </a:rPr>
              <a:t> </a:t>
            </a:r>
            <a:r>
              <a:rPr kern="0" spc="56" dirty="0">
                <a:solidFill>
                  <a:srgbClr val="000000">
                    <a:alpha val="100000"/>
                  </a:srgbClr>
                </a:solidFill>
                <a:latin typeface="Microsoft YaHei" pitchFamily="34" charset="-122"/>
                <a:ea typeface="Microsoft YaHei" pitchFamily="34" charset="-122"/>
                <a:cs typeface="宋体"/>
              </a:rPr>
              <a:t>、</a:t>
            </a:r>
            <a:r>
              <a:rPr kern="0" spc="56" dirty="0">
                <a:solidFill>
                  <a:srgbClr val="000000">
                    <a:alpha val="100000"/>
                  </a:srgbClr>
                </a:solidFill>
                <a:latin typeface="Microsoft YaHei" pitchFamily="34" charset="-122"/>
                <a:ea typeface="Microsoft YaHei" pitchFamily="34" charset="-122"/>
                <a:cs typeface="黑体"/>
              </a:rPr>
              <a:t>归因</a:t>
            </a:r>
            <a:endParaRPr dirty="0">
              <a:latin typeface="Microsoft YaHei" pitchFamily="34" charset="-122"/>
              <a:ea typeface="Microsoft YaHei" pitchFamily="34" charset="-122"/>
              <a:cs typeface="黑体"/>
            </a:endParaRPr>
          </a:p>
          <a:p>
            <a:pPr marL="8890" eaLnBrk="0">
              <a:lnSpc>
                <a:spcPts val="2440"/>
              </a:lnSpc>
            </a:pPr>
            <a:r>
              <a:rPr kern="0" spc="98" dirty="0">
                <a:solidFill>
                  <a:srgbClr val="000000">
                    <a:alpha val="100000"/>
                  </a:srgbClr>
                </a:solidFill>
                <a:latin typeface="Microsoft YaHei" pitchFamily="34" charset="-122"/>
                <a:ea typeface="Microsoft YaHei" pitchFamily="34" charset="-122"/>
                <a:cs typeface="黑体"/>
              </a:rPr>
              <a:t>与趋势预测</a:t>
            </a:r>
            <a:endParaRPr dirty="0">
              <a:latin typeface="Microsoft YaHei" pitchFamily="34" charset="-122"/>
              <a:ea typeface="Microsoft YaHei" pitchFamily="34" charset="-122"/>
              <a:cs typeface="黑体"/>
            </a:endParaRPr>
          </a:p>
          <a:p>
            <a:pPr algn="l" rtl="0" eaLnBrk="0">
              <a:lnSpc>
                <a:spcPct val="112000"/>
              </a:lnSpc>
            </a:pPr>
            <a:endParaRPr dirty="0">
              <a:latin typeface="Microsoft YaHei" pitchFamily="34" charset="-122"/>
              <a:ea typeface="Microsoft YaHei" pitchFamily="34" charset="-122"/>
              <a:cs typeface="Arial" panose="020B0604020202090204"/>
            </a:endParaRPr>
          </a:p>
          <a:p>
            <a:pPr algn="l" rtl="0" eaLnBrk="0">
              <a:lnSpc>
                <a:spcPct val="112000"/>
              </a:lnSpc>
            </a:pPr>
            <a:endParaRPr lang="zh-CN" altLang="en-US" dirty="0">
              <a:latin typeface="Microsoft YaHei" pitchFamily="34" charset="-122"/>
              <a:ea typeface="Microsoft YaHei" pitchFamily="34" charset="-122"/>
              <a:cs typeface="Arial" panose="020B0604020202090204"/>
            </a:endParaRPr>
          </a:p>
          <a:p>
            <a:pPr marL="8890" eaLnBrk="0">
              <a:lnSpc>
                <a:spcPct val="87000"/>
              </a:lnSpc>
              <a:spcBef>
                <a:spcPts val="460"/>
              </a:spcBef>
            </a:pPr>
            <a:r>
              <a:rPr kern="0" spc="70" dirty="0" err="1">
                <a:solidFill>
                  <a:srgbClr val="000000">
                    <a:alpha val="100000"/>
                  </a:srgbClr>
                </a:solidFill>
                <a:latin typeface="Microsoft YaHei" pitchFamily="34" charset="-122"/>
                <a:ea typeface="Microsoft YaHei" pitchFamily="34" charset="-122"/>
                <a:cs typeface="黑体"/>
              </a:rPr>
              <a:t>目标拆解与团队</a:t>
            </a:r>
            <a:endParaRPr dirty="0">
              <a:latin typeface="Microsoft YaHei" pitchFamily="34" charset="-122"/>
              <a:ea typeface="Microsoft YaHei" pitchFamily="34" charset="-122"/>
              <a:cs typeface="黑体"/>
            </a:endParaRPr>
          </a:p>
          <a:p>
            <a:pPr marL="8890" eaLnBrk="0">
              <a:lnSpc>
                <a:spcPts val="2405"/>
              </a:lnSpc>
            </a:pPr>
            <a:r>
              <a:rPr kern="0" spc="174" dirty="0" err="1">
                <a:solidFill>
                  <a:srgbClr val="000000">
                    <a:alpha val="100000"/>
                  </a:srgbClr>
                </a:solidFill>
                <a:latin typeface="Microsoft YaHei" pitchFamily="34" charset="-122"/>
                <a:ea typeface="Microsoft YaHei" pitchFamily="34" charset="-122"/>
                <a:cs typeface="黑体"/>
              </a:rPr>
              <a:t>赋能</a:t>
            </a:r>
            <a:r>
              <a:rPr lang="zh-CN" altLang="en-US" kern="0" spc="174" dirty="0">
                <a:solidFill>
                  <a:srgbClr val="000000">
                    <a:alpha val="100000"/>
                  </a:srgbClr>
                </a:solidFill>
                <a:latin typeface="Microsoft YaHei" pitchFamily="34" charset="-122"/>
                <a:ea typeface="Microsoft YaHei" pitchFamily="34" charset="-122"/>
                <a:cs typeface="黑体"/>
              </a:rPr>
              <a:t>（规模化）</a:t>
            </a:r>
            <a:endParaRPr dirty="0">
              <a:latin typeface="Microsoft YaHei" pitchFamily="34" charset="-122"/>
              <a:ea typeface="Microsoft YaHei" pitchFamily="34" charset="-122"/>
              <a:cs typeface="黑体"/>
            </a:endParaRPr>
          </a:p>
          <a:p>
            <a:pPr algn="l" rtl="0" eaLnBrk="0">
              <a:lnSpc>
                <a:spcPct val="114000"/>
              </a:lnSpc>
            </a:pPr>
            <a:endParaRPr dirty="0">
              <a:latin typeface="Microsoft YaHei" pitchFamily="34" charset="-122"/>
              <a:ea typeface="Microsoft YaHei" pitchFamily="34" charset="-122"/>
              <a:cs typeface="Arial" panose="020B0604020202090204"/>
            </a:endParaRPr>
          </a:p>
          <a:p>
            <a:pPr marL="8890" eaLnBrk="0">
              <a:lnSpc>
                <a:spcPct val="87000"/>
              </a:lnSpc>
              <a:spcBef>
                <a:spcPts val="465"/>
              </a:spcBef>
            </a:pPr>
            <a:r>
              <a:rPr kern="0" spc="105" dirty="0">
                <a:solidFill>
                  <a:srgbClr val="000000">
                    <a:alpha val="100000"/>
                  </a:srgbClr>
                </a:solidFill>
                <a:latin typeface="Microsoft YaHei" pitchFamily="34" charset="-122"/>
                <a:ea typeface="Microsoft YaHei" pitchFamily="34" charset="-122"/>
                <a:cs typeface="黑体"/>
              </a:rPr>
              <a:t>0-1定义问题并</a:t>
            </a:r>
            <a:endParaRPr dirty="0">
              <a:latin typeface="Microsoft YaHei" pitchFamily="34" charset="-122"/>
              <a:ea typeface="Microsoft YaHei" pitchFamily="34" charset="-122"/>
              <a:cs typeface="黑体"/>
            </a:endParaRPr>
          </a:p>
          <a:p>
            <a:pPr marL="8890" eaLnBrk="0">
              <a:lnSpc>
                <a:spcPts val="2360"/>
              </a:lnSpc>
            </a:pPr>
            <a:r>
              <a:rPr lang="zh-CN" altLang="en-US" kern="0" spc="91" dirty="0">
                <a:solidFill>
                  <a:srgbClr val="000000">
                    <a:alpha val="100000"/>
                  </a:srgbClr>
                </a:solidFill>
                <a:latin typeface="Microsoft YaHei" pitchFamily="34" charset="-122"/>
                <a:ea typeface="Microsoft YaHei" pitchFamily="34" charset="-122"/>
                <a:cs typeface="黑体"/>
              </a:rPr>
              <a:t>推动</a:t>
            </a:r>
            <a:r>
              <a:rPr kern="0" spc="91" dirty="0" err="1">
                <a:solidFill>
                  <a:srgbClr val="000000">
                    <a:alpha val="100000"/>
                  </a:srgbClr>
                </a:solidFill>
                <a:latin typeface="Microsoft YaHei" pitchFamily="34" charset="-122"/>
                <a:ea typeface="Microsoft YaHei" pitchFamily="34" charset="-122"/>
                <a:cs typeface="黑体"/>
              </a:rPr>
              <a:t>产研落地</a:t>
            </a:r>
            <a:endParaRPr dirty="0">
              <a:latin typeface="Microsoft YaHei" pitchFamily="34" charset="-122"/>
              <a:ea typeface="Microsoft YaHei" pitchFamily="34" charset="-122"/>
              <a:cs typeface="黑体"/>
            </a:endParaRPr>
          </a:p>
        </p:txBody>
      </p:sp>
      <p:sp>
        <p:nvSpPr>
          <p:cNvPr id="24" name="textbox 228"/>
          <p:cNvSpPr/>
          <p:nvPr/>
        </p:nvSpPr>
        <p:spPr>
          <a:xfrm>
            <a:off x="1167984" y="1781646"/>
            <a:ext cx="1629004" cy="4106940"/>
          </a:xfrm>
          <a:prstGeom prst="rect">
            <a:avLst/>
          </a:prstGeom>
          <a:noFill/>
          <a:ln w="0" cap="flat">
            <a:noFill/>
            <a:prstDash val="solid"/>
            <a:miter lim="0"/>
          </a:ln>
        </p:spPr>
        <p:txBody>
          <a:bodyPr vert="horz" wrap="square" lIns="0" tIns="0" rIns="0" bIns="0"/>
          <a:lstStyle/>
          <a:p>
            <a:pPr marL="8890" eaLnBrk="0"/>
            <a:r>
              <a:rPr kern="0" spc="-98" dirty="0" err="1">
                <a:solidFill>
                  <a:srgbClr val="000000">
                    <a:alpha val="100000"/>
                  </a:srgbClr>
                </a:solidFill>
                <a:latin typeface="Microsoft YaHei" pitchFamily="34" charset="-122"/>
                <a:ea typeface="Microsoft YaHei" pitchFamily="34" charset="-122"/>
                <a:cs typeface="黑体"/>
              </a:rPr>
              <a:t>业务认知</a:t>
            </a:r>
            <a:r>
              <a:rPr kern="0" spc="-98"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marL="8890" eaLnBrk="0">
              <a:spcBef>
                <a:spcPts val="595"/>
              </a:spcBef>
            </a:pPr>
            <a:r>
              <a:rPr kern="0" spc="84" dirty="0" err="1">
                <a:solidFill>
                  <a:srgbClr val="000000">
                    <a:alpha val="100000"/>
                  </a:srgbClr>
                </a:solidFill>
                <a:latin typeface="Microsoft YaHei" pitchFamily="34" charset="-122"/>
                <a:ea typeface="Microsoft YaHei" pitchFamily="34" charset="-122"/>
                <a:cs typeface="黑体"/>
              </a:rPr>
              <a:t>单品类执行</a:t>
            </a:r>
            <a:endParaRPr dirty="0">
              <a:latin typeface="Microsoft YaHei" pitchFamily="34" charset="-122"/>
              <a:ea typeface="Microsoft YaHei" pitchFamily="34" charset="-122"/>
              <a:cs typeface="Arial" panose="020B0604020202090204"/>
            </a:endParaRPr>
          </a:p>
          <a:p>
            <a:pPr marL="8890" eaLnBrk="0">
              <a:spcBef>
                <a:spcPts val="465"/>
              </a:spcBef>
            </a:pPr>
            <a:endParaRPr lang="en-US" kern="0" spc="-98" dirty="0">
              <a:solidFill>
                <a:srgbClr val="000000">
                  <a:alpha val="100000"/>
                </a:srgbClr>
              </a:solidFill>
              <a:latin typeface="Microsoft YaHei" pitchFamily="34" charset="-122"/>
              <a:ea typeface="Microsoft YaHei" pitchFamily="34" charset="-122"/>
              <a:cs typeface="黑体"/>
            </a:endParaRPr>
          </a:p>
          <a:p>
            <a:pPr marL="8890" eaLnBrk="0">
              <a:spcBef>
                <a:spcPts val="465"/>
              </a:spcBef>
            </a:pPr>
            <a:r>
              <a:rPr kern="0" spc="-98" dirty="0" err="1">
                <a:solidFill>
                  <a:srgbClr val="000000">
                    <a:alpha val="100000"/>
                  </a:srgbClr>
                </a:solidFill>
                <a:latin typeface="Microsoft YaHei" pitchFamily="34" charset="-122"/>
                <a:ea typeface="Microsoft YaHei" pitchFamily="34" charset="-122"/>
                <a:cs typeface="黑体"/>
              </a:rPr>
              <a:t>数据决策</a:t>
            </a:r>
            <a:r>
              <a:rPr kern="0" spc="-98"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marL="8890" eaLnBrk="0">
              <a:spcBef>
                <a:spcPts val="625"/>
              </a:spcBef>
            </a:pPr>
            <a:r>
              <a:rPr kern="0" spc="84" dirty="0">
                <a:solidFill>
                  <a:srgbClr val="000000">
                    <a:alpha val="100000"/>
                  </a:srgbClr>
                </a:solidFill>
                <a:latin typeface="Microsoft YaHei" pitchFamily="34" charset="-122"/>
                <a:ea typeface="Microsoft YaHei" pitchFamily="34" charset="-122"/>
                <a:cs typeface="黑体"/>
              </a:rPr>
              <a:t>盯结果指标</a:t>
            </a:r>
            <a:endParaRPr dirty="0">
              <a:latin typeface="Microsoft YaHei" pitchFamily="34" charset="-122"/>
              <a:ea typeface="Microsoft YaHei" pitchFamily="34" charset="-122"/>
              <a:cs typeface="黑体"/>
            </a:endParaRPr>
          </a:p>
          <a:p>
            <a:pPr algn="l" rtl="0" eaLnBrk="0"/>
            <a:endParaRPr dirty="0">
              <a:latin typeface="Microsoft YaHei" pitchFamily="34" charset="-122"/>
              <a:ea typeface="Microsoft YaHei" pitchFamily="34" charset="-122"/>
              <a:cs typeface="Arial" panose="020B0604020202090204"/>
            </a:endParaRPr>
          </a:p>
          <a:p>
            <a:pPr marL="8890" eaLnBrk="0">
              <a:spcBef>
                <a:spcPts val="465"/>
              </a:spcBef>
            </a:pPr>
            <a:endParaRPr lang="en-US" kern="0" spc="-98" dirty="0">
              <a:solidFill>
                <a:srgbClr val="000000">
                  <a:alpha val="100000"/>
                </a:srgbClr>
              </a:solidFill>
              <a:latin typeface="Microsoft YaHei" pitchFamily="34" charset="-122"/>
              <a:ea typeface="Microsoft YaHei" pitchFamily="34" charset="-122"/>
              <a:cs typeface="黑体"/>
            </a:endParaRPr>
          </a:p>
          <a:p>
            <a:pPr marL="8890" eaLnBrk="0">
              <a:spcBef>
                <a:spcPts val="465"/>
              </a:spcBef>
            </a:pPr>
            <a:r>
              <a:rPr kern="0" spc="-98" dirty="0" err="1">
                <a:solidFill>
                  <a:srgbClr val="000000">
                    <a:alpha val="100000"/>
                  </a:srgbClr>
                </a:solidFill>
                <a:latin typeface="Microsoft YaHei" pitchFamily="34" charset="-122"/>
                <a:ea typeface="Microsoft YaHei" pitchFamily="34" charset="-122"/>
                <a:cs typeface="黑体"/>
              </a:rPr>
              <a:t>团队管理</a:t>
            </a:r>
            <a:r>
              <a:rPr kern="0" spc="-98"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marL="8890" eaLnBrk="0">
              <a:spcBef>
                <a:spcPts val="585"/>
              </a:spcBef>
            </a:pPr>
            <a:r>
              <a:rPr kern="0" spc="91" dirty="0" err="1">
                <a:solidFill>
                  <a:srgbClr val="000000">
                    <a:alpha val="100000"/>
                  </a:srgbClr>
                </a:solidFill>
                <a:latin typeface="Microsoft YaHei" pitchFamily="34" charset="-122"/>
                <a:ea typeface="Microsoft YaHei" pitchFamily="34" charset="-122"/>
                <a:cs typeface="黑体"/>
              </a:rPr>
              <a:t>关注自身产出</a:t>
            </a:r>
            <a:endParaRPr lang="en-US" kern="0" spc="91" dirty="0">
              <a:solidFill>
                <a:srgbClr val="000000">
                  <a:alpha val="100000"/>
                </a:srgbClr>
              </a:solidFill>
              <a:latin typeface="Microsoft YaHei" pitchFamily="34" charset="-122"/>
              <a:ea typeface="Microsoft YaHei" pitchFamily="34" charset="-122"/>
              <a:cs typeface="黑体"/>
            </a:endParaRPr>
          </a:p>
          <a:p>
            <a:pPr marL="8890" eaLnBrk="0">
              <a:spcBef>
                <a:spcPts val="585"/>
              </a:spcBef>
            </a:pPr>
            <a:endParaRPr dirty="0">
              <a:latin typeface="Microsoft YaHei" pitchFamily="34" charset="-122"/>
              <a:ea typeface="Microsoft YaHei" pitchFamily="34" charset="-122"/>
              <a:cs typeface="黑体"/>
            </a:endParaRPr>
          </a:p>
          <a:p>
            <a:pPr marL="8890" eaLnBrk="0">
              <a:spcBef>
                <a:spcPts val="465"/>
              </a:spcBef>
            </a:pPr>
            <a:r>
              <a:rPr kern="0" spc="-98" dirty="0" err="1">
                <a:solidFill>
                  <a:srgbClr val="000000">
                    <a:alpha val="100000"/>
                  </a:srgbClr>
                </a:solidFill>
                <a:latin typeface="Microsoft YaHei" pitchFamily="34" charset="-122"/>
                <a:ea typeface="Microsoft YaHei" pitchFamily="34" charset="-122"/>
                <a:cs typeface="黑体"/>
              </a:rPr>
              <a:t>创新视野</a:t>
            </a:r>
            <a:r>
              <a:rPr kern="0" spc="-98" dirty="0">
                <a:solidFill>
                  <a:srgbClr val="000000">
                    <a:alpha val="100000"/>
                  </a:srgbClr>
                </a:solidFill>
                <a:latin typeface="Microsoft YaHei" pitchFamily="34" charset="-122"/>
                <a:ea typeface="Microsoft YaHei" pitchFamily="34" charset="-122"/>
                <a:cs typeface="黑体"/>
              </a:rPr>
              <a:t>：</a:t>
            </a:r>
            <a:endParaRPr dirty="0">
              <a:latin typeface="Microsoft YaHei" pitchFamily="34" charset="-122"/>
              <a:ea typeface="Microsoft YaHei" pitchFamily="34" charset="-122"/>
              <a:cs typeface="黑体"/>
            </a:endParaRPr>
          </a:p>
          <a:p>
            <a:pPr marL="8890" eaLnBrk="0">
              <a:spcBef>
                <a:spcPts val="5"/>
              </a:spcBef>
            </a:pPr>
            <a:r>
              <a:rPr kern="0" spc="70" dirty="0" err="1">
                <a:solidFill>
                  <a:srgbClr val="000000">
                    <a:alpha val="100000"/>
                  </a:srgbClr>
                </a:solidFill>
                <a:latin typeface="Microsoft YaHei" pitchFamily="34" charset="-122"/>
                <a:ea typeface="Microsoft YaHei" pitchFamily="34" charset="-122"/>
                <a:cs typeface="黑体"/>
              </a:rPr>
              <a:t>执行既定策略</a:t>
            </a:r>
            <a:endParaRPr dirty="0">
              <a:latin typeface="Microsoft YaHei" pitchFamily="34" charset="-122"/>
              <a:ea typeface="Microsoft YaHei" pitchFamily="34" charset="-122"/>
              <a:cs typeface="黑体"/>
            </a:endParaRPr>
          </a:p>
        </p:txBody>
      </p:sp>
      <p:sp>
        <p:nvSpPr>
          <p:cNvPr id="29" name="文本框 28"/>
          <p:cNvSpPr txBox="1"/>
          <p:nvPr/>
        </p:nvSpPr>
        <p:spPr>
          <a:xfrm>
            <a:off x="8368755" y="1171672"/>
            <a:ext cx="1704394" cy="400110"/>
          </a:xfrm>
          <a:prstGeom prst="rect">
            <a:avLst/>
          </a:prstGeom>
          <a:noFill/>
        </p:spPr>
        <p:txBody>
          <a:bodyPr wrap="square">
            <a:spAutoFit/>
          </a:bodyPr>
          <a:lstStyle/>
          <a:p>
            <a:r>
              <a:rPr lang="zh-CN" altLang="en-US" sz="2000" b="1" kern="0" spc="91" dirty="0">
                <a:solidFill>
                  <a:srgbClr val="000000">
                    <a:alpha val="100000"/>
                  </a:srgbClr>
                </a:solidFill>
                <a:latin typeface="Microsoft YaHei" pitchFamily="34" charset="-122"/>
                <a:ea typeface="Microsoft YaHei" pitchFamily="34" charset="-122"/>
                <a:cs typeface="黑体"/>
              </a:rPr>
              <a:t>需提升的点</a:t>
            </a:r>
            <a:endParaRPr lang="zh-CN" altLang="en-US" sz="2000" b="1" dirty="0">
              <a:latin typeface="Microsoft YaHei" pitchFamily="34" charset="-122"/>
              <a:ea typeface="Microsoft YaHei"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97517" y="2259220"/>
            <a:ext cx="8101330" cy="1783715"/>
            <a:chOff x="2210" y="4957"/>
            <a:chExt cx="12758" cy="2809"/>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dirty="0">
                  <a:solidFill>
                    <a:srgbClr val="F63643"/>
                  </a:solidFill>
                  <a:latin typeface="微软雅黑" charset="-122"/>
                  <a:ea typeface="微软雅黑" charset="-122"/>
                  <a:cs typeface="DIN Alternate" panose="020B0500000000000000" charset="0"/>
                </a:rPr>
                <a:t>05</a:t>
              </a:r>
              <a:endParaRPr lang="en-US" altLang="zh-CN" sz="11000" b="1" dirty="0">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122"/>
                <a:ea typeface="微软雅黑" charset="-122"/>
              </a:endParaRPr>
            </a:p>
          </p:txBody>
        </p:sp>
        <p:sp>
          <p:nvSpPr>
            <p:cNvPr id="4" name="文本框 3"/>
            <p:cNvSpPr txBox="1"/>
            <p:nvPr>
              <p:custDataLst>
                <p:tags r:id="rId3"/>
              </p:custDataLst>
            </p:nvPr>
          </p:nvSpPr>
          <p:spPr>
            <a:xfrm>
              <a:off x="5616" y="5246"/>
              <a:ext cx="9352" cy="1452"/>
            </a:xfrm>
            <a:prstGeom prst="rect">
              <a:avLst/>
            </a:prstGeom>
            <a:noFill/>
          </p:spPr>
          <p:txBody>
            <a:bodyPr wrap="square" rtlCol="0">
              <a:spAutoFit/>
            </a:bodyPr>
            <a:lstStyle/>
            <a:p>
              <a:pPr indent="0" fontAlgn="auto"/>
              <a:r>
                <a:rPr lang="zh-CN" altLang="en-US" sz="5400" b="1" dirty="0">
                  <a:latin typeface="微软雅黑" charset="-122"/>
                  <a:ea typeface="微软雅黑" charset="-122"/>
                </a:rPr>
                <a:t>下一阶段重点规划</a:t>
              </a:r>
              <a:endParaRPr lang="en-US" altLang="zh-CN" sz="4000" dirty="0">
                <a:latin typeface="微软雅黑" charset="-122"/>
                <a:ea typeface="微软雅黑" charset="-122"/>
              </a:endParaRPr>
            </a:p>
          </p:txBody>
        </p:sp>
      </p:gr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3035" y="-385098"/>
            <a:ext cx="12378069" cy="6968298"/>
          </a:xfrm>
          <a:prstGeom prst="rect">
            <a:avLst/>
          </a:prstGeom>
        </p:spPr>
      </p:pic>
      <p:sp>
        <p:nvSpPr>
          <p:cNvPr id="4" name="TextBox 8"/>
          <p:cNvSpPr txBox="1"/>
          <p:nvPr/>
        </p:nvSpPr>
        <p:spPr>
          <a:xfrm>
            <a:off x="516540" y="537930"/>
            <a:ext cx="3568255" cy="482250"/>
          </a:xfrm>
          <a:prstGeom prst="rect">
            <a:avLst/>
          </a:prstGeom>
          <a:noFill/>
        </p:spPr>
        <p:txBody>
          <a:bodyPr wrap="none" lIns="0" tIns="0" rIns="0" bIns="0"/>
          <a:lstStyle/>
          <a:p>
            <a:pPr algn="ctr">
              <a:lnSpc>
                <a:spcPct val="115000"/>
              </a:lnSpc>
              <a:spcBef>
                <a:spcPts val="0"/>
              </a:spcBef>
              <a:spcAft>
                <a:spcPts val="0"/>
              </a:spcAft>
            </a:pPr>
            <a:r>
              <a:rPr sz="3200" b="1" dirty="0">
                <a:solidFill>
                  <a:schemeClr val="tx2"/>
                </a:solidFill>
                <a:latin typeface="Microsoft YaHei" pitchFamily="34" charset="-122"/>
                <a:ea typeface="Microsoft YaHei" pitchFamily="34" charset="-122"/>
              </a:rPr>
              <a:t>26年三大核心战役</a:t>
            </a:r>
            <a:endParaRPr sz="3200" b="1" dirty="0">
              <a:solidFill>
                <a:schemeClr val="tx2"/>
              </a:solidFill>
              <a:latin typeface="Microsoft YaHei" pitchFamily="34" charset="-122"/>
              <a:ea typeface="Microsoft YaHei" pitchFamily="34" charset="-122"/>
            </a:endParaRPr>
          </a:p>
        </p:txBody>
      </p:sp>
      <p:sp>
        <p:nvSpPr>
          <p:cNvPr id="5" name="TextBox 10"/>
          <p:cNvSpPr txBox="1"/>
          <p:nvPr/>
        </p:nvSpPr>
        <p:spPr>
          <a:xfrm>
            <a:off x="963357" y="1966146"/>
            <a:ext cx="2720340" cy="547688"/>
          </a:xfrm>
          <a:prstGeom prst="rect">
            <a:avLst/>
          </a:prstGeom>
          <a:noFill/>
        </p:spPr>
        <p:txBody>
          <a:bodyPr wrap="none" lIns="0" tIns="0" rIns="0" bIns="0"/>
          <a:lstStyle/>
          <a:p>
            <a:pPr>
              <a:spcBef>
                <a:spcPts val="1555"/>
              </a:spcBef>
            </a:pPr>
            <a:r>
              <a:rPr lang="zh-CN" sz="2550" b="1" dirty="0">
                <a:latin typeface="Microsoft YaHei" pitchFamily="34" charset="-122"/>
                <a:ea typeface="Microsoft YaHei" pitchFamily="34" charset="-122"/>
              </a:rPr>
              <a:t>重构私域用户旅程</a:t>
            </a:r>
            <a:endParaRPr lang="zh-CN" sz="2550" b="1" dirty="0">
              <a:latin typeface="Microsoft YaHei" pitchFamily="34" charset="-122"/>
              <a:ea typeface="Microsoft YaHei" pitchFamily="34" charset="-122"/>
            </a:endParaRPr>
          </a:p>
        </p:txBody>
      </p:sp>
      <p:sp>
        <p:nvSpPr>
          <p:cNvPr id="6" name="TextBox 16"/>
          <p:cNvSpPr txBox="1"/>
          <p:nvPr/>
        </p:nvSpPr>
        <p:spPr>
          <a:xfrm>
            <a:off x="1284112" y="2644643"/>
            <a:ext cx="1946052" cy="257175"/>
          </a:xfrm>
          <a:prstGeom prst="rect">
            <a:avLst/>
          </a:prstGeom>
          <a:noFill/>
        </p:spPr>
        <p:txBody>
          <a:bodyPr wrap="none" lIns="0" tIns="0" rIns="0" bIns="0"/>
          <a:lstStyle/>
          <a:p>
            <a:pPr algn="just">
              <a:lnSpc>
                <a:spcPct val="108000"/>
              </a:lnSpc>
              <a:spcBef>
                <a:spcPts val="0"/>
              </a:spcBef>
              <a:spcAft>
                <a:spcPts val="0"/>
              </a:spcAft>
            </a:pPr>
            <a:r>
              <a:rPr sz="1875" dirty="0" err="1">
                <a:solidFill>
                  <a:srgbClr val="000000"/>
                </a:solidFill>
                <a:latin typeface="Microsoft YaHei" pitchFamily="34" charset="-122"/>
                <a:ea typeface="Microsoft YaHei" pitchFamily="34" charset="-122"/>
              </a:rPr>
              <a:t>趣小导全周期建设</a:t>
            </a:r>
            <a:r>
              <a:rPr lang="en-US" sz="1875" dirty="0">
                <a:solidFill>
                  <a:srgbClr val="000000"/>
                </a:solidFill>
                <a:latin typeface="Microsoft YaHei" pitchFamily="34" charset="-122"/>
                <a:ea typeface="Microsoft YaHei" pitchFamily="34" charset="-122"/>
              </a:rPr>
              <a:t>,</a:t>
            </a:r>
            <a:r>
              <a:rPr lang="en-GB" altLang="zh-CN" sz="1875" dirty="0">
                <a:solidFill>
                  <a:srgbClr val="000000"/>
                </a:solidFill>
                <a:latin typeface="Microsoft YaHei" pitchFamily="34" charset="-122"/>
                <a:ea typeface="Microsoft YaHei" pitchFamily="34" charset="-122"/>
              </a:rPr>
              <a:t> </a:t>
            </a:r>
            <a:endParaRPr lang="en-GB" altLang="zh-CN" sz="1875" dirty="0">
              <a:solidFill>
                <a:srgbClr val="000000"/>
              </a:solidFill>
              <a:latin typeface="Microsoft YaHei" pitchFamily="34" charset="-122"/>
              <a:ea typeface="Microsoft YaHei" pitchFamily="34" charset="-122"/>
            </a:endParaRPr>
          </a:p>
          <a:p>
            <a:pPr algn="just">
              <a:lnSpc>
                <a:spcPct val="108000"/>
              </a:lnSpc>
              <a:spcBef>
                <a:spcPts val="0"/>
              </a:spcBef>
              <a:spcAft>
                <a:spcPts val="0"/>
              </a:spcAft>
            </a:pPr>
            <a:r>
              <a:rPr lang="en-GB" altLang="zh-CN" sz="1875" dirty="0">
                <a:solidFill>
                  <a:srgbClr val="000000"/>
                </a:solidFill>
                <a:latin typeface="Microsoft YaHei" pitchFamily="34" charset="-122"/>
                <a:ea typeface="Microsoft YaHei" pitchFamily="34" charset="-122"/>
              </a:rPr>
              <a:t>Agent</a:t>
            </a:r>
            <a:r>
              <a:rPr lang="zh-CN" altLang="en-GB" sz="1875" dirty="0">
                <a:solidFill>
                  <a:srgbClr val="000000"/>
                </a:solidFill>
                <a:latin typeface="Microsoft YaHei" pitchFamily="34" charset="-122"/>
                <a:ea typeface="Microsoft YaHei" pitchFamily="34" charset="-122"/>
              </a:rPr>
              <a:t>全旅程</a:t>
            </a:r>
            <a:r>
              <a:rPr lang="zh-CN" altLang="en-US" sz="1875" dirty="0">
                <a:solidFill>
                  <a:srgbClr val="000000"/>
                </a:solidFill>
                <a:latin typeface="Microsoft YaHei" pitchFamily="34" charset="-122"/>
                <a:ea typeface="Microsoft YaHei" pitchFamily="34" charset="-122"/>
              </a:rPr>
              <a:t>自动化</a:t>
            </a:r>
            <a:endParaRPr lang="en-GB" altLang="zh-CN" sz="1875" dirty="0">
              <a:solidFill>
                <a:srgbClr val="000000"/>
              </a:solidFill>
              <a:latin typeface="Microsoft YaHei" pitchFamily="34" charset="-122"/>
              <a:ea typeface="Microsoft YaHei" pitchFamily="34" charset="-122"/>
            </a:endParaRPr>
          </a:p>
        </p:txBody>
      </p:sp>
      <p:sp>
        <p:nvSpPr>
          <p:cNvPr id="7" name="TextBox 17"/>
          <p:cNvSpPr txBox="1"/>
          <p:nvPr/>
        </p:nvSpPr>
        <p:spPr>
          <a:xfrm>
            <a:off x="814767" y="3663360"/>
            <a:ext cx="2971800" cy="547687"/>
          </a:xfrm>
          <a:prstGeom prst="rect">
            <a:avLst/>
          </a:prstGeom>
          <a:noFill/>
        </p:spPr>
        <p:txBody>
          <a:bodyPr wrap="none" lIns="0" tIns="0" rIns="0" bIns="0"/>
          <a:lstStyle/>
          <a:p>
            <a:pPr marL="29845" algn="just">
              <a:spcBef>
                <a:spcPts val="0"/>
              </a:spcBef>
              <a:spcAft>
                <a:spcPts val="0"/>
              </a:spcAft>
            </a:pPr>
            <a:endParaRPr lang="zh-CN" sz="1460" dirty="0">
              <a:latin typeface="Microsoft YaHei" pitchFamily="34" charset="-122"/>
              <a:ea typeface="Microsoft YaHei" pitchFamily="34" charset="-122"/>
            </a:endParaRPr>
          </a:p>
        </p:txBody>
      </p:sp>
      <p:sp>
        <p:nvSpPr>
          <p:cNvPr id="8" name="TextBox 13"/>
          <p:cNvSpPr txBox="1"/>
          <p:nvPr/>
        </p:nvSpPr>
        <p:spPr>
          <a:xfrm>
            <a:off x="4740089" y="1973922"/>
            <a:ext cx="1657350" cy="353568"/>
          </a:xfrm>
          <a:prstGeom prst="rect">
            <a:avLst/>
          </a:prstGeom>
          <a:noFill/>
        </p:spPr>
        <p:txBody>
          <a:bodyPr wrap="none" lIns="0" tIns="0" rIns="0" bIns="0"/>
          <a:lstStyle/>
          <a:p>
            <a:pPr algn="just">
              <a:lnSpc>
                <a:spcPct val="109000"/>
              </a:lnSpc>
              <a:spcBef>
                <a:spcPts val="0"/>
              </a:spcBef>
              <a:spcAft>
                <a:spcPts val="0"/>
              </a:spcAft>
            </a:pPr>
            <a:r>
              <a:rPr lang="zh-CN" altLang="en-US" sz="2550" b="1" dirty="0">
                <a:latin typeface="Microsoft YaHei" pitchFamily="34" charset="-122"/>
                <a:ea typeface="Microsoft YaHei" pitchFamily="34" charset="-122"/>
              </a:rPr>
              <a:t>直播</a:t>
            </a:r>
            <a:r>
              <a:rPr lang="en-US" altLang="zh-CN" sz="2550" b="1" dirty="0">
                <a:latin typeface="Microsoft YaHei" pitchFamily="34" charset="-122"/>
                <a:ea typeface="Microsoft YaHei" pitchFamily="34" charset="-122"/>
              </a:rPr>
              <a:t>-</a:t>
            </a:r>
            <a:r>
              <a:rPr lang="zh-CN" altLang="en-US" sz="2550" b="1" dirty="0">
                <a:latin typeface="Microsoft YaHei" pitchFamily="34" charset="-122"/>
                <a:ea typeface="Microsoft YaHei" pitchFamily="34" charset="-122"/>
              </a:rPr>
              <a:t>私域战略升级</a:t>
            </a:r>
            <a:endParaRPr sz="2550" b="1" dirty="0">
              <a:latin typeface="Microsoft YaHei" pitchFamily="34" charset="-122"/>
              <a:ea typeface="Microsoft YaHei" pitchFamily="34" charset="-122"/>
            </a:endParaRPr>
          </a:p>
        </p:txBody>
      </p:sp>
      <p:sp>
        <p:nvSpPr>
          <p:cNvPr id="9" name="TextBox 15"/>
          <p:cNvSpPr txBox="1"/>
          <p:nvPr/>
        </p:nvSpPr>
        <p:spPr>
          <a:xfrm>
            <a:off x="5209242" y="2739146"/>
            <a:ext cx="2152650" cy="289274"/>
          </a:xfrm>
          <a:prstGeom prst="rect">
            <a:avLst/>
          </a:prstGeom>
          <a:noFill/>
        </p:spPr>
        <p:txBody>
          <a:bodyPr wrap="none" lIns="0" tIns="0" rIns="0" bIns="0"/>
          <a:lstStyle/>
          <a:p>
            <a:pPr algn="just">
              <a:lnSpc>
                <a:spcPct val="121000"/>
              </a:lnSpc>
              <a:spcBef>
                <a:spcPts val="0"/>
              </a:spcBef>
              <a:spcAft>
                <a:spcPts val="0"/>
              </a:spcAft>
            </a:pPr>
            <a:r>
              <a:rPr sz="1875" dirty="0" err="1">
                <a:solidFill>
                  <a:srgbClr val="000000"/>
                </a:solidFill>
                <a:latin typeface="Microsoft YaHei" pitchFamily="34" charset="-122"/>
                <a:ea typeface="Microsoft YaHei" pitchFamily="34" charset="-122"/>
              </a:rPr>
              <a:t>Agent全旅程自动化</a:t>
            </a:r>
            <a:endParaRPr sz="1875" dirty="0">
              <a:solidFill>
                <a:srgbClr val="000000"/>
              </a:solidFill>
              <a:latin typeface="Microsoft YaHei" pitchFamily="34" charset="-122"/>
              <a:ea typeface="Microsoft YaHei" pitchFamily="34" charset="-122"/>
            </a:endParaRPr>
          </a:p>
        </p:txBody>
      </p:sp>
      <p:sp>
        <p:nvSpPr>
          <p:cNvPr id="10" name="TextBox 18"/>
          <p:cNvSpPr txBox="1"/>
          <p:nvPr/>
        </p:nvSpPr>
        <p:spPr>
          <a:xfrm>
            <a:off x="4541643" y="3418127"/>
            <a:ext cx="830865" cy="224980"/>
          </a:xfrm>
          <a:prstGeom prst="rect">
            <a:avLst/>
          </a:prstGeom>
          <a:noFill/>
        </p:spPr>
        <p:txBody>
          <a:bodyPr wrap="none" lIns="0" tIns="0" rIns="0" bIns="0"/>
          <a:lstStyle/>
          <a:p>
            <a:pPr algn="just">
              <a:lnSpc>
                <a:spcPct val="112000"/>
              </a:lnSpc>
              <a:spcBef>
                <a:spcPts val="0"/>
              </a:spcBef>
              <a:spcAft>
                <a:spcPts val="0"/>
              </a:spcAft>
            </a:pPr>
            <a:r>
              <a:rPr sz="1575" b="1" dirty="0" err="1">
                <a:solidFill>
                  <a:srgbClr val="DA2F37"/>
                </a:solidFill>
                <a:latin typeface="Microsoft YaHei" pitchFamily="34" charset="-122"/>
                <a:ea typeface="Microsoft YaHei" pitchFamily="34" charset="-122"/>
              </a:rPr>
              <a:t>核心目标</a:t>
            </a:r>
            <a:endParaRPr sz="1575" b="1" dirty="0">
              <a:solidFill>
                <a:srgbClr val="DA2F37"/>
              </a:solidFill>
              <a:latin typeface="Microsoft YaHei" pitchFamily="34" charset="-122"/>
              <a:ea typeface="Microsoft YaHei" pitchFamily="34" charset="-122"/>
            </a:endParaRPr>
          </a:p>
        </p:txBody>
      </p:sp>
      <p:sp>
        <p:nvSpPr>
          <p:cNvPr id="11" name="TextBox 20"/>
          <p:cNvSpPr txBox="1"/>
          <p:nvPr/>
        </p:nvSpPr>
        <p:spPr>
          <a:xfrm>
            <a:off x="4669441" y="3727628"/>
            <a:ext cx="2853118" cy="224980"/>
          </a:xfrm>
          <a:prstGeom prst="rect">
            <a:avLst/>
          </a:prstGeom>
          <a:noFill/>
        </p:spPr>
        <p:txBody>
          <a:bodyPr wrap="none" lIns="0" tIns="0" rIns="0" bIns="0"/>
          <a:lstStyle/>
          <a:p>
            <a:pPr algn="just">
              <a:lnSpc>
                <a:spcPct val="124000"/>
              </a:lnSpc>
              <a:spcBef>
                <a:spcPts val="0"/>
              </a:spcBef>
              <a:spcAft>
                <a:spcPts val="0"/>
              </a:spcAft>
            </a:pPr>
            <a:endParaRPr sz="1425" dirty="0">
              <a:solidFill>
                <a:srgbClr val="000000"/>
              </a:solidFill>
              <a:latin typeface="Microsoft YaHei" pitchFamily="34" charset="-122"/>
              <a:ea typeface="Microsoft YaHei" pitchFamily="34" charset="-122"/>
            </a:endParaRPr>
          </a:p>
        </p:txBody>
      </p:sp>
      <p:sp>
        <p:nvSpPr>
          <p:cNvPr id="12" name="TextBox 11"/>
          <p:cNvSpPr txBox="1"/>
          <p:nvPr/>
        </p:nvSpPr>
        <p:spPr>
          <a:xfrm>
            <a:off x="8508305" y="1933934"/>
            <a:ext cx="2976181" cy="433544"/>
          </a:xfrm>
          <a:prstGeom prst="rect">
            <a:avLst/>
          </a:prstGeom>
          <a:noFill/>
        </p:spPr>
        <p:txBody>
          <a:bodyPr wrap="none" lIns="0" tIns="0" rIns="0" bIns="0"/>
          <a:lstStyle/>
          <a:p>
            <a:pPr>
              <a:spcBef>
                <a:spcPts val="1555"/>
              </a:spcBef>
            </a:pPr>
            <a:r>
              <a:rPr lang="zh-CN" sz="2550" b="1" dirty="0">
                <a:latin typeface="Microsoft YaHei" pitchFamily="34" charset="-122"/>
                <a:ea typeface="Microsoft YaHei" pitchFamily="34" charset="-122"/>
              </a:rPr>
              <a:t>重构APP商业化逻辑</a:t>
            </a:r>
            <a:endParaRPr lang="zh-CN" sz="2550" b="1" dirty="0">
              <a:latin typeface="Microsoft YaHei" pitchFamily="34" charset="-122"/>
              <a:ea typeface="Microsoft YaHei" pitchFamily="34" charset="-122"/>
            </a:endParaRPr>
          </a:p>
        </p:txBody>
      </p:sp>
      <p:sp>
        <p:nvSpPr>
          <p:cNvPr id="13" name="TextBox 14"/>
          <p:cNvSpPr txBox="1"/>
          <p:nvPr/>
        </p:nvSpPr>
        <p:spPr>
          <a:xfrm>
            <a:off x="9225363" y="2678203"/>
            <a:ext cx="1214818" cy="289369"/>
          </a:xfrm>
          <a:prstGeom prst="rect">
            <a:avLst/>
          </a:prstGeom>
          <a:noFill/>
        </p:spPr>
        <p:txBody>
          <a:bodyPr wrap="none" lIns="0" tIns="0" rIns="0" bIns="0"/>
          <a:lstStyle/>
          <a:p>
            <a:pPr algn="ctr">
              <a:lnSpc>
                <a:spcPct val="127000"/>
              </a:lnSpc>
              <a:spcBef>
                <a:spcPts val="0"/>
              </a:spcBef>
              <a:spcAft>
                <a:spcPts val="0"/>
              </a:spcAft>
            </a:pPr>
            <a:r>
              <a:rPr lang="zh-CN" altLang="en-US" sz="1800" dirty="0">
                <a:solidFill>
                  <a:srgbClr val="000000"/>
                </a:solidFill>
                <a:latin typeface="Microsoft YaHei" pitchFamily="34" charset="-122"/>
                <a:ea typeface="Microsoft YaHei" pitchFamily="34" charset="-122"/>
              </a:rPr>
              <a:t>提升资源位分配效率</a:t>
            </a:r>
            <a:endParaRPr sz="1800" dirty="0">
              <a:solidFill>
                <a:srgbClr val="000000"/>
              </a:solidFill>
              <a:latin typeface="Microsoft YaHei" pitchFamily="34" charset="-122"/>
              <a:ea typeface="Microsoft YaHei" pitchFamily="34" charset="-122"/>
            </a:endParaRPr>
          </a:p>
        </p:txBody>
      </p:sp>
      <p:sp>
        <p:nvSpPr>
          <p:cNvPr id="14" name="TextBox 19"/>
          <p:cNvSpPr txBox="1"/>
          <p:nvPr/>
        </p:nvSpPr>
        <p:spPr>
          <a:xfrm>
            <a:off x="8405433" y="3422073"/>
            <a:ext cx="3382654" cy="919967"/>
          </a:xfrm>
          <a:prstGeom prst="rect">
            <a:avLst/>
          </a:prstGeom>
          <a:noFill/>
        </p:spPr>
        <p:txBody>
          <a:bodyPr wrap="none" lIns="0" tIns="0" rIns="0" bIns="0"/>
          <a:lstStyle/>
          <a:p>
            <a:pPr algn="just">
              <a:spcBef>
                <a:spcPts val="0"/>
              </a:spcBef>
              <a:spcAft>
                <a:spcPts val="0"/>
              </a:spcAft>
            </a:pPr>
            <a:r>
              <a:rPr lang="zh-CN" altLang="en-US" sz="1500" b="1" dirty="0">
                <a:solidFill>
                  <a:srgbClr val="D83037"/>
                </a:solidFill>
                <a:latin typeface="Microsoft YaHei" pitchFamily="34" charset="-122"/>
                <a:ea typeface="Microsoft YaHei" pitchFamily="34" charset="-122"/>
              </a:rPr>
              <a:t>核心</a:t>
            </a:r>
            <a:r>
              <a:rPr sz="1500" b="1" dirty="0" err="1">
                <a:solidFill>
                  <a:srgbClr val="D83037"/>
                </a:solidFill>
                <a:latin typeface="Microsoft YaHei" pitchFamily="34" charset="-122"/>
                <a:ea typeface="Microsoft YaHei" pitchFamily="34" charset="-122"/>
              </a:rPr>
              <a:t>目标</a:t>
            </a:r>
            <a:endParaRPr sz="1500" b="1" dirty="0">
              <a:solidFill>
                <a:srgbClr val="D83037"/>
              </a:solidFill>
              <a:latin typeface="Microsoft YaHei" pitchFamily="34" charset="-122"/>
              <a:ea typeface="Microsoft YaHei" pitchFamily="34" charset="-122"/>
            </a:endParaRPr>
          </a:p>
          <a:p>
            <a:pPr marL="635">
              <a:spcBef>
                <a:spcPts val="885"/>
              </a:spcBef>
            </a:pPr>
            <a:r>
              <a:rPr lang="en-US" altLang="zh-CN" sz="1500" dirty="0">
                <a:latin typeface="Microsoft YaHei" pitchFamily="34" charset="-122"/>
                <a:ea typeface="Microsoft YaHei" pitchFamily="34" charset="-122"/>
              </a:rPr>
              <a:t>Q4</a:t>
            </a:r>
            <a:r>
              <a:rPr lang="zh-CN" altLang="en-US" sz="1500" dirty="0">
                <a:latin typeface="Microsoft YaHei" pitchFamily="34" charset="-122"/>
                <a:ea typeface="Microsoft YaHei" pitchFamily="34" charset="-122"/>
              </a:rPr>
              <a:t>前 </a:t>
            </a:r>
            <a:r>
              <a:rPr lang="zh-CN" sz="1500" dirty="0">
                <a:latin typeface="Microsoft YaHei" pitchFamily="34" charset="-122"/>
                <a:ea typeface="Microsoft YaHei" pitchFamily="34" charset="-122"/>
              </a:rPr>
              <a:t>APP </a:t>
            </a:r>
            <a:r>
              <a:rPr lang="en-US" altLang="zh-CN" sz="1500" dirty="0">
                <a:latin typeface="Microsoft YaHei" pitchFamily="34" charset="-122"/>
                <a:ea typeface="Microsoft YaHei" pitchFamily="34" charset="-122"/>
              </a:rPr>
              <a:t>GMV</a:t>
            </a:r>
            <a:r>
              <a:rPr lang="zh-CN" altLang="en-US" sz="1500" dirty="0">
                <a:latin typeface="Microsoft YaHei" pitchFamily="34" charset="-122"/>
                <a:ea typeface="Microsoft YaHei" pitchFamily="34" charset="-122"/>
              </a:rPr>
              <a:t>达</a:t>
            </a:r>
            <a:r>
              <a:rPr lang="en-US" altLang="zh-CN" sz="1500" dirty="0">
                <a:latin typeface="Microsoft YaHei" pitchFamily="34" charset="-122"/>
                <a:ea typeface="Microsoft YaHei" pitchFamily="34" charset="-122"/>
              </a:rPr>
              <a:t>400</a:t>
            </a:r>
            <a:r>
              <a:rPr lang="zh-CN" altLang="en-US" sz="1500" dirty="0">
                <a:latin typeface="Microsoft YaHei" pitchFamily="34" charset="-122"/>
                <a:ea typeface="Microsoft YaHei" pitchFamily="34" charset="-122"/>
              </a:rPr>
              <a:t>万</a:t>
            </a:r>
            <a:r>
              <a:rPr lang="en-US" altLang="zh-CN" sz="1500" dirty="0">
                <a:latin typeface="Microsoft YaHei" pitchFamily="34" charset="-122"/>
                <a:ea typeface="Microsoft YaHei" pitchFamily="34" charset="-122"/>
              </a:rPr>
              <a:t>/</a:t>
            </a:r>
            <a:r>
              <a:rPr lang="zh-CN" altLang="en-US" sz="1500" dirty="0">
                <a:latin typeface="Microsoft YaHei" pitchFamily="34" charset="-122"/>
                <a:ea typeface="Microsoft YaHei" pitchFamily="34" charset="-122"/>
              </a:rPr>
              <a:t>月，月活人数</a:t>
            </a:r>
            <a:endParaRPr lang="en-US" altLang="zh-CN" sz="1500" dirty="0">
              <a:latin typeface="Microsoft YaHei" pitchFamily="34" charset="-122"/>
              <a:ea typeface="Microsoft YaHei" pitchFamily="34" charset="-122"/>
            </a:endParaRPr>
          </a:p>
          <a:p>
            <a:pPr marL="635">
              <a:spcBef>
                <a:spcPts val="885"/>
              </a:spcBef>
            </a:pPr>
            <a:r>
              <a:rPr lang="zh-CN" altLang="en-US" sz="1500" dirty="0">
                <a:latin typeface="Microsoft YaHei" pitchFamily="34" charset="-122"/>
                <a:ea typeface="Microsoft YaHei" pitchFamily="34" charset="-122"/>
              </a:rPr>
              <a:t>达</a:t>
            </a:r>
            <a:r>
              <a:rPr lang="en-US" altLang="zh-CN" sz="1500" dirty="0">
                <a:latin typeface="Microsoft YaHei" pitchFamily="34" charset="-122"/>
                <a:ea typeface="Microsoft YaHei" pitchFamily="34" charset="-122"/>
              </a:rPr>
              <a:t>100w/</a:t>
            </a:r>
            <a:r>
              <a:rPr lang="zh-CN" altLang="en-US" sz="1500" dirty="0">
                <a:latin typeface="Microsoft YaHei" pitchFamily="34" charset="-122"/>
                <a:ea typeface="Microsoft YaHei" pitchFamily="34" charset="-122"/>
              </a:rPr>
              <a:t>月</a:t>
            </a:r>
            <a:endParaRPr lang="zh-CN" sz="1500" dirty="0">
              <a:latin typeface="Microsoft YaHei" pitchFamily="34" charset="-122"/>
              <a:ea typeface="Microsoft YaHei" pitchFamily="34" charset="-122"/>
            </a:endParaRPr>
          </a:p>
        </p:txBody>
      </p:sp>
      <p:sp>
        <p:nvSpPr>
          <p:cNvPr id="15" name="TextBox 18"/>
          <p:cNvSpPr txBox="1"/>
          <p:nvPr/>
        </p:nvSpPr>
        <p:spPr>
          <a:xfrm>
            <a:off x="814767" y="3388883"/>
            <a:ext cx="830865" cy="224980"/>
          </a:xfrm>
          <a:prstGeom prst="rect">
            <a:avLst/>
          </a:prstGeom>
          <a:noFill/>
        </p:spPr>
        <p:txBody>
          <a:bodyPr wrap="none" lIns="0" tIns="0" rIns="0" bIns="0"/>
          <a:lstStyle/>
          <a:p>
            <a:pPr algn="just">
              <a:lnSpc>
                <a:spcPct val="112000"/>
              </a:lnSpc>
              <a:spcBef>
                <a:spcPts val="0"/>
              </a:spcBef>
              <a:spcAft>
                <a:spcPts val="0"/>
              </a:spcAft>
            </a:pPr>
            <a:r>
              <a:rPr sz="1575" b="1" dirty="0" err="1">
                <a:solidFill>
                  <a:srgbClr val="DA2F37"/>
                </a:solidFill>
                <a:latin typeface="Microsoft YaHei" pitchFamily="34" charset="-122"/>
                <a:ea typeface="Microsoft YaHei" pitchFamily="34" charset="-122"/>
              </a:rPr>
              <a:t>核心目标</a:t>
            </a:r>
            <a:endParaRPr sz="1575" b="1" dirty="0">
              <a:solidFill>
                <a:srgbClr val="DA2F37"/>
              </a:solidFill>
              <a:latin typeface="Microsoft YaHei" pitchFamily="34" charset="-122"/>
              <a:ea typeface="Microsoft YaHei" pitchFamily="34" charset="-122"/>
            </a:endParaRPr>
          </a:p>
        </p:txBody>
      </p:sp>
      <p:sp>
        <p:nvSpPr>
          <p:cNvPr id="16" name="TextBox 20"/>
          <p:cNvSpPr txBox="1"/>
          <p:nvPr/>
        </p:nvSpPr>
        <p:spPr>
          <a:xfrm>
            <a:off x="830579" y="3800250"/>
            <a:ext cx="2853118" cy="224980"/>
          </a:xfrm>
          <a:prstGeom prst="rect">
            <a:avLst/>
          </a:prstGeom>
          <a:noFill/>
        </p:spPr>
        <p:txBody>
          <a:bodyPr wrap="none" lIns="0" tIns="0" rIns="0" bIns="0"/>
          <a:lstStyle/>
          <a:p>
            <a:pPr algn="just">
              <a:lnSpc>
                <a:spcPct val="124000"/>
              </a:lnSpc>
              <a:spcBef>
                <a:spcPts val="0"/>
              </a:spcBef>
              <a:spcAft>
                <a:spcPts val="0"/>
              </a:spcAft>
            </a:pPr>
            <a:endParaRPr sz="1425" dirty="0">
              <a:solidFill>
                <a:srgbClr val="000000"/>
              </a:solidFill>
              <a:latin typeface="Microsoft YaHei" pitchFamily="34" charset="-122"/>
              <a:ea typeface="Microsoft YaHei" pitchFamily="34" charset="-122"/>
            </a:endParaRPr>
          </a:p>
        </p:txBody>
      </p:sp>
      <p:sp>
        <p:nvSpPr>
          <p:cNvPr id="18" name="TextBox 20"/>
          <p:cNvSpPr txBox="1"/>
          <p:nvPr/>
        </p:nvSpPr>
        <p:spPr>
          <a:xfrm>
            <a:off x="814767" y="3723176"/>
            <a:ext cx="2853118" cy="604108"/>
          </a:xfrm>
          <a:prstGeom prst="rect">
            <a:avLst/>
          </a:prstGeom>
          <a:noFill/>
        </p:spPr>
        <p:txBody>
          <a:bodyPr wrap="none" lIns="0" tIns="0" rIns="0" bIns="0"/>
          <a:lstStyle/>
          <a:p>
            <a:pPr algn="just">
              <a:lnSpc>
                <a:spcPct val="124000"/>
              </a:lnSpc>
              <a:spcBef>
                <a:spcPts val="0"/>
              </a:spcBef>
              <a:spcAft>
                <a:spcPts val="0"/>
              </a:spcAft>
            </a:pPr>
            <a:r>
              <a:rPr lang="zh-CN" altLang="en-US" sz="1500" dirty="0">
                <a:latin typeface="Microsoft YaHei" pitchFamily="34" charset="-122"/>
                <a:ea typeface="Microsoft YaHei" pitchFamily="34" charset="-122"/>
              </a:rPr>
              <a:t>私域新用户</a:t>
            </a:r>
            <a:r>
              <a:rPr lang="en-US" altLang="zh-CN" sz="1500" dirty="0">
                <a:latin typeface="Microsoft YaHei" pitchFamily="34" charset="-122"/>
                <a:ea typeface="Microsoft YaHei" pitchFamily="34" charset="-122"/>
              </a:rPr>
              <a:t>LTV</a:t>
            </a:r>
            <a:r>
              <a:rPr lang="zh-CN" altLang="en-US" sz="1500" dirty="0">
                <a:latin typeface="Microsoft YaHei" pitchFamily="34" charset="-122"/>
                <a:ea typeface="Microsoft YaHei" pitchFamily="34" charset="-122"/>
              </a:rPr>
              <a:t>提升至</a:t>
            </a:r>
            <a:r>
              <a:rPr lang="en-US" altLang="zh-CN" sz="1500" dirty="0">
                <a:latin typeface="Microsoft YaHei" pitchFamily="34" charset="-122"/>
                <a:ea typeface="Microsoft YaHei" pitchFamily="34" charset="-122"/>
              </a:rPr>
              <a:t>60</a:t>
            </a:r>
            <a:endParaRPr lang="en-US" altLang="zh-CN" sz="1500" dirty="0">
              <a:latin typeface="Microsoft YaHei" pitchFamily="34" charset="-122"/>
              <a:ea typeface="Microsoft YaHei" pitchFamily="34" charset="-122"/>
            </a:endParaRPr>
          </a:p>
          <a:p>
            <a:pPr algn="just">
              <a:lnSpc>
                <a:spcPct val="124000"/>
              </a:lnSpc>
              <a:spcBef>
                <a:spcPts val="0"/>
              </a:spcBef>
              <a:spcAft>
                <a:spcPts val="0"/>
              </a:spcAft>
            </a:pPr>
            <a:r>
              <a:rPr lang="zh-CN" altLang="en-US" sz="1500" dirty="0">
                <a:latin typeface="Microsoft YaHei" pitchFamily="34" charset="-122"/>
                <a:ea typeface="Microsoft YaHei" pitchFamily="34" charset="-122"/>
              </a:rPr>
              <a:t>私域</a:t>
            </a:r>
            <a:r>
              <a:rPr lang="en-US" altLang="zh-CN" sz="1500" dirty="0">
                <a:latin typeface="Microsoft YaHei" pitchFamily="34" charset="-122"/>
                <a:ea typeface="Microsoft YaHei" pitchFamily="34" charset="-122"/>
              </a:rPr>
              <a:t>DAY30</a:t>
            </a:r>
            <a:r>
              <a:rPr lang="zh-CN" altLang="en-US" sz="1500" dirty="0">
                <a:latin typeface="Microsoft YaHei" pitchFamily="34" charset="-122"/>
                <a:ea typeface="Microsoft YaHei" pitchFamily="34" charset="-122"/>
              </a:rPr>
              <a:t>留存提升至</a:t>
            </a:r>
            <a:r>
              <a:rPr lang="en-US" altLang="zh-CN" sz="1500" dirty="0">
                <a:latin typeface="Microsoft YaHei" pitchFamily="34" charset="-122"/>
                <a:ea typeface="Microsoft YaHei" pitchFamily="34" charset="-122"/>
              </a:rPr>
              <a:t>85%</a:t>
            </a:r>
            <a:endParaRPr sz="1500" dirty="0">
              <a:latin typeface="Microsoft YaHei" pitchFamily="34" charset="-122"/>
              <a:ea typeface="Microsoft YaHei" pitchFamily="34" charset="-122"/>
            </a:endParaRPr>
          </a:p>
        </p:txBody>
      </p:sp>
      <p:sp>
        <p:nvSpPr>
          <p:cNvPr id="19" name="TextBox 20"/>
          <p:cNvSpPr txBox="1"/>
          <p:nvPr/>
        </p:nvSpPr>
        <p:spPr>
          <a:xfrm>
            <a:off x="4566571" y="3747968"/>
            <a:ext cx="2853118" cy="604108"/>
          </a:xfrm>
          <a:prstGeom prst="rect">
            <a:avLst/>
          </a:prstGeom>
          <a:noFill/>
        </p:spPr>
        <p:txBody>
          <a:bodyPr wrap="none" lIns="0" tIns="0" rIns="0" bIns="0"/>
          <a:lstStyle/>
          <a:p>
            <a:pPr algn="just">
              <a:lnSpc>
                <a:spcPct val="124000"/>
              </a:lnSpc>
              <a:spcBef>
                <a:spcPts val="0"/>
              </a:spcBef>
              <a:spcAft>
                <a:spcPts val="0"/>
              </a:spcAft>
            </a:pPr>
            <a:r>
              <a:rPr lang="en-US" altLang="zh-CN" sz="1500" dirty="0">
                <a:latin typeface="Microsoft YaHei" pitchFamily="34" charset="-122"/>
                <a:ea typeface="Microsoft YaHei" pitchFamily="34" charset="-122"/>
              </a:rPr>
              <a:t>Q4</a:t>
            </a:r>
            <a:r>
              <a:rPr lang="zh-CN" altLang="en-US" sz="1500" dirty="0">
                <a:latin typeface="Microsoft YaHei" pitchFamily="34" charset="-122"/>
                <a:ea typeface="Microsoft YaHei" pitchFamily="34" charset="-122"/>
              </a:rPr>
              <a:t>前 直播间购物车达</a:t>
            </a:r>
            <a:r>
              <a:rPr lang="en-US" altLang="zh-CN" sz="1500" dirty="0">
                <a:latin typeface="Microsoft YaHei" pitchFamily="34" charset="-122"/>
                <a:ea typeface="Microsoft YaHei" pitchFamily="34" charset="-122"/>
              </a:rPr>
              <a:t>170</a:t>
            </a:r>
            <a:r>
              <a:rPr lang="zh-CN" altLang="en-US" sz="1500" dirty="0">
                <a:latin typeface="Microsoft YaHei" pitchFamily="34" charset="-122"/>
                <a:ea typeface="Microsoft YaHei" pitchFamily="34" charset="-122"/>
              </a:rPr>
              <a:t>万</a:t>
            </a:r>
            <a:r>
              <a:rPr lang="en-US" altLang="zh-CN" sz="1500" dirty="0">
                <a:latin typeface="Microsoft YaHei" pitchFamily="34" charset="-122"/>
                <a:ea typeface="Microsoft YaHei" pitchFamily="34" charset="-122"/>
              </a:rPr>
              <a:t>/</a:t>
            </a:r>
            <a:r>
              <a:rPr lang="zh-CN" altLang="en-US" sz="1500" dirty="0">
                <a:latin typeface="Microsoft YaHei" pitchFamily="34" charset="-122"/>
                <a:ea typeface="Microsoft YaHei" pitchFamily="34" charset="-122"/>
              </a:rPr>
              <a:t>月</a:t>
            </a:r>
            <a:endParaRPr sz="1500" dirty="0">
              <a:latin typeface="Microsoft YaHei" pitchFamily="34" charset="-122"/>
              <a:ea typeface="Microsoft YaHei" pitchFamily="34"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550863" y="2080774"/>
            <a:ext cx="3225270" cy="369332"/>
          </a:xfrm>
          <a:prstGeom prst="roundRect">
            <a:avLst/>
          </a:prstGeom>
          <a:solidFill>
            <a:srgbClr val="F779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5" name="文本框 4"/>
          <p:cNvSpPr txBox="1"/>
          <p:nvPr/>
        </p:nvSpPr>
        <p:spPr>
          <a:xfrm>
            <a:off x="550863" y="1245354"/>
            <a:ext cx="6096000" cy="646331"/>
          </a:xfrm>
          <a:prstGeom prst="rect">
            <a:avLst/>
          </a:prstGeom>
          <a:noFill/>
        </p:spPr>
        <p:txBody>
          <a:bodyPr wrap="square">
            <a:spAutoFit/>
          </a:bodyPr>
          <a:lstStyle/>
          <a:p>
            <a:r>
              <a:rPr lang="zh-CN" altLang="en-US" dirty="0">
                <a:effectLst/>
                <a:latin typeface="Microsoft YaHei" pitchFamily="34" charset="-122"/>
                <a:ea typeface="Microsoft YaHei" pitchFamily="34" charset="-122"/>
              </a:rPr>
              <a:t>用户留存的本质不是内容推送的密度，而是她在关键节点是否完成了</a:t>
            </a:r>
            <a:r>
              <a:rPr lang="en-US" altLang="zh-CN" dirty="0">
                <a:effectLst/>
                <a:latin typeface="Microsoft YaHei" pitchFamily="34" charset="-122"/>
                <a:ea typeface="Microsoft YaHei" pitchFamily="34" charset="-122"/>
              </a:rPr>
              <a:t>"</a:t>
            </a:r>
            <a:r>
              <a:rPr lang="zh-CN" altLang="en-US" dirty="0">
                <a:effectLst/>
                <a:latin typeface="Microsoft YaHei" pitchFamily="34" charset="-122"/>
                <a:ea typeface="Microsoft YaHei" pitchFamily="34" charset="-122"/>
              </a:rPr>
              <a:t>从旁观者到参与者</a:t>
            </a:r>
            <a:r>
              <a:rPr lang="en-US" altLang="zh-CN" dirty="0">
                <a:effectLst/>
                <a:latin typeface="Microsoft YaHei" pitchFamily="34" charset="-122"/>
                <a:ea typeface="Microsoft YaHei" pitchFamily="34" charset="-122"/>
              </a:rPr>
              <a:t>"</a:t>
            </a:r>
            <a:r>
              <a:rPr lang="zh-CN" altLang="en-US" dirty="0">
                <a:effectLst/>
                <a:latin typeface="Microsoft YaHei" pitchFamily="34" charset="-122"/>
                <a:ea typeface="Microsoft YaHei" pitchFamily="34" charset="-122"/>
              </a:rPr>
              <a:t>的身份转变</a:t>
            </a:r>
            <a:endParaRPr lang="zh-CN" altLang="en-US" dirty="0">
              <a:latin typeface="Microsoft YaHei" pitchFamily="34" charset="-122"/>
              <a:ea typeface="Microsoft YaHei" pitchFamily="34" charset="-122"/>
            </a:endParaRPr>
          </a:p>
        </p:txBody>
      </p:sp>
      <p:sp>
        <p:nvSpPr>
          <p:cNvPr id="7" name="文本框 6"/>
          <p:cNvSpPr txBox="1"/>
          <p:nvPr/>
        </p:nvSpPr>
        <p:spPr>
          <a:xfrm>
            <a:off x="534991" y="2080774"/>
            <a:ext cx="3225270" cy="369332"/>
          </a:xfrm>
          <a:prstGeom prst="rect">
            <a:avLst/>
          </a:prstGeom>
          <a:noFill/>
          <a:ln>
            <a:noFill/>
          </a:ln>
        </p:spPr>
        <p:txBody>
          <a:bodyPr wrap="square">
            <a:spAutoFit/>
          </a:bodyPr>
          <a:lstStyle/>
          <a:p>
            <a:pPr algn="l">
              <a:buNone/>
            </a:pPr>
            <a:r>
              <a:rPr lang="zh-CN" altLang="en-US" dirty="0">
                <a:solidFill>
                  <a:schemeClr val="bg1"/>
                </a:solidFill>
                <a:effectLst/>
                <a:latin typeface="Microsoft YaHei" pitchFamily="34" charset="-122"/>
                <a:ea typeface="Microsoft YaHei" pitchFamily="34" charset="-122"/>
              </a:rPr>
              <a:t>我们卖的不是课，是</a:t>
            </a:r>
            <a:r>
              <a:rPr lang="en-US" altLang="zh-CN" dirty="0">
                <a:solidFill>
                  <a:schemeClr val="bg1"/>
                </a:solidFill>
                <a:effectLst/>
                <a:latin typeface="Microsoft YaHei" pitchFamily="34" charset="-122"/>
                <a:ea typeface="Microsoft YaHei" pitchFamily="34" charset="-122"/>
              </a:rPr>
              <a:t>"</a:t>
            </a:r>
            <a:r>
              <a:rPr lang="zh-CN" altLang="en-US" dirty="0">
                <a:solidFill>
                  <a:schemeClr val="bg1"/>
                </a:solidFill>
                <a:effectLst/>
                <a:latin typeface="Microsoft YaHei" pitchFamily="34" charset="-122"/>
                <a:ea typeface="Microsoft YaHei" pitchFamily="34" charset="-122"/>
              </a:rPr>
              <a:t>被看见</a:t>
            </a:r>
            <a:r>
              <a:rPr lang="en-US" altLang="zh-CN" dirty="0">
                <a:solidFill>
                  <a:schemeClr val="bg1"/>
                </a:solidFill>
                <a:effectLst/>
                <a:latin typeface="Microsoft YaHei" pitchFamily="34" charset="-122"/>
                <a:ea typeface="Microsoft YaHei" pitchFamily="34" charset="-122"/>
              </a:rPr>
              <a:t>"</a:t>
            </a:r>
            <a:endParaRPr lang="en-US" altLang="zh-CN" dirty="0">
              <a:solidFill>
                <a:schemeClr val="bg1"/>
              </a:solidFill>
              <a:effectLst/>
              <a:latin typeface="Microsoft YaHei" pitchFamily="34" charset="-122"/>
              <a:ea typeface="Microsoft YaHei" pitchFamily="34" charset="-122"/>
            </a:endParaRPr>
          </a:p>
        </p:txBody>
      </p:sp>
      <p:graphicFrame>
        <p:nvGraphicFramePr>
          <p:cNvPr id="10" name="表格 9"/>
          <p:cNvGraphicFramePr>
            <a:graphicFrameLocks noGrp="1"/>
          </p:cNvGraphicFramePr>
          <p:nvPr/>
        </p:nvGraphicFramePr>
        <p:xfrm>
          <a:off x="728133" y="3429000"/>
          <a:ext cx="10969626" cy="2694674"/>
        </p:xfrm>
        <a:graphic>
          <a:graphicData uri="http://schemas.openxmlformats.org/drawingml/2006/table">
            <a:tbl>
              <a:tblPr>
                <a:tableStyleId>{2D5ABB26-0587-4C30-8999-92F81FD0307C}</a:tableStyleId>
              </a:tblPr>
              <a:tblGrid>
                <a:gridCol w="1456267"/>
                <a:gridCol w="3454400"/>
                <a:gridCol w="6058959"/>
              </a:tblGrid>
              <a:tr h="312420">
                <a:tc>
                  <a:txBody>
                    <a:bodyPr/>
                    <a:lstStyle/>
                    <a:p>
                      <a:pPr>
                        <a:buNone/>
                      </a:pPr>
                      <a:r>
                        <a:rPr lang="zh-CN" altLang="en-US" sz="1600" b="1" dirty="0">
                          <a:effectLst/>
                        </a:rPr>
                        <a:t>魔法数字</a:t>
                      </a:r>
                      <a:endParaRPr lang="zh-CN" altLang="en-US" sz="1600" b="1" dirty="0">
                        <a:effectLst/>
                      </a:endParaRPr>
                    </a:p>
                  </a:txBody>
                  <a:tcPr marL="19050" marR="19050" marT="19050" marB="19050" anchor="ctr">
                    <a:solidFill>
                      <a:schemeClr val="accent3">
                        <a:alpha val="30000"/>
                      </a:schemeClr>
                    </a:solidFill>
                  </a:tcPr>
                </a:tc>
                <a:tc>
                  <a:txBody>
                    <a:bodyPr/>
                    <a:lstStyle/>
                    <a:p>
                      <a:pPr>
                        <a:buNone/>
                      </a:pPr>
                      <a:r>
                        <a:rPr lang="zh-CN" altLang="en-US" sz="1600" b="1" dirty="0">
                          <a:effectLst/>
                        </a:rPr>
                        <a:t>关键行为拐点</a:t>
                      </a:r>
                      <a:endParaRPr lang="zh-CN" altLang="en-US" sz="1600" b="1" dirty="0">
                        <a:effectLst/>
                      </a:endParaRPr>
                    </a:p>
                  </a:txBody>
                  <a:tcPr marL="19050" marR="19050" marT="19050" marB="19050" anchor="ctr">
                    <a:solidFill>
                      <a:schemeClr val="accent3">
                        <a:alpha val="30000"/>
                      </a:schemeClr>
                    </a:solidFill>
                  </a:tcPr>
                </a:tc>
                <a:tc>
                  <a:txBody>
                    <a:bodyPr/>
                    <a:lstStyle/>
                    <a:p>
                      <a:pPr>
                        <a:buNone/>
                      </a:pPr>
                      <a:r>
                        <a:rPr lang="zh-CN" altLang="en-US" sz="1600" b="1" dirty="0">
                          <a:effectLst/>
                        </a:rPr>
                        <a:t>对应年度推进方向</a:t>
                      </a:r>
                      <a:endParaRPr lang="zh-CN" altLang="en-US" sz="1600" b="1" dirty="0">
                        <a:effectLst/>
                      </a:endParaRPr>
                    </a:p>
                  </a:txBody>
                  <a:tcPr marL="19050" marR="19050" marT="19050" marB="19050" anchor="ctr">
                    <a:solidFill>
                      <a:schemeClr val="accent3">
                        <a:alpha val="30000"/>
                      </a:schemeClr>
                    </a:solidFill>
                  </a:tcPr>
                </a:tc>
              </a:tr>
              <a:tr h="751574">
                <a:tc>
                  <a:txBody>
                    <a:bodyPr/>
                    <a:lstStyle/>
                    <a:p>
                      <a:pPr>
                        <a:buNone/>
                      </a:pPr>
                      <a:r>
                        <a:rPr lang="en-US" altLang="zh-CN" sz="1600" b="1" dirty="0">
                          <a:effectLst/>
                        </a:rPr>
                        <a:t>1 </a:t>
                      </a:r>
                      <a:r>
                        <a:rPr lang="zh-CN" altLang="en-US" sz="1600" b="1" dirty="0">
                          <a:effectLst/>
                        </a:rPr>
                        <a:t>首次正向反馈</a:t>
                      </a:r>
                      <a:endParaRPr lang="zh-CN" altLang="en-US" sz="1600" dirty="0">
                        <a:effectLst/>
                      </a:endParaRPr>
                    </a:p>
                  </a:txBody>
                  <a:tcPr marL="19050" marR="19050" marT="19050" marB="19050" anchor="ctr">
                    <a:solidFill>
                      <a:schemeClr val="accent3">
                        <a:alpha val="18304"/>
                      </a:schemeClr>
                    </a:solidFill>
                  </a:tcPr>
                </a:tc>
                <a:tc>
                  <a:txBody>
                    <a:bodyPr/>
                    <a:lstStyle/>
                    <a:p>
                      <a:pPr>
                        <a:buNone/>
                      </a:pPr>
                      <a:r>
                        <a:rPr lang="en-GB" sz="1600" dirty="0">
                          <a:effectLst/>
                        </a:rPr>
                        <a:t>D0-D3 </a:t>
                      </a:r>
                      <a:r>
                        <a:rPr lang="zh-CN" altLang="en-US" sz="1600" dirty="0">
                          <a:effectLst/>
                        </a:rPr>
                        <a:t>内获得第一次被回应</a:t>
                      </a:r>
                      <a:r>
                        <a:rPr lang="en-US" altLang="zh-CN" sz="1600" dirty="0">
                          <a:effectLst/>
                        </a:rPr>
                        <a:t>/</a:t>
                      </a:r>
                      <a:r>
                        <a:rPr lang="zh-CN" altLang="en-US" sz="1600" dirty="0">
                          <a:effectLst/>
                        </a:rPr>
                        <a:t>被夸奖的互动</a:t>
                      </a:r>
                      <a:endParaRPr lang="zh-CN" altLang="en-US" sz="1600" dirty="0">
                        <a:effectLst/>
                      </a:endParaRPr>
                    </a:p>
                  </a:txBody>
                  <a:tcPr marL="19050" marR="19050" marT="19050" marB="19050" anchor="ctr">
                    <a:solidFill>
                      <a:schemeClr val="accent3">
                        <a:alpha val="18304"/>
                      </a:schemeClr>
                    </a:solidFill>
                  </a:tcPr>
                </a:tc>
                <a:tc>
                  <a:txBody>
                    <a:bodyPr/>
                    <a:lstStyle/>
                    <a:p>
                      <a:pPr>
                        <a:buNone/>
                      </a:pPr>
                      <a:r>
                        <a:rPr lang="zh-CN" altLang="en-US" sz="1600" b="1" dirty="0">
                          <a:effectLst/>
                        </a:rPr>
                        <a:t>推进方向一：趣小导人设与 </a:t>
                      </a:r>
                      <a:r>
                        <a:rPr lang="en-GB" sz="1600" b="1" dirty="0">
                          <a:effectLst/>
                        </a:rPr>
                        <a:t>D0-D7 </a:t>
                      </a:r>
                      <a:r>
                        <a:rPr lang="zh-CN" altLang="en-US" sz="1600" b="1" dirty="0">
                          <a:effectLst/>
                        </a:rPr>
                        <a:t>旅程自动化</a:t>
                      </a:r>
                      <a:endParaRPr lang="en-US" altLang="zh-CN" sz="1600" b="1" dirty="0">
                        <a:effectLst/>
                      </a:endParaRPr>
                    </a:p>
                    <a:p>
                      <a:pPr>
                        <a:buNone/>
                      </a:pPr>
                      <a:r>
                        <a:rPr lang="zh-CN" altLang="en-US" sz="1600" dirty="0">
                          <a:effectLst/>
                        </a:rPr>
                        <a:t>在新用户最容易退缩的前几天，用</a:t>
                      </a:r>
                      <a:r>
                        <a:rPr lang="en-US" altLang="zh-CN" sz="1600" dirty="0">
                          <a:effectLst/>
                        </a:rPr>
                        <a:t>"</a:t>
                      </a:r>
                      <a:r>
                        <a:rPr lang="zh-CN" altLang="en-US" sz="1600" dirty="0">
                          <a:effectLst/>
                        </a:rPr>
                        <a:t>陪伴感</a:t>
                      </a:r>
                      <a:r>
                        <a:rPr lang="en-US" altLang="zh-CN" sz="1600" dirty="0">
                          <a:effectLst/>
                        </a:rPr>
                        <a:t>+</a:t>
                      </a:r>
                      <a:r>
                        <a:rPr lang="zh-CN" altLang="en-US" sz="1600" dirty="0">
                          <a:effectLst/>
                        </a:rPr>
                        <a:t>即时反馈</a:t>
                      </a:r>
                      <a:r>
                        <a:rPr lang="en-US" altLang="zh-CN" sz="1600" dirty="0">
                          <a:effectLst/>
                        </a:rPr>
                        <a:t>"</a:t>
                      </a:r>
                      <a:r>
                        <a:rPr lang="zh-CN" altLang="en-US" sz="1600" dirty="0">
                          <a:effectLst/>
                        </a:rPr>
                        <a:t>打破观望惯性</a:t>
                      </a:r>
                      <a:endParaRPr lang="zh-CN" altLang="en-US" sz="1600" dirty="0">
                        <a:effectLst/>
                      </a:endParaRPr>
                    </a:p>
                  </a:txBody>
                  <a:tcPr marL="19050" marR="19050" marT="19050" marB="19050" anchor="ctr">
                    <a:solidFill>
                      <a:schemeClr val="accent3">
                        <a:alpha val="18304"/>
                      </a:schemeClr>
                    </a:solidFill>
                  </a:tcPr>
                </a:tc>
              </a:tr>
              <a:tr h="711200">
                <a:tc>
                  <a:txBody>
                    <a:bodyPr/>
                    <a:lstStyle/>
                    <a:p>
                      <a:pPr>
                        <a:buNone/>
                      </a:pPr>
                      <a:r>
                        <a:rPr lang="en-US" altLang="zh-CN" sz="1600" b="1" dirty="0">
                          <a:effectLst/>
                        </a:rPr>
                        <a:t>2 </a:t>
                      </a:r>
                      <a:r>
                        <a:rPr lang="zh-CN" altLang="en-US" sz="1600" b="1" dirty="0">
                          <a:effectLst/>
                        </a:rPr>
                        <a:t>首次闭环成功</a:t>
                      </a:r>
                      <a:endParaRPr lang="zh-CN" altLang="en-US" sz="1600" dirty="0">
                        <a:effectLst/>
                      </a:endParaRPr>
                    </a:p>
                  </a:txBody>
                  <a:tcPr marL="19050" marR="19050" marT="19050" marB="19050" anchor="ctr">
                    <a:solidFill>
                      <a:schemeClr val="accent3">
                        <a:alpha val="30000"/>
                      </a:schemeClr>
                    </a:solidFill>
                  </a:tcPr>
                </a:tc>
                <a:tc>
                  <a:txBody>
                    <a:bodyPr/>
                    <a:lstStyle/>
                    <a:p>
                      <a:pPr>
                        <a:buNone/>
                      </a:pPr>
                      <a:r>
                        <a:rPr lang="en-GB" sz="1600" dirty="0">
                          <a:effectLst/>
                        </a:rPr>
                        <a:t>D7</a:t>
                      </a:r>
                      <a:r>
                        <a:rPr lang="en-US" altLang="zh-CN" sz="1600" dirty="0">
                          <a:effectLst/>
                        </a:rPr>
                        <a:t>-D15</a:t>
                      </a:r>
                      <a:r>
                        <a:rPr lang="en-GB" sz="1600" dirty="0">
                          <a:effectLst/>
                        </a:rPr>
                        <a:t> </a:t>
                      </a:r>
                      <a:r>
                        <a:rPr lang="zh-CN" altLang="en-US" sz="1600" dirty="0">
                          <a:effectLst/>
                        </a:rPr>
                        <a:t>内完成</a:t>
                      </a:r>
                      <a:r>
                        <a:rPr lang="en-US" altLang="zh-CN" sz="1600" dirty="0">
                          <a:effectLst/>
                        </a:rPr>
                        <a:t>"</a:t>
                      </a:r>
                      <a:r>
                        <a:rPr lang="zh-CN" altLang="en-US" sz="1600" dirty="0">
                          <a:effectLst/>
                        </a:rPr>
                        <a:t>学</a:t>
                      </a:r>
                      <a:r>
                        <a:rPr lang="en-US" altLang="zh-CN" sz="1600" dirty="0">
                          <a:effectLst/>
                        </a:rPr>
                        <a:t>-</a:t>
                      </a:r>
                      <a:r>
                        <a:rPr lang="zh-CN" altLang="en-US" sz="1600" dirty="0">
                          <a:effectLst/>
                        </a:rPr>
                        <a:t>练</a:t>
                      </a:r>
                      <a:r>
                        <a:rPr lang="en-US" altLang="zh-CN" sz="1600" dirty="0">
                          <a:effectLst/>
                        </a:rPr>
                        <a:t>-</a:t>
                      </a:r>
                      <a:r>
                        <a:rPr lang="zh-CN" altLang="en-US" sz="1600" dirty="0">
                          <a:effectLst/>
                        </a:rPr>
                        <a:t>晒</a:t>
                      </a:r>
                      <a:r>
                        <a:rPr lang="en-US" altLang="zh-CN" sz="1600" dirty="0">
                          <a:effectLst/>
                        </a:rPr>
                        <a:t>"</a:t>
                      </a:r>
                      <a:r>
                        <a:rPr lang="zh-CN" altLang="en-US" sz="1600" dirty="0">
                          <a:effectLst/>
                        </a:rPr>
                        <a:t>的第一次小闭环</a:t>
                      </a:r>
                      <a:endParaRPr lang="zh-CN" altLang="en-US" sz="1600" dirty="0">
                        <a:effectLst/>
                      </a:endParaRPr>
                    </a:p>
                  </a:txBody>
                  <a:tcPr marL="19050" marR="19050" marT="19050" marB="19050" anchor="ctr">
                    <a:solidFill>
                      <a:schemeClr val="accent3">
                        <a:alpha val="30000"/>
                      </a:schemeClr>
                    </a:solidFill>
                  </a:tcPr>
                </a:tc>
                <a:tc>
                  <a:txBody>
                    <a:bodyPr/>
                    <a:lstStyle/>
                    <a:p>
                      <a:pPr>
                        <a:buNone/>
                      </a:pPr>
                      <a:r>
                        <a:rPr lang="zh-CN" altLang="en-US" sz="1600" b="1" dirty="0">
                          <a:effectLst/>
                        </a:rPr>
                        <a:t>推进方向二：习惯养成与周节律运营</a:t>
                      </a:r>
                      <a:endParaRPr lang="en-US" altLang="zh-CN" sz="1600" b="1" dirty="0">
                        <a:effectLst/>
                      </a:endParaRPr>
                    </a:p>
                    <a:p>
                      <a:pPr>
                        <a:buNone/>
                      </a:pPr>
                      <a:r>
                        <a:rPr lang="zh-CN" altLang="en-US" sz="1600" dirty="0">
                          <a:effectLst/>
                        </a:rPr>
                        <a:t>用固定任务节奏降低行动门槛，让用户在 </a:t>
                      </a:r>
                      <a:r>
                        <a:rPr lang="en-US" altLang="zh-CN" sz="1600" dirty="0">
                          <a:effectLst/>
                        </a:rPr>
                        <a:t>7 </a:t>
                      </a:r>
                      <a:r>
                        <a:rPr lang="zh-CN" altLang="en-US" sz="1600" dirty="0">
                          <a:effectLst/>
                        </a:rPr>
                        <a:t>天内体验一次</a:t>
                      </a:r>
                      <a:r>
                        <a:rPr lang="en-US" altLang="zh-CN" sz="1600" dirty="0">
                          <a:effectLst/>
                        </a:rPr>
                        <a:t>"</a:t>
                      </a:r>
                      <a:r>
                        <a:rPr lang="zh-CN" altLang="en-US" sz="1600" dirty="0">
                          <a:effectLst/>
                        </a:rPr>
                        <a:t>我也能做到</a:t>
                      </a:r>
                      <a:r>
                        <a:rPr lang="en-US" altLang="zh-CN" sz="1600" dirty="0">
                          <a:effectLst/>
                        </a:rPr>
                        <a:t>"</a:t>
                      </a:r>
                      <a:endParaRPr lang="en-US" altLang="zh-CN" sz="1600" dirty="0">
                        <a:effectLst/>
                      </a:endParaRPr>
                    </a:p>
                  </a:txBody>
                  <a:tcPr marL="19050" marR="19050" marT="19050" marB="19050" anchor="ctr">
                    <a:solidFill>
                      <a:schemeClr val="accent3">
                        <a:alpha val="30000"/>
                      </a:schemeClr>
                    </a:solidFill>
                  </a:tcPr>
                </a:tc>
              </a:tr>
              <a:tr h="861060">
                <a:tc>
                  <a:txBody>
                    <a:bodyPr/>
                    <a:lstStyle/>
                    <a:p>
                      <a:pPr>
                        <a:buNone/>
                      </a:pPr>
                      <a:r>
                        <a:rPr lang="en-US" altLang="zh-CN" sz="1600" b="1" dirty="0">
                          <a:effectLst/>
                        </a:rPr>
                        <a:t>3 </a:t>
                      </a:r>
                      <a:r>
                        <a:rPr lang="zh-CN" altLang="en-US" sz="1600" b="1" dirty="0">
                          <a:effectLst/>
                        </a:rPr>
                        <a:t>首次跨科尝试</a:t>
                      </a:r>
                      <a:endParaRPr lang="zh-CN" altLang="en-US" sz="1600" dirty="0">
                        <a:effectLst/>
                      </a:endParaRPr>
                    </a:p>
                  </a:txBody>
                  <a:tcPr marL="19050" marR="19050" marT="19050" marB="19050" anchor="ctr">
                    <a:solidFill>
                      <a:schemeClr val="accent3">
                        <a:alpha val="18000"/>
                      </a:schemeClr>
                    </a:solidFill>
                  </a:tcPr>
                </a:tc>
                <a:tc>
                  <a:txBody>
                    <a:bodyPr/>
                    <a:lstStyle/>
                    <a:p>
                      <a:pPr>
                        <a:buNone/>
                      </a:pPr>
                      <a:r>
                        <a:rPr lang="en-GB" sz="1600" dirty="0">
                          <a:effectLst/>
                        </a:rPr>
                        <a:t>D7-D30 </a:t>
                      </a:r>
                      <a:r>
                        <a:rPr lang="zh-CN" altLang="en-US" sz="1600" dirty="0">
                          <a:effectLst/>
                        </a:rPr>
                        <a:t>内体验第二个品类，建立</a:t>
                      </a:r>
                      <a:r>
                        <a:rPr lang="en-US" altLang="zh-CN" sz="1600" dirty="0">
                          <a:effectLst/>
                        </a:rPr>
                        <a:t>“</a:t>
                      </a:r>
                      <a:r>
                        <a:rPr lang="zh-CN" altLang="en-US" sz="1600" dirty="0">
                          <a:effectLst/>
                        </a:rPr>
                        <a:t>平台不是我只能会一件事的地方</a:t>
                      </a:r>
                      <a:r>
                        <a:rPr lang="en-US" altLang="zh-CN" sz="1600" dirty="0">
                          <a:effectLst/>
                        </a:rPr>
                        <a:t>"</a:t>
                      </a:r>
                      <a:r>
                        <a:rPr lang="zh-CN" altLang="en-US" sz="1600" dirty="0">
                          <a:effectLst/>
                        </a:rPr>
                        <a:t>的认知</a:t>
                      </a:r>
                      <a:endParaRPr lang="zh-CN" altLang="en-US" sz="1600" dirty="0">
                        <a:effectLst/>
                      </a:endParaRPr>
                    </a:p>
                  </a:txBody>
                  <a:tcPr marL="19050" marR="19050" marT="19050" marB="19050" anchor="ctr">
                    <a:solidFill>
                      <a:schemeClr val="accent3">
                        <a:alpha val="18000"/>
                      </a:schemeClr>
                    </a:solidFill>
                  </a:tcPr>
                </a:tc>
                <a:tc>
                  <a:txBody>
                    <a:bodyPr/>
                    <a:lstStyle/>
                    <a:p>
                      <a:pPr>
                        <a:buNone/>
                      </a:pPr>
                      <a:r>
                        <a:rPr lang="zh-CN" altLang="en-US" sz="1600" b="1" dirty="0">
                          <a:effectLst/>
                        </a:rPr>
                        <a:t>推进方向三：内容匹配与跨科推荐</a:t>
                      </a:r>
                      <a:endParaRPr lang="en-US" altLang="zh-CN" sz="1600" b="1" dirty="0">
                        <a:effectLst/>
                      </a:endParaRPr>
                    </a:p>
                    <a:p>
                      <a:pPr>
                        <a:buNone/>
                      </a:pPr>
                      <a:r>
                        <a:rPr lang="zh-CN" altLang="en-US" sz="1600" dirty="0">
                          <a:effectLst/>
                        </a:rPr>
                        <a:t>用用户行为标签做动态推荐，制造低门槛的</a:t>
                      </a:r>
                      <a:r>
                        <a:rPr lang="en-US" altLang="zh-CN" sz="1600" dirty="0">
                          <a:effectLst/>
                        </a:rPr>
                        <a:t>"</a:t>
                      </a:r>
                      <a:r>
                        <a:rPr lang="zh-CN" altLang="en-US" sz="1600" dirty="0">
                          <a:effectLst/>
                        </a:rPr>
                        <a:t>顺便试试</a:t>
                      </a:r>
                      <a:r>
                        <a:rPr lang="en-US" altLang="zh-CN" sz="1600" dirty="0">
                          <a:effectLst/>
                        </a:rPr>
                        <a:t>"</a:t>
                      </a:r>
                      <a:r>
                        <a:rPr lang="zh-CN" altLang="en-US" sz="1600" dirty="0">
                          <a:effectLst/>
                        </a:rPr>
                        <a:t>场景</a:t>
                      </a:r>
                      <a:endParaRPr lang="zh-CN" altLang="en-US" sz="1600" dirty="0">
                        <a:effectLst/>
                      </a:endParaRPr>
                    </a:p>
                  </a:txBody>
                  <a:tcPr marL="19050" marR="19050" marT="19050" marB="19050" anchor="ctr">
                    <a:solidFill>
                      <a:schemeClr val="accent3">
                        <a:alpha val="18000"/>
                      </a:schemeClr>
                    </a:solidFill>
                  </a:tcPr>
                </a:tc>
              </a:tr>
            </a:tbl>
          </a:graphicData>
        </a:graphic>
      </p:graphicFrame>
      <p:sp>
        <p:nvSpPr>
          <p:cNvPr id="11" name="椭圆 10"/>
          <p:cNvSpPr/>
          <p:nvPr/>
        </p:nvSpPr>
        <p:spPr>
          <a:xfrm>
            <a:off x="7427912" y="1354230"/>
            <a:ext cx="1320800" cy="1217876"/>
          </a:xfrm>
          <a:prstGeom prst="ellipse">
            <a:avLst/>
          </a:prstGeom>
          <a:solidFill>
            <a:schemeClr val="accent2">
              <a:alpha val="9192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功能维度</a:t>
            </a:r>
            <a:endParaRPr kumimoji="1" lang="en-US" altLang="zh-CN" dirty="0">
              <a:latin typeface="Microsoft YaHei" pitchFamily="34" charset="-122"/>
              <a:ea typeface="Microsoft YaHei" pitchFamily="34" charset="-122"/>
            </a:endParaRPr>
          </a:p>
        </p:txBody>
      </p:sp>
      <p:sp>
        <p:nvSpPr>
          <p:cNvPr id="12" name="椭圆 11"/>
          <p:cNvSpPr/>
          <p:nvPr/>
        </p:nvSpPr>
        <p:spPr>
          <a:xfrm>
            <a:off x="9059333" y="588659"/>
            <a:ext cx="1320800" cy="1217876"/>
          </a:xfrm>
          <a:prstGeom prst="ellipse">
            <a:avLst/>
          </a:prstGeom>
          <a:solidFill>
            <a:srgbClr val="F77945">
              <a:alpha val="9192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情感维度</a:t>
            </a:r>
            <a:endParaRPr kumimoji="1" lang="en-US" altLang="zh-CN" dirty="0">
              <a:latin typeface="Microsoft YaHei" pitchFamily="34" charset="-122"/>
              <a:ea typeface="Microsoft YaHei" pitchFamily="34" charset="-122"/>
            </a:endParaRPr>
          </a:p>
        </p:txBody>
      </p:sp>
      <p:sp>
        <p:nvSpPr>
          <p:cNvPr id="13" name="椭圆 12"/>
          <p:cNvSpPr/>
          <p:nvPr/>
        </p:nvSpPr>
        <p:spPr>
          <a:xfrm>
            <a:off x="10669588" y="1323045"/>
            <a:ext cx="1320800" cy="1217876"/>
          </a:xfrm>
          <a:prstGeom prst="ellipse">
            <a:avLst/>
          </a:prstGeom>
          <a:solidFill>
            <a:schemeClr val="accent5">
              <a:alpha val="9192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社会维度</a:t>
            </a:r>
            <a:endParaRPr kumimoji="1" lang="en-US" altLang="zh-CN" dirty="0">
              <a:latin typeface="Microsoft YaHei" pitchFamily="34" charset="-122"/>
              <a:ea typeface="Microsoft YaHei" pitchFamily="34" charset="-122"/>
            </a:endParaRPr>
          </a:p>
        </p:txBody>
      </p:sp>
      <p:sp>
        <p:nvSpPr>
          <p:cNvPr id="14" name="文本框 13"/>
          <p:cNvSpPr txBox="1"/>
          <p:nvPr/>
        </p:nvSpPr>
        <p:spPr>
          <a:xfrm>
            <a:off x="7546446" y="2629188"/>
            <a:ext cx="1607078" cy="646331"/>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学到能展示</a:t>
            </a:r>
            <a:endParaRPr kumimoji="1" lang="en-US" altLang="zh-CN" dirty="0">
              <a:latin typeface="Microsoft YaHei" pitchFamily="34" charset="-122"/>
              <a:ea typeface="Microsoft YaHei" pitchFamily="34" charset="-122"/>
            </a:endParaRPr>
          </a:p>
          <a:p>
            <a:r>
              <a:rPr kumimoji="1" lang="zh-CN" altLang="en-US" dirty="0">
                <a:latin typeface="Microsoft YaHei" pitchFamily="34" charset="-122"/>
                <a:ea typeface="Microsoft YaHei" pitchFamily="34" charset="-122"/>
              </a:rPr>
              <a:t>的技能</a:t>
            </a:r>
            <a:endParaRPr kumimoji="1" lang="zh-CN" altLang="en-US" dirty="0">
              <a:latin typeface="Microsoft YaHei" pitchFamily="34" charset="-122"/>
              <a:ea typeface="Microsoft YaHei" pitchFamily="34" charset="-122"/>
            </a:endParaRPr>
          </a:p>
        </p:txBody>
      </p:sp>
      <p:sp>
        <p:nvSpPr>
          <p:cNvPr id="15" name="文本框 14"/>
          <p:cNvSpPr txBox="1"/>
          <p:nvPr/>
        </p:nvSpPr>
        <p:spPr>
          <a:xfrm>
            <a:off x="9006945" y="1892618"/>
            <a:ext cx="1607078" cy="923330"/>
          </a:xfrm>
          <a:prstGeom prst="rect">
            <a:avLst/>
          </a:prstGeom>
          <a:noFill/>
        </p:spPr>
        <p:txBody>
          <a:bodyPr wrap="square" rtlCol="0">
            <a:spAutoFit/>
          </a:bodyPr>
          <a:lstStyle/>
          <a:p>
            <a:r>
              <a:rPr lang="zh-CN" altLang="en-US" dirty="0">
                <a:latin typeface="Microsoft YaHei" pitchFamily="34" charset="-122"/>
                <a:ea typeface="Microsoft YaHei" pitchFamily="34" charset="-122"/>
              </a:rPr>
              <a:t>克服</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学不会</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做不好</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的焦虑</a:t>
            </a:r>
            <a:endParaRPr lang="zh-CN" altLang="en-US" dirty="0">
              <a:latin typeface="Microsoft YaHei" pitchFamily="34" charset="-122"/>
              <a:ea typeface="Microsoft YaHei" pitchFamily="34" charset="-122"/>
            </a:endParaRPr>
          </a:p>
        </p:txBody>
      </p:sp>
      <p:sp>
        <p:nvSpPr>
          <p:cNvPr id="17" name="文本框 16"/>
          <p:cNvSpPr txBox="1"/>
          <p:nvPr/>
        </p:nvSpPr>
        <p:spPr>
          <a:xfrm>
            <a:off x="10544175" y="2661795"/>
            <a:ext cx="1571626" cy="646331"/>
          </a:xfrm>
          <a:prstGeom prst="rect">
            <a:avLst/>
          </a:prstGeom>
          <a:noFill/>
        </p:spPr>
        <p:txBody>
          <a:bodyPr wrap="square" rtlCol="0">
            <a:spAutoFit/>
          </a:bodyPr>
          <a:lstStyle/>
          <a:p>
            <a:r>
              <a:rPr lang="zh-CN" altLang="en-US" dirty="0">
                <a:latin typeface="Microsoft YaHei" pitchFamily="34" charset="-122"/>
                <a:ea typeface="Microsoft YaHei" pitchFamily="34" charset="-122"/>
              </a:rPr>
              <a:t>在群体中被回应与认可</a:t>
            </a:r>
            <a:endParaRPr lang="zh-CN" altLang="en-US" dirty="0">
              <a:latin typeface="Microsoft YaHei" pitchFamily="34" charset="-122"/>
              <a:ea typeface="Microsoft YaHei" pitchFamily="34" charset="-122"/>
            </a:endParaRPr>
          </a:p>
        </p:txBody>
      </p:sp>
      <p:sp>
        <p:nvSpPr>
          <p:cNvPr id="18" name="TextBox 8"/>
          <p:cNvSpPr txBox="1"/>
          <p:nvPr/>
        </p:nvSpPr>
        <p:spPr>
          <a:xfrm>
            <a:off x="1062268" y="427435"/>
            <a:ext cx="2202460" cy="482250"/>
          </a:xfrm>
          <a:prstGeom prst="rect">
            <a:avLst/>
          </a:prstGeom>
          <a:noFill/>
        </p:spPr>
        <p:txBody>
          <a:bodyPr wrap="none" lIns="0" tIns="0" rIns="0" bIns="0"/>
          <a:lstStyle/>
          <a:p>
            <a:pPr algn="ctr">
              <a:lnSpc>
                <a:spcPct val="115000"/>
              </a:lnSpc>
              <a:spcBef>
                <a:spcPts val="0"/>
              </a:spcBef>
              <a:spcAft>
                <a:spcPts val="0"/>
              </a:spcAft>
            </a:pPr>
            <a:r>
              <a:rPr lang="en-US" sz="3200" b="1" dirty="0" err="1">
                <a:solidFill>
                  <a:schemeClr val="tx2"/>
                </a:solidFill>
                <a:latin typeface="Microsoft YaHei" pitchFamily="34" charset="-122"/>
                <a:ea typeface="Microsoft YaHei" pitchFamily="34" charset="-122"/>
              </a:rPr>
              <a:t>用户旅程设计本质</a:t>
            </a:r>
            <a:endParaRPr sz="3200" b="1" dirty="0">
              <a:solidFill>
                <a:schemeClr val="tx2"/>
              </a:solidFill>
              <a:latin typeface="Microsoft YaHei" pitchFamily="34" charset="-122"/>
              <a:ea typeface="Microsoft YaHei" pitchFamily="34" charset="-122"/>
            </a:endParaRPr>
          </a:p>
        </p:txBody>
      </p:sp>
      <p:sp>
        <p:nvSpPr>
          <p:cNvPr id="21" name="文本框 20"/>
          <p:cNvSpPr txBox="1"/>
          <p:nvPr/>
        </p:nvSpPr>
        <p:spPr>
          <a:xfrm>
            <a:off x="664633" y="2982928"/>
            <a:ext cx="6096000" cy="369332"/>
          </a:xfrm>
          <a:prstGeom prst="rect">
            <a:avLst/>
          </a:prstGeom>
          <a:noFill/>
        </p:spPr>
        <p:txBody>
          <a:bodyPr wrap="square">
            <a:spAutoFit/>
          </a:bodyPr>
          <a:lstStyle/>
          <a:p>
            <a:r>
              <a:rPr lang="zh-CN" altLang="en-US" b="1" dirty="0">
                <a:effectLst/>
                <a:latin typeface="Microsoft YaHei" pitchFamily="34" charset="-122"/>
                <a:ea typeface="Microsoft YaHei" pitchFamily="34" charset="-122"/>
              </a:rPr>
              <a:t>旅程设计：一次让用户觉得</a:t>
            </a:r>
            <a:r>
              <a:rPr lang="en-US" altLang="zh-CN" b="1" dirty="0">
                <a:effectLst/>
                <a:latin typeface="Microsoft YaHei" pitchFamily="34" charset="-122"/>
                <a:ea typeface="Microsoft YaHei" pitchFamily="34" charset="-122"/>
              </a:rPr>
              <a:t>"</a:t>
            </a:r>
            <a:r>
              <a:rPr lang="zh-CN" altLang="en-US" b="1" dirty="0">
                <a:effectLst/>
                <a:latin typeface="Microsoft YaHei" pitchFamily="34" charset="-122"/>
                <a:ea typeface="Microsoft YaHei" pitchFamily="34" charset="-122"/>
              </a:rPr>
              <a:t>我选择留下是对的</a:t>
            </a:r>
            <a:r>
              <a:rPr lang="en-US" altLang="zh-CN" b="1" dirty="0">
                <a:effectLst/>
                <a:latin typeface="Microsoft YaHei" pitchFamily="34" charset="-122"/>
                <a:ea typeface="Microsoft YaHei" pitchFamily="34" charset="-122"/>
              </a:rPr>
              <a:t>"</a:t>
            </a:r>
            <a:r>
              <a:rPr lang="zh-CN" altLang="en-US" b="1" dirty="0">
                <a:effectLst/>
                <a:latin typeface="Microsoft YaHei" pitchFamily="34" charset="-122"/>
                <a:ea typeface="Microsoft YaHei" pitchFamily="34" charset="-122"/>
              </a:rPr>
              <a:t>的体验</a:t>
            </a:r>
            <a:endParaRPr lang="zh-CN" altLang="en-US" b="1" dirty="0">
              <a:latin typeface="Microsoft YaHei" pitchFamily="34" charset="-122"/>
              <a:ea typeface="Microsoft YaHei" pitchFamily="34" charset="-122"/>
            </a:endParaRPr>
          </a:p>
        </p:txBody>
      </p:sp>
      <p:sp>
        <p:nvSpPr>
          <p:cNvPr id="22" name="圆角矩形 21"/>
          <p:cNvSpPr/>
          <p:nvPr/>
        </p:nvSpPr>
        <p:spPr>
          <a:xfrm>
            <a:off x="8972549" y="2795469"/>
            <a:ext cx="1571626" cy="48005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用户想要</a:t>
            </a:r>
            <a:endParaRPr kumimoji="1" lang="zh-CN" altLang="en-US" dirty="0">
              <a:latin typeface="Microsoft YaHei" pitchFamily="34" charset="-122"/>
              <a:ea typeface="Microsoft YaHei" pitchFamily="34" charset="-122"/>
            </a:endParaRPr>
          </a:p>
        </p:txBody>
      </p:sp>
      <p:sp>
        <p:nvSpPr>
          <p:cNvPr id="30" name="圆角矩形 29"/>
          <p:cNvSpPr/>
          <p:nvPr/>
        </p:nvSpPr>
        <p:spPr>
          <a:xfrm>
            <a:off x="4034366" y="2067221"/>
            <a:ext cx="3225270" cy="369332"/>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6" name="文本框 25"/>
          <p:cNvSpPr txBox="1"/>
          <p:nvPr/>
        </p:nvSpPr>
        <p:spPr>
          <a:xfrm>
            <a:off x="4212695" y="2080774"/>
            <a:ext cx="3225270" cy="369332"/>
          </a:xfrm>
          <a:prstGeom prst="rect">
            <a:avLst/>
          </a:prstGeom>
          <a:noFill/>
          <a:ln>
            <a:noFill/>
          </a:ln>
        </p:spPr>
        <p:txBody>
          <a:bodyPr wrap="square">
            <a:spAutoFit/>
          </a:bodyPr>
          <a:lstStyle/>
          <a:p>
            <a:pPr algn="l">
              <a:buNone/>
            </a:pPr>
            <a:r>
              <a:rPr lang="zh-CN" altLang="en-US" dirty="0">
                <a:solidFill>
                  <a:schemeClr val="bg1"/>
                </a:solidFill>
                <a:effectLst/>
                <a:latin typeface="Microsoft YaHei" pitchFamily="34" charset="-122"/>
                <a:ea typeface="Microsoft YaHei" pitchFamily="34" charset="-122"/>
              </a:rPr>
              <a:t>每位用户都有想完成的任务</a:t>
            </a:r>
            <a:endParaRPr lang="en-US" altLang="zh-CN" dirty="0">
              <a:solidFill>
                <a:schemeClr val="bg1"/>
              </a:solidFill>
              <a:effectLst/>
              <a:latin typeface="Microsoft YaHei" pitchFamily="34" charset="-122"/>
              <a:ea typeface="Microsoft YaHei" pitchFamily="34" charset="-122"/>
            </a:endParaRPr>
          </a:p>
        </p:txBody>
      </p:sp>
      <p:sp>
        <p:nvSpPr>
          <p:cNvPr id="31" name="文本框 30"/>
          <p:cNvSpPr txBox="1"/>
          <p:nvPr/>
        </p:nvSpPr>
        <p:spPr>
          <a:xfrm>
            <a:off x="3747070" y="2067301"/>
            <a:ext cx="605292" cy="369332"/>
          </a:xfrm>
          <a:prstGeom prst="rect">
            <a:avLst/>
          </a:prstGeom>
          <a:noFill/>
        </p:spPr>
        <p:txBody>
          <a:bodyPr wrap="square" rtlCol="0">
            <a:spAutoFit/>
          </a:bodyPr>
          <a:lstStyle/>
          <a:p>
            <a:r>
              <a:rPr kumimoji="1" lang="en-US" altLang="zh-CN" dirty="0"/>
              <a:t>&gt;</a:t>
            </a:r>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圆角矩形 130"/>
          <p:cNvSpPr/>
          <p:nvPr/>
        </p:nvSpPr>
        <p:spPr>
          <a:xfrm>
            <a:off x="6169098" y="3643528"/>
            <a:ext cx="5393939" cy="2403842"/>
          </a:xfrm>
          <a:prstGeom prst="roundRect">
            <a:avLst/>
          </a:prstGeom>
          <a:solidFill>
            <a:srgbClr val="FCFFF9"/>
          </a:solidFill>
          <a:ln>
            <a:solidFill>
              <a:srgbClr val="F16C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30" name="圆角矩形 129"/>
          <p:cNvSpPr/>
          <p:nvPr/>
        </p:nvSpPr>
        <p:spPr>
          <a:xfrm>
            <a:off x="6157969" y="1028202"/>
            <a:ext cx="5393939" cy="2403842"/>
          </a:xfrm>
          <a:prstGeom prst="roundRect">
            <a:avLst/>
          </a:prstGeom>
          <a:solidFill>
            <a:srgbClr val="FCFFF9"/>
          </a:solidFill>
          <a:ln>
            <a:solidFill>
              <a:srgbClr val="F16C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22" name="圆角矩形 121"/>
          <p:cNvSpPr/>
          <p:nvPr/>
        </p:nvSpPr>
        <p:spPr>
          <a:xfrm>
            <a:off x="503674" y="3664228"/>
            <a:ext cx="5393939" cy="2403842"/>
          </a:xfrm>
          <a:prstGeom prst="roundRect">
            <a:avLst/>
          </a:prstGeom>
          <a:solidFill>
            <a:srgbClr val="FCFFF9"/>
          </a:solidFill>
          <a:ln>
            <a:solidFill>
              <a:srgbClr val="F16C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20" name="圆角矩形 119"/>
          <p:cNvSpPr/>
          <p:nvPr/>
        </p:nvSpPr>
        <p:spPr>
          <a:xfrm>
            <a:off x="503674" y="1028202"/>
            <a:ext cx="5393939" cy="2403842"/>
          </a:xfrm>
          <a:prstGeom prst="roundRect">
            <a:avLst/>
          </a:prstGeom>
          <a:solidFill>
            <a:srgbClr val="FCFFF9"/>
          </a:solidFill>
          <a:ln>
            <a:solidFill>
              <a:srgbClr val="F16C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 name="文本框 1"/>
          <p:cNvSpPr txBox="1"/>
          <p:nvPr/>
        </p:nvSpPr>
        <p:spPr>
          <a:xfrm>
            <a:off x="550863" y="393128"/>
            <a:ext cx="9276381" cy="561185"/>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dirty="0">
                <a:latin typeface="Microsoft YaHei" pitchFamily="34" charset="-122"/>
                <a:ea typeface="Microsoft YaHei" pitchFamily="34" charset="-122"/>
                <a:sym typeface="+mn-ea"/>
              </a:rPr>
              <a:t>瑜伽小白营用户洞察举例 </a:t>
            </a:r>
            <a:r>
              <a:rPr lang="en-US" altLang="zh-CN" dirty="0">
                <a:latin typeface="Microsoft YaHei" pitchFamily="34" charset="-122"/>
                <a:ea typeface="Microsoft YaHei" pitchFamily="34" charset="-122"/>
                <a:sym typeface="+mn-ea"/>
              </a:rPr>
              <a:t>— </a:t>
            </a:r>
            <a:r>
              <a:rPr lang="zh-CN" altLang="en-US" dirty="0">
                <a:latin typeface="Microsoft YaHei" pitchFamily="34" charset="-122"/>
                <a:ea typeface="Microsoft YaHei" pitchFamily="34" charset="-122"/>
                <a:sym typeface="+mn-ea"/>
              </a:rPr>
              <a:t>谁在“雇佣”我们的课程？</a:t>
            </a:r>
            <a:endParaRPr lang="zh-CN" altLang="en-US" dirty="0">
              <a:latin typeface="Microsoft YaHei" pitchFamily="34" charset="-122"/>
              <a:ea typeface="Microsoft YaHei" pitchFamily="34" charset="-122"/>
            </a:endParaRPr>
          </a:p>
        </p:txBody>
      </p:sp>
      <p:sp>
        <p:nvSpPr>
          <p:cNvPr id="4" name="文本框 3"/>
          <p:cNvSpPr txBox="1"/>
          <p:nvPr/>
        </p:nvSpPr>
        <p:spPr>
          <a:xfrm>
            <a:off x="9952990" y="3644900"/>
            <a:ext cx="4064000" cy="368300"/>
          </a:xfrm>
          <a:prstGeom prst="rect">
            <a:avLst/>
          </a:prstGeom>
          <a:noFill/>
        </p:spPr>
        <p:txBody>
          <a:bodyPr wrap="square" rtlCol="0">
            <a:spAutoFit/>
          </a:bodyPr>
          <a:lstStyle/>
          <a:p>
            <a:endParaRPr lang="zh-CN" altLang="en-US">
              <a:latin typeface="Microsoft YaHei" pitchFamily="34" charset="-122"/>
              <a:ea typeface="Microsoft YaHei" pitchFamily="34" charset="-122"/>
            </a:endParaRPr>
          </a:p>
        </p:txBody>
      </p:sp>
      <p:pic>
        <p:nvPicPr>
          <p:cNvPr id="68" name="Picture 8" descr="image.png"/>
          <p:cNvPicPr>
            <a:picLocks noChangeAspect="1"/>
          </p:cNvPicPr>
          <p:nvPr/>
        </p:nvPicPr>
        <p:blipFill>
          <a:blip r:embed="rId1"/>
          <a:stretch>
            <a:fillRect/>
          </a:stretch>
        </p:blipFill>
        <p:spPr>
          <a:xfrm>
            <a:off x="6276334" y="1248181"/>
            <a:ext cx="1308491" cy="1251394"/>
          </a:xfrm>
          <a:prstGeom prst="rect">
            <a:avLst/>
          </a:prstGeom>
        </p:spPr>
      </p:pic>
      <p:pic>
        <p:nvPicPr>
          <p:cNvPr id="70" name="Picture 10" descr="image.png"/>
          <p:cNvPicPr>
            <a:picLocks noChangeAspect="1"/>
          </p:cNvPicPr>
          <p:nvPr/>
        </p:nvPicPr>
        <p:blipFill>
          <a:blip r:embed="rId2"/>
          <a:stretch>
            <a:fillRect/>
          </a:stretch>
        </p:blipFill>
        <p:spPr>
          <a:xfrm>
            <a:off x="841485" y="3821092"/>
            <a:ext cx="1273111" cy="1249358"/>
          </a:xfrm>
          <a:prstGeom prst="rect">
            <a:avLst/>
          </a:prstGeom>
        </p:spPr>
      </p:pic>
      <p:pic>
        <p:nvPicPr>
          <p:cNvPr id="71" name="Picture 11" descr="image.png"/>
          <p:cNvPicPr>
            <a:picLocks noChangeAspect="1"/>
          </p:cNvPicPr>
          <p:nvPr/>
        </p:nvPicPr>
        <p:blipFill>
          <a:blip r:embed="rId3"/>
          <a:stretch>
            <a:fillRect/>
          </a:stretch>
        </p:blipFill>
        <p:spPr>
          <a:xfrm>
            <a:off x="824723" y="1234369"/>
            <a:ext cx="1253200" cy="1257966"/>
          </a:xfrm>
          <a:prstGeom prst="rect">
            <a:avLst/>
          </a:prstGeom>
        </p:spPr>
      </p:pic>
      <p:pic>
        <p:nvPicPr>
          <p:cNvPr id="72" name="Picture 12" descr="image.png"/>
          <p:cNvPicPr>
            <a:picLocks noChangeAspect="1"/>
          </p:cNvPicPr>
          <p:nvPr/>
        </p:nvPicPr>
        <p:blipFill>
          <a:blip r:embed="rId4"/>
          <a:stretch>
            <a:fillRect/>
          </a:stretch>
        </p:blipFill>
        <p:spPr>
          <a:xfrm>
            <a:off x="7902770" y="4129871"/>
            <a:ext cx="1693296" cy="809931"/>
          </a:xfrm>
          <a:prstGeom prst="rect">
            <a:avLst/>
          </a:prstGeom>
        </p:spPr>
      </p:pic>
      <p:pic>
        <p:nvPicPr>
          <p:cNvPr id="73" name="Picture 13" descr="image.png"/>
          <p:cNvPicPr>
            <a:picLocks noChangeAspect="1"/>
          </p:cNvPicPr>
          <p:nvPr/>
        </p:nvPicPr>
        <p:blipFill>
          <a:blip r:embed="rId5"/>
          <a:stretch>
            <a:fillRect/>
          </a:stretch>
        </p:blipFill>
        <p:spPr>
          <a:xfrm>
            <a:off x="6402656" y="3837456"/>
            <a:ext cx="1228629" cy="1228629"/>
          </a:xfrm>
          <a:prstGeom prst="rect">
            <a:avLst/>
          </a:prstGeom>
        </p:spPr>
      </p:pic>
      <p:pic>
        <p:nvPicPr>
          <p:cNvPr id="75" name="Picture 15" descr="image.png"/>
          <p:cNvPicPr>
            <a:picLocks noChangeAspect="1"/>
          </p:cNvPicPr>
          <p:nvPr/>
        </p:nvPicPr>
        <p:blipFill>
          <a:blip r:embed="rId6"/>
          <a:stretch>
            <a:fillRect/>
          </a:stretch>
        </p:blipFill>
        <p:spPr>
          <a:xfrm>
            <a:off x="4340303" y="1500696"/>
            <a:ext cx="1376172" cy="790465"/>
          </a:xfrm>
          <a:prstGeom prst="rect">
            <a:avLst/>
          </a:prstGeom>
        </p:spPr>
      </p:pic>
      <p:pic>
        <p:nvPicPr>
          <p:cNvPr id="77" name="Picture 17" descr="image.png"/>
          <p:cNvPicPr>
            <a:picLocks noChangeAspect="1"/>
          </p:cNvPicPr>
          <p:nvPr/>
        </p:nvPicPr>
        <p:blipFill>
          <a:blip r:embed="rId7"/>
          <a:stretch>
            <a:fillRect/>
          </a:stretch>
        </p:blipFill>
        <p:spPr>
          <a:xfrm>
            <a:off x="4352515" y="4087107"/>
            <a:ext cx="1356987" cy="787622"/>
          </a:xfrm>
          <a:prstGeom prst="rect">
            <a:avLst/>
          </a:prstGeom>
        </p:spPr>
      </p:pic>
      <p:pic>
        <p:nvPicPr>
          <p:cNvPr id="84" name="Picture 24" descr="image.png"/>
          <p:cNvPicPr>
            <a:picLocks noChangeAspect="1"/>
          </p:cNvPicPr>
          <p:nvPr/>
        </p:nvPicPr>
        <p:blipFill>
          <a:blip r:embed="rId8"/>
          <a:stretch>
            <a:fillRect/>
          </a:stretch>
        </p:blipFill>
        <p:spPr>
          <a:xfrm>
            <a:off x="755760" y="3987332"/>
            <a:ext cx="436435" cy="436435"/>
          </a:xfrm>
          <a:prstGeom prst="rect">
            <a:avLst/>
          </a:prstGeom>
        </p:spPr>
      </p:pic>
      <p:pic>
        <p:nvPicPr>
          <p:cNvPr id="85" name="Picture 25" descr="image.png"/>
          <p:cNvPicPr>
            <a:picLocks noChangeAspect="1"/>
          </p:cNvPicPr>
          <p:nvPr/>
        </p:nvPicPr>
        <p:blipFill>
          <a:blip r:embed="rId9"/>
          <a:stretch>
            <a:fillRect/>
          </a:stretch>
        </p:blipFill>
        <p:spPr>
          <a:xfrm>
            <a:off x="764937" y="1410963"/>
            <a:ext cx="422558" cy="432054"/>
          </a:xfrm>
          <a:prstGeom prst="rect">
            <a:avLst/>
          </a:prstGeom>
        </p:spPr>
      </p:pic>
      <p:pic>
        <p:nvPicPr>
          <p:cNvPr id="86" name="Picture 26" descr="image.png"/>
          <p:cNvPicPr>
            <a:picLocks noChangeAspect="1"/>
          </p:cNvPicPr>
          <p:nvPr/>
        </p:nvPicPr>
        <p:blipFill>
          <a:blip r:embed="rId10"/>
          <a:stretch>
            <a:fillRect/>
          </a:stretch>
        </p:blipFill>
        <p:spPr>
          <a:xfrm>
            <a:off x="6290590" y="3991190"/>
            <a:ext cx="423489" cy="433006"/>
          </a:xfrm>
          <a:prstGeom prst="rect">
            <a:avLst/>
          </a:prstGeom>
        </p:spPr>
      </p:pic>
      <p:pic>
        <p:nvPicPr>
          <p:cNvPr id="87" name="Picture 27" descr="image.png"/>
          <p:cNvPicPr>
            <a:picLocks noChangeAspect="1"/>
          </p:cNvPicPr>
          <p:nvPr/>
        </p:nvPicPr>
        <p:blipFill>
          <a:blip r:embed="rId11"/>
          <a:stretch>
            <a:fillRect/>
          </a:stretch>
        </p:blipFill>
        <p:spPr>
          <a:xfrm>
            <a:off x="6295540" y="1417440"/>
            <a:ext cx="399779" cy="423576"/>
          </a:xfrm>
          <a:prstGeom prst="rect">
            <a:avLst/>
          </a:prstGeom>
        </p:spPr>
      </p:pic>
      <p:sp>
        <p:nvSpPr>
          <p:cNvPr id="88" name="TextBox 29"/>
          <p:cNvSpPr txBox="1"/>
          <p:nvPr/>
        </p:nvSpPr>
        <p:spPr>
          <a:xfrm>
            <a:off x="2398972" y="1149978"/>
            <a:ext cx="1389221" cy="257175"/>
          </a:xfrm>
          <a:prstGeom prst="rect">
            <a:avLst/>
          </a:prstGeom>
          <a:noFill/>
        </p:spPr>
        <p:txBody>
          <a:bodyPr wrap="none" lIns="0" tIns="0" rIns="0" bIns="0"/>
          <a:lstStyle/>
          <a:p>
            <a:pPr algn="just">
              <a:lnSpc>
                <a:spcPct val="142000"/>
              </a:lnSpc>
              <a:spcBef>
                <a:spcPts val="0"/>
              </a:spcBef>
              <a:spcAft>
                <a:spcPts val="0"/>
              </a:spcAft>
            </a:pPr>
            <a:r>
              <a:rPr dirty="0" err="1">
                <a:solidFill>
                  <a:srgbClr val="000000"/>
                </a:solidFill>
                <a:latin typeface="Microsoft YaHei" pitchFamily="34" charset="-122"/>
                <a:ea typeface="Microsoft YaHei" pitchFamily="34" charset="-122"/>
              </a:rPr>
              <a:t>疼痛管理·刘姐</a:t>
            </a:r>
            <a:endParaRPr dirty="0">
              <a:solidFill>
                <a:srgbClr val="000000"/>
              </a:solidFill>
              <a:latin typeface="Microsoft YaHei" pitchFamily="34" charset="-122"/>
              <a:ea typeface="Microsoft YaHei" pitchFamily="34" charset="-122"/>
            </a:endParaRPr>
          </a:p>
        </p:txBody>
      </p:sp>
      <p:sp>
        <p:nvSpPr>
          <p:cNvPr id="89" name="TextBox 30"/>
          <p:cNvSpPr txBox="1"/>
          <p:nvPr/>
        </p:nvSpPr>
        <p:spPr>
          <a:xfrm>
            <a:off x="8000380" y="1149978"/>
            <a:ext cx="1565052" cy="257175"/>
          </a:xfrm>
          <a:prstGeom prst="rect">
            <a:avLst/>
          </a:prstGeom>
          <a:noFill/>
        </p:spPr>
        <p:txBody>
          <a:bodyPr wrap="none" lIns="0" tIns="0" rIns="0" bIns="0"/>
          <a:lstStyle/>
          <a:p>
            <a:pPr algn="just">
              <a:lnSpc>
                <a:spcPct val="135000"/>
              </a:lnSpc>
              <a:spcBef>
                <a:spcPts val="0"/>
              </a:spcBef>
              <a:spcAft>
                <a:spcPts val="0"/>
              </a:spcAft>
            </a:pPr>
            <a:r>
              <a:rPr dirty="0" err="1">
                <a:solidFill>
                  <a:srgbClr val="000000"/>
                </a:solidFill>
                <a:latin typeface="Microsoft YaHei" pitchFamily="34" charset="-122"/>
                <a:ea typeface="Microsoft YaHei" pitchFamily="34" charset="-122"/>
              </a:rPr>
              <a:t>体质调理·陈女士</a:t>
            </a:r>
            <a:endParaRPr dirty="0">
              <a:solidFill>
                <a:srgbClr val="000000"/>
              </a:solidFill>
              <a:latin typeface="Microsoft YaHei" pitchFamily="34" charset="-122"/>
              <a:ea typeface="Microsoft YaHei" pitchFamily="34" charset="-122"/>
            </a:endParaRPr>
          </a:p>
        </p:txBody>
      </p:sp>
      <p:sp>
        <p:nvSpPr>
          <p:cNvPr id="92" name="TextBox 33"/>
          <p:cNvSpPr txBox="1"/>
          <p:nvPr/>
        </p:nvSpPr>
        <p:spPr>
          <a:xfrm>
            <a:off x="2398971" y="2491526"/>
            <a:ext cx="2319475" cy="828559"/>
          </a:xfrm>
          <a:prstGeom prst="rect">
            <a:avLst/>
          </a:prstGeom>
          <a:noFill/>
        </p:spPr>
        <p:txBody>
          <a:bodyPr wrap="none" lIns="0" tIns="0" rIns="0" bIns="0"/>
          <a:lstStyle/>
          <a:p>
            <a:pPr algn="just">
              <a:spcBef>
                <a:spcPts val="0"/>
              </a:spcBef>
              <a:spcAft>
                <a:spcPts val="0"/>
              </a:spcAft>
            </a:pPr>
            <a:r>
              <a:rPr sz="1400" dirty="0" err="1">
                <a:solidFill>
                  <a:srgbClr val="F16C67"/>
                </a:solidFill>
                <a:latin typeface="Microsoft YaHei" pitchFamily="34" charset="-122"/>
                <a:ea typeface="Microsoft YaHei" pitchFamily="34" charset="-122"/>
              </a:rPr>
              <a:t>生活场景</a:t>
            </a:r>
            <a:endParaRPr sz="1400" dirty="0">
              <a:solidFill>
                <a:srgbClr val="F16C67"/>
              </a:solidFill>
              <a:latin typeface="Microsoft YaHei" pitchFamily="34" charset="-122"/>
              <a:ea typeface="Microsoft YaHei" pitchFamily="34" charset="-122"/>
            </a:endParaRPr>
          </a:p>
          <a:p>
            <a:pPr>
              <a:spcBef>
                <a:spcPts val="180"/>
              </a:spcBef>
            </a:pPr>
            <a:r>
              <a:rPr lang="zh-CN" sz="1200" dirty="0">
                <a:latin typeface="Microsoft YaHei" pitchFamily="34" charset="-122"/>
                <a:ea typeface="Microsoft YaHei" pitchFamily="34" charset="-122"/>
              </a:rPr>
              <a:t>我就想找个安全的方法</a:t>
            </a:r>
            <a:endParaRPr lang="en-US" altLang="zh-CN" sz="1200" dirty="0">
              <a:latin typeface="Microsoft YaHei" pitchFamily="34" charset="-122"/>
              <a:ea typeface="Microsoft YaHei" pitchFamily="34" charset="-122"/>
            </a:endParaRPr>
          </a:p>
          <a:p>
            <a:pPr>
              <a:spcBef>
                <a:spcPts val="180"/>
              </a:spcBef>
            </a:pPr>
            <a:r>
              <a:rPr lang="zh-CN" sz="1200" dirty="0">
                <a:latin typeface="Microsoft YaHei" pitchFamily="34" charset="-122"/>
                <a:ea typeface="Microsoft YaHei" pitchFamily="34" charset="-122"/>
              </a:rPr>
              <a:t>让身体舒服点</a:t>
            </a:r>
            <a:r>
              <a:rPr lang="zh-CN" altLang="en-US" sz="1200" dirty="0">
                <a:latin typeface="Microsoft YaHei" pitchFamily="34" charset="-122"/>
                <a:ea typeface="Microsoft YaHei" pitchFamily="34" charset="-122"/>
              </a:rPr>
              <a:t>，</a:t>
            </a:r>
            <a:r>
              <a:rPr lang="zh-CN" sz="1200" dirty="0">
                <a:latin typeface="Microsoft YaHei" pitchFamily="34" charset="-122"/>
                <a:ea typeface="Microsoft YaHei" pitchFamily="34" charset="-122"/>
              </a:rPr>
              <a:t>别越练伤</a:t>
            </a:r>
            <a:endParaRPr lang="en-US" altLang="zh-CN" sz="1200" dirty="0">
              <a:latin typeface="Microsoft YaHei" pitchFamily="34" charset="-122"/>
              <a:ea typeface="Microsoft YaHei" pitchFamily="34" charset="-122"/>
            </a:endParaRPr>
          </a:p>
          <a:p>
            <a:pPr>
              <a:spcBef>
                <a:spcPts val="180"/>
              </a:spcBef>
            </a:pPr>
            <a:r>
              <a:rPr lang="zh-CN" sz="1200" dirty="0">
                <a:latin typeface="Microsoft YaHei" pitchFamily="34" charset="-122"/>
                <a:ea typeface="Microsoft YaHei" pitchFamily="34" charset="-122"/>
              </a:rPr>
              <a:t>那些复杂的动作我肯定</a:t>
            </a:r>
            <a:r>
              <a:rPr lang="zh-CN" altLang="en-US" sz="1200" dirty="0">
                <a:latin typeface="Microsoft YaHei" pitchFamily="34" charset="-122"/>
                <a:ea typeface="Microsoft YaHei" pitchFamily="34" charset="-122"/>
              </a:rPr>
              <a:t>做不来</a:t>
            </a:r>
            <a:endParaRPr lang="zh-CN" sz="1200" dirty="0">
              <a:latin typeface="Microsoft YaHei" pitchFamily="34" charset="-122"/>
              <a:ea typeface="Microsoft YaHei" pitchFamily="34" charset="-122"/>
            </a:endParaRPr>
          </a:p>
        </p:txBody>
      </p:sp>
      <p:sp>
        <p:nvSpPr>
          <p:cNvPr id="93" name="TextBox 34"/>
          <p:cNvSpPr txBox="1"/>
          <p:nvPr/>
        </p:nvSpPr>
        <p:spPr>
          <a:xfrm>
            <a:off x="8001904" y="2376893"/>
            <a:ext cx="1562100" cy="619220"/>
          </a:xfrm>
          <a:prstGeom prst="rect">
            <a:avLst/>
          </a:prstGeom>
          <a:noFill/>
        </p:spPr>
        <p:txBody>
          <a:bodyPr wrap="none" lIns="0" tIns="0" rIns="0" bIns="0"/>
          <a:lstStyle/>
          <a:p>
            <a:pPr marL="635" algn="just">
              <a:spcBef>
                <a:spcPts val="0"/>
              </a:spcBef>
              <a:spcAft>
                <a:spcPts val="0"/>
              </a:spcAft>
            </a:pPr>
            <a:endParaRPr lang="zh-CN" sz="900" dirty="0">
              <a:latin typeface="Microsoft YaHei" pitchFamily="34" charset="-122"/>
              <a:ea typeface="Microsoft YaHei" pitchFamily="34" charset="-122"/>
            </a:endParaRPr>
          </a:p>
        </p:txBody>
      </p:sp>
      <p:sp>
        <p:nvSpPr>
          <p:cNvPr id="95" name="TextBox 36"/>
          <p:cNvSpPr txBox="1"/>
          <p:nvPr/>
        </p:nvSpPr>
        <p:spPr>
          <a:xfrm>
            <a:off x="936164" y="2546057"/>
            <a:ext cx="1099280" cy="256032"/>
          </a:xfrm>
          <a:prstGeom prst="rect">
            <a:avLst/>
          </a:prstGeom>
          <a:noFill/>
        </p:spPr>
        <p:txBody>
          <a:bodyPr wrap="none" lIns="0" tIns="0" rIns="0" bIns="0"/>
          <a:lstStyle/>
          <a:p>
            <a:pPr algn="just">
              <a:lnSpc>
                <a:spcPct val="149000"/>
              </a:lnSpc>
              <a:spcBef>
                <a:spcPts val="0"/>
              </a:spcBef>
              <a:spcAft>
                <a:spcPts val="0"/>
              </a:spcAft>
            </a:pPr>
            <a:r>
              <a:rPr sz="1400" dirty="0">
                <a:solidFill>
                  <a:srgbClr val="000000"/>
                </a:solidFill>
                <a:latin typeface="Microsoft YaHei" pitchFamily="34" charset="-122"/>
                <a:ea typeface="Microsoft YaHei" pitchFamily="34" charset="-122"/>
              </a:rPr>
              <a:t>52岁中学教师</a:t>
            </a:r>
            <a:endParaRPr sz="1400" dirty="0">
              <a:solidFill>
                <a:srgbClr val="000000"/>
              </a:solidFill>
              <a:latin typeface="Microsoft YaHei" pitchFamily="34" charset="-122"/>
              <a:ea typeface="Microsoft YaHei" pitchFamily="34" charset="-122"/>
            </a:endParaRPr>
          </a:p>
        </p:txBody>
      </p:sp>
      <p:sp>
        <p:nvSpPr>
          <p:cNvPr id="96" name="TextBox 37"/>
          <p:cNvSpPr txBox="1"/>
          <p:nvPr/>
        </p:nvSpPr>
        <p:spPr>
          <a:xfrm>
            <a:off x="6575048" y="2550068"/>
            <a:ext cx="713612" cy="775430"/>
          </a:xfrm>
          <a:prstGeom prst="rect">
            <a:avLst/>
          </a:prstGeom>
          <a:noFill/>
        </p:spPr>
        <p:txBody>
          <a:bodyPr wrap="none" lIns="0" tIns="0" rIns="0" bIns="0"/>
          <a:lstStyle/>
          <a:p>
            <a:pPr algn="ctr">
              <a:spcBef>
                <a:spcPts val="0"/>
              </a:spcBef>
              <a:spcAft>
                <a:spcPts val="0"/>
              </a:spcAft>
            </a:pPr>
            <a:r>
              <a:rPr sz="1200" dirty="0">
                <a:solidFill>
                  <a:srgbClr val="000000"/>
                </a:solidFill>
                <a:latin typeface="Microsoft YaHei" pitchFamily="34" charset="-122"/>
                <a:ea typeface="Microsoft YaHei" pitchFamily="34" charset="-122"/>
              </a:rPr>
              <a:t>48岁白领</a:t>
            </a:r>
            <a:endParaRPr sz="1200" dirty="0">
              <a:solidFill>
                <a:srgbClr val="000000"/>
              </a:solidFill>
              <a:latin typeface="Microsoft YaHei" pitchFamily="34" charset="-122"/>
              <a:ea typeface="Microsoft YaHei" pitchFamily="34" charset="-122"/>
            </a:endParaRPr>
          </a:p>
          <a:p>
            <a:pPr marL="59690" algn="ctr"/>
            <a:r>
              <a:rPr lang="zh-CN" sz="1200" dirty="0">
                <a:latin typeface="Microsoft YaHei" pitchFamily="34" charset="-122"/>
                <a:ea typeface="Microsoft YaHei" pitchFamily="34" charset="-122"/>
              </a:rPr>
              <a:t>气血差</a:t>
            </a:r>
            <a:endParaRPr lang="zh-CN" sz="1200" dirty="0">
              <a:latin typeface="Microsoft YaHei" pitchFamily="34" charset="-122"/>
              <a:ea typeface="Microsoft YaHei" pitchFamily="34" charset="-122"/>
            </a:endParaRPr>
          </a:p>
          <a:p>
            <a:pPr marL="29210" algn="ctr"/>
            <a:r>
              <a:rPr lang="zh-CN" sz="1200" dirty="0">
                <a:latin typeface="Microsoft YaHei" pitchFamily="34" charset="-122"/>
                <a:ea typeface="Microsoft YaHei" pitchFamily="34" charset="-122"/>
              </a:rPr>
              <a:t>脸色暗黄</a:t>
            </a:r>
            <a:endParaRPr lang="zh-CN" sz="1200" dirty="0">
              <a:latin typeface="Microsoft YaHei" pitchFamily="34" charset="-122"/>
              <a:ea typeface="Microsoft YaHei" pitchFamily="34" charset="-122"/>
            </a:endParaRPr>
          </a:p>
          <a:p>
            <a:pPr marL="29845" algn="ctr"/>
            <a:r>
              <a:rPr lang="zh-CN" sz="1200" dirty="0">
                <a:latin typeface="Microsoft YaHei" pitchFamily="34" charset="-122"/>
                <a:ea typeface="Microsoft YaHei" pitchFamily="34" charset="-122"/>
              </a:rPr>
              <a:t>手脚冰凉</a:t>
            </a:r>
            <a:endParaRPr lang="zh-CN" sz="1200" dirty="0">
              <a:latin typeface="Microsoft YaHei" pitchFamily="34" charset="-122"/>
              <a:ea typeface="Microsoft YaHei" pitchFamily="34" charset="-122"/>
            </a:endParaRPr>
          </a:p>
        </p:txBody>
      </p:sp>
      <p:sp>
        <p:nvSpPr>
          <p:cNvPr id="97" name="TextBox 38"/>
          <p:cNvSpPr txBox="1"/>
          <p:nvPr/>
        </p:nvSpPr>
        <p:spPr>
          <a:xfrm>
            <a:off x="1085230" y="2804756"/>
            <a:ext cx="653605" cy="375856"/>
          </a:xfrm>
          <a:prstGeom prst="rect">
            <a:avLst/>
          </a:prstGeom>
          <a:noFill/>
        </p:spPr>
        <p:txBody>
          <a:bodyPr wrap="none" lIns="0" tIns="0" rIns="0" bIns="0"/>
          <a:lstStyle/>
          <a:p>
            <a:pPr algn="just">
              <a:spcBef>
                <a:spcPts val="0"/>
              </a:spcBef>
              <a:spcAft>
                <a:spcPts val="0"/>
              </a:spcAft>
            </a:pPr>
            <a:r>
              <a:rPr sz="1400" dirty="0" err="1">
                <a:solidFill>
                  <a:srgbClr val="000000"/>
                </a:solidFill>
                <a:latin typeface="Microsoft YaHei" pitchFamily="34" charset="-122"/>
                <a:ea typeface="Microsoft YaHei" pitchFamily="34" charset="-122"/>
              </a:rPr>
              <a:t>肩颈僵硬</a:t>
            </a:r>
            <a:endParaRPr sz="1400" dirty="0">
              <a:solidFill>
                <a:srgbClr val="000000"/>
              </a:solidFill>
              <a:latin typeface="Microsoft YaHei" pitchFamily="34" charset="-122"/>
              <a:ea typeface="Microsoft YaHei" pitchFamily="34" charset="-122"/>
            </a:endParaRPr>
          </a:p>
          <a:p>
            <a:pPr marL="635">
              <a:spcBef>
                <a:spcPts val="175"/>
              </a:spcBef>
            </a:pPr>
            <a:r>
              <a:rPr lang="zh-CN" sz="1400" dirty="0">
                <a:latin typeface="Microsoft YaHei" pitchFamily="34" charset="-122"/>
                <a:ea typeface="Microsoft YaHei" pitchFamily="34" charset="-122"/>
              </a:rPr>
              <a:t>腰肌劳损</a:t>
            </a:r>
            <a:endParaRPr lang="zh-CN" sz="1400" dirty="0">
              <a:latin typeface="Microsoft YaHei" pitchFamily="34" charset="-122"/>
              <a:ea typeface="Microsoft YaHei" pitchFamily="34" charset="-122"/>
            </a:endParaRPr>
          </a:p>
        </p:txBody>
      </p:sp>
      <p:sp>
        <p:nvSpPr>
          <p:cNvPr id="103" name="TextBox 44"/>
          <p:cNvSpPr txBox="1"/>
          <p:nvPr/>
        </p:nvSpPr>
        <p:spPr>
          <a:xfrm>
            <a:off x="2490548" y="3752303"/>
            <a:ext cx="1359884" cy="257175"/>
          </a:xfrm>
          <a:prstGeom prst="rect">
            <a:avLst/>
          </a:prstGeom>
          <a:noFill/>
        </p:spPr>
        <p:txBody>
          <a:bodyPr wrap="none" lIns="0" tIns="0" rIns="0" bIns="0"/>
          <a:lstStyle/>
          <a:p>
            <a:pPr algn="just">
              <a:lnSpc>
                <a:spcPct val="142000"/>
              </a:lnSpc>
              <a:spcBef>
                <a:spcPts val="0"/>
              </a:spcBef>
              <a:spcAft>
                <a:spcPts val="0"/>
              </a:spcAft>
            </a:pPr>
            <a:r>
              <a:rPr dirty="0" err="1">
                <a:solidFill>
                  <a:srgbClr val="000000"/>
                </a:solidFill>
                <a:latin typeface="Microsoft YaHei" pitchFamily="34" charset="-122"/>
                <a:ea typeface="Microsoft YaHei" pitchFamily="34" charset="-122"/>
              </a:rPr>
              <a:t>塑形体态·李</a:t>
            </a:r>
            <a:r>
              <a:rPr lang="zh-CN" altLang="en-US" dirty="0">
                <a:solidFill>
                  <a:srgbClr val="000000"/>
                </a:solidFill>
                <a:latin typeface="Microsoft YaHei" pitchFamily="34" charset="-122"/>
                <a:ea typeface="Microsoft YaHei" pitchFamily="34" charset="-122"/>
              </a:rPr>
              <a:t>姐</a:t>
            </a:r>
            <a:endParaRPr dirty="0">
              <a:solidFill>
                <a:srgbClr val="000000"/>
              </a:solidFill>
              <a:latin typeface="Microsoft YaHei" pitchFamily="34" charset="-122"/>
              <a:ea typeface="Microsoft YaHei" pitchFamily="34" charset="-122"/>
            </a:endParaRPr>
          </a:p>
        </p:txBody>
      </p:sp>
      <p:sp>
        <p:nvSpPr>
          <p:cNvPr id="104" name="TextBox 45"/>
          <p:cNvSpPr txBox="1"/>
          <p:nvPr/>
        </p:nvSpPr>
        <p:spPr>
          <a:xfrm>
            <a:off x="8001142" y="3753065"/>
            <a:ext cx="1563528" cy="225075"/>
          </a:xfrm>
          <a:prstGeom prst="rect">
            <a:avLst/>
          </a:prstGeom>
          <a:noFill/>
        </p:spPr>
        <p:txBody>
          <a:bodyPr wrap="none" lIns="0" tIns="0" rIns="0" bIns="0"/>
          <a:lstStyle/>
          <a:p>
            <a:pPr algn="just">
              <a:lnSpc>
                <a:spcPct val="118000"/>
              </a:lnSpc>
              <a:spcBef>
                <a:spcPts val="0"/>
              </a:spcBef>
              <a:spcAft>
                <a:spcPts val="0"/>
              </a:spcAft>
            </a:pPr>
            <a:r>
              <a:rPr dirty="0" err="1">
                <a:solidFill>
                  <a:srgbClr val="000000"/>
                </a:solidFill>
                <a:latin typeface="Microsoft YaHei" pitchFamily="34" charset="-122"/>
                <a:ea typeface="Microsoft YaHei" pitchFamily="34" charset="-122"/>
              </a:rPr>
              <a:t>身心探索·张叔叔</a:t>
            </a:r>
            <a:endParaRPr dirty="0">
              <a:solidFill>
                <a:srgbClr val="000000"/>
              </a:solidFill>
              <a:latin typeface="Microsoft YaHei" pitchFamily="34" charset="-122"/>
              <a:ea typeface="Microsoft YaHei" pitchFamily="34" charset="-122"/>
            </a:endParaRPr>
          </a:p>
        </p:txBody>
      </p:sp>
      <p:sp>
        <p:nvSpPr>
          <p:cNvPr id="106" name="TextBox 47"/>
          <p:cNvSpPr txBox="1"/>
          <p:nvPr/>
        </p:nvSpPr>
        <p:spPr>
          <a:xfrm>
            <a:off x="8101692" y="4277363"/>
            <a:ext cx="1212532" cy="386495"/>
          </a:xfrm>
          <a:prstGeom prst="rect">
            <a:avLst/>
          </a:prstGeom>
          <a:noFill/>
        </p:spPr>
        <p:txBody>
          <a:bodyPr wrap="none" lIns="0" tIns="0" rIns="0" bIns="0"/>
          <a:lstStyle/>
          <a:p>
            <a:pPr marL="2540" algn="just">
              <a:spcBef>
                <a:spcPts val="0"/>
              </a:spcBef>
              <a:spcAft>
                <a:spcPts val="0"/>
              </a:spcAft>
            </a:pPr>
            <a:r>
              <a:rPr lang="zh-CN" altLang="en-US" sz="1200" dirty="0">
                <a:solidFill>
                  <a:srgbClr val="180B0E"/>
                </a:solidFill>
                <a:latin typeface="Microsoft YaHei" pitchFamily="34" charset="-122"/>
                <a:ea typeface="Microsoft YaHei" pitchFamily="34" charset="-122"/>
              </a:rPr>
              <a:t>退休</a:t>
            </a:r>
            <a:r>
              <a:rPr sz="1200" dirty="0" err="1">
                <a:solidFill>
                  <a:srgbClr val="180B0E"/>
                </a:solidFill>
                <a:latin typeface="Microsoft YaHei" pitchFamily="34" charset="-122"/>
                <a:ea typeface="Microsoft YaHei" pitchFamily="34" charset="-122"/>
              </a:rPr>
              <a:t>后每天打打太极</a:t>
            </a:r>
            <a:endParaRPr sz="1200" dirty="0">
              <a:solidFill>
                <a:srgbClr val="180B0E"/>
              </a:solidFill>
              <a:latin typeface="Microsoft YaHei" pitchFamily="34" charset="-122"/>
              <a:ea typeface="Microsoft YaHei" pitchFamily="34" charset="-122"/>
            </a:endParaRPr>
          </a:p>
          <a:p>
            <a:pPr>
              <a:spcBef>
                <a:spcPts val="50"/>
              </a:spcBef>
            </a:pPr>
            <a:r>
              <a:rPr lang="zh-CN" sz="1200" dirty="0">
                <a:latin typeface="Microsoft YaHei" pitchFamily="34" charset="-122"/>
                <a:ea typeface="Microsoft YaHei" pitchFamily="34" charset="-122"/>
              </a:rPr>
              <a:t>总觉得少了点什么</a:t>
            </a:r>
            <a:endParaRPr lang="zh-CN" altLang="en-US" sz="1200" dirty="0">
              <a:latin typeface="Microsoft YaHei" pitchFamily="34" charset="-122"/>
              <a:ea typeface="Microsoft YaHei" pitchFamily="34" charset="-122"/>
            </a:endParaRPr>
          </a:p>
        </p:txBody>
      </p:sp>
      <p:sp>
        <p:nvSpPr>
          <p:cNvPr id="108" name="TextBox 49"/>
          <p:cNvSpPr txBox="1"/>
          <p:nvPr/>
        </p:nvSpPr>
        <p:spPr>
          <a:xfrm>
            <a:off x="2492739" y="5047017"/>
            <a:ext cx="1589913" cy="619220"/>
          </a:xfrm>
          <a:prstGeom prst="rect">
            <a:avLst/>
          </a:prstGeom>
          <a:noFill/>
        </p:spPr>
        <p:txBody>
          <a:bodyPr wrap="none" lIns="0" tIns="0" rIns="0" bIns="0"/>
          <a:lstStyle/>
          <a:p>
            <a:pPr algn="just">
              <a:spcBef>
                <a:spcPts val="0"/>
              </a:spcBef>
              <a:spcAft>
                <a:spcPts val="0"/>
              </a:spcAft>
            </a:pPr>
            <a:r>
              <a:rPr lang="zh-CN" altLang="en-US" sz="1200" dirty="0">
                <a:solidFill>
                  <a:srgbClr val="F16C67"/>
                </a:solidFill>
                <a:latin typeface="Microsoft YaHei" pitchFamily="34" charset="-122"/>
                <a:ea typeface="Microsoft YaHei" pitchFamily="34" charset="-122"/>
              </a:rPr>
              <a:t>生活场景</a:t>
            </a:r>
            <a:endParaRPr lang="en-US" altLang="zh-CN" sz="1200" dirty="0">
              <a:solidFill>
                <a:srgbClr val="F16C67"/>
              </a:solidFill>
              <a:latin typeface="Microsoft YaHei" pitchFamily="34" charset="-122"/>
              <a:ea typeface="Microsoft YaHei" pitchFamily="34" charset="-122"/>
            </a:endParaRPr>
          </a:p>
          <a:p>
            <a:pPr algn="just">
              <a:spcBef>
                <a:spcPts val="0"/>
              </a:spcBef>
              <a:spcAft>
                <a:spcPts val="0"/>
              </a:spcAft>
            </a:pPr>
            <a:r>
              <a:rPr lang="zh-CN" sz="1200" dirty="0">
                <a:latin typeface="Microsoft YaHei" pitchFamily="34" charset="-122"/>
                <a:ea typeface="Microsoft YaHei" pitchFamily="34" charset="-122"/>
              </a:rPr>
              <a:t>每天带孩子忙得要死</a:t>
            </a:r>
            <a:endParaRPr lang="zh-CN" sz="1200" dirty="0">
              <a:latin typeface="Microsoft YaHei" pitchFamily="34" charset="-122"/>
              <a:ea typeface="Microsoft YaHei" pitchFamily="34" charset="-122"/>
            </a:endParaRPr>
          </a:p>
          <a:p>
            <a:r>
              <a:rPr lang="zh-CN" sz="1200" dirty="0">
                <a:latin typeface="Microsoft YaHei" pitchFamily="34" charset="-122"/>
                <a:ea typeface="Microsoft YaHei" pitchFamily="34" charset="-122"/>
              </a:rPr>
              <a:t>就想找那种跟着做就行</a:t>
            </a:r>
            <a:endParaRPr lang="en-US" altLang="zh-CN" sz="1200" dirty="0">
              <a:latin typeface="Microsoft YaHei" pitchFamily="34" charset="-122"/>
              <a:ea typeface="Microsoft YaHei" pitchFamily="34" charset="-122"/>
            </a:endParaRPr>
          </a:p>
          <a:p>
            <a:r>
              <a:rPr lang="zh-CN" sz="1200" dirty="0">
                <a:latin typeface="Microsoft YaHei" pitchFamily="34" charset="-122"/>
                <a:ea typeface="Microsoft YaHei" pitchFamily="34" charset="-122"/>
              </a:rPr>
              <a:t>的视频</a:t>
            </a:r>
            <a:r>
              <a:rPr lang="zh-CN" altLang="en-US" sz="1200" dirty="0">
                <a:latin typeface="Microsoft YaHei" pitchFamily="34" charset="-122"/>
                <a:ea typeface="Microsoft YaHei" pitchFamily="34" charset="-122"/>
              </a:rPr>
              <a:t>，</a:t>
            </a:r>
            <a:r>
              <a:rPr lang="zh-CN" sz="1200" dirty="0">
                <a:latin typeface="Microsoft YaHei" pitchFamily="34" charset="-122"/>
                <a:ea typeface="Microsoft YaHei" pitchFamily="34" charset="-122"/>
              </a:rPr>
              <a:t>别讲太多道理</a:t>
            </a:r>
            <a:endParaRPr lang="zh-CN" sz="1200" dirty="0">
              <a:latin typeface="Microsoft YaHei" pitchFamily="34" charset="-122"/>
              <a:ea typeface="Microsoft YaHei" pitchFamily="34" charset="-122"/>
            </a:endParaRPr>
          </a:p>
        </p:txBody>
      </p:sp>
      <p:sp>
        <p:nvSpPr>
          <p:cNvPr id="112" name="TextBox 53"/>
          <p:cNvSpPr txBox="1"/>
          <p:nvPr/>
        </p:nvSpPr>
        <p:spPr>
          <a:xfrm>
            <a:off x="937973" y="5161432"/>
            <a:ext cx="1065371" cy="590931"/>
          </a:xfrm>
          <a:prstGeom prst="rect">
            <a:avLst/>
          </a:prstGeom>
          <a:noFill/>
        </p:spPr>
        <p:txBody>
          <a:bodyPr wrap="none" lIns="0" tIns="0" rIns="0" bIns="0"/>
          <a:lstStyle/>
          <a:p>
            <a:pPr algn="just">
              <a:spcBef>
                <a:spcPts val="0"/>
              </a:spcBef>
              <a:spcAft>
                <a:spcPts val="0"/>
              </a:spcAft>
            </a:pPr>
            <a:r>
              <a:rPr sz="1200" dirty="0">
                <a:solidFill>
                  <a:srgbClr val="000000"/>
                </a:solidFill>
                <a:latin typeface="Microsoft YaHei" pitchFamily="34" charset="-122"/>
                <a:ea typeface="Microsoft YaHei" pitchFamily="34" charset="-122"/>
              </a:rPr>
              <a:t>38岁产后妈妈</a:t>
            </a:r>
            <a:endParaRPr sz="1200" dirty="0">
              <a:solidFill>
                <a:srgbClr val="000000"/>
              </a:solidFill>
              <a:latin typeface="Microsoft YaHei" pitchFamily="34" charset="-122"/>
              <a:ea typeface="Microsoft YaHei" pitchFamily="34" charset="-122"/>
            </a:endParaRPr>
          </a:p>
          <a:p>
            <a:pPr marL="118110"/>
            <a:r>
              <a:rPr lang="zh-CN" sz="1200" dirty="0">
                <a:latin typeface="Microsoft YaHei" pitchFamily="34" charset="-122"/>
                <a:ea typeface="Microsoft YaHei" pitchFamily="34" charset="-122"/>
              </a:rPr>
              <a:t>腹部松弛</a:t>
            </a:r>
            <a:endParaRPr lang="zh-CN" sz="1200" dirty="0">
              <a:latin typeface="Microsoft YaHei" pitchFamily="34" charset="-122"/>
              <a:ea typeface="Microsoft YaHei" pitchFamily="34" charset="-122"/>
            </a:endParaRPr>
          </a:p>
          <a:p>
            <a:pPr marL="147955">
              <a:spcBef>
                <a:spcPts val="175"/>
              </a:spcBef>
            </a:pPr>
            <a:r>
              <a:rPr lang="zh-CN" sz="1200" dirty="0">
                <a:latin typeface="Microsoft YaHei" pitchFamily="34" charset="-122"/>
                <a:ea typeface="Microsoft YaHei" pitchFamily="34" charset="-122"/>
              </a:rPr>
              <a:t>骨盆前倾</a:t>
            </a:r>
            <a:endParaRPr lang="zh-CN" sz="1200" dirty="0">
              <a:latin typeface="Microsoft YaHei" pitchFamily="34" charset="-122"/>
              <a:ea typeface="Microsoft YaHei" pitchFamily="34" charset="-122"/>
            </a:endParaRPr>
          </a:p>
        </p:txBody>
      </p:sp>
      <p:sp>
        <p:nvSpPr>
          <p:cNvPr id="113" name="TextBox 54"/>
          <p:cNvSpPr txBox="1"/>
          <p:nvPr/>
        </p:nvSpPr>
        <p:spPr>
          <a:xfrm>
            <a:off x="6507146" y="5162194"/>
            <a:ext cx="1034605" cy="590169"/>
          </a:xfrm>
          <a:prstGeom prst="rect">
            <a:avLst/>
          </a:prstGeom>
          <a:noFill/>
        </p:spPr>
        <p:txBody>
          <a:bodyPr wrap="none" lIns="0" tIns="0" rIns="0" bIns="0"/>
          <a:lstStyle/>
          <a:p>
            <a:pPr algn="just">
              <a:spcBef>
                <a:spcPts val="0"/>
              </a:spcBef>
              <a:spcAft>
                <a:spcPts val="0"/>
              </a:spcAft>
            </a:pPr>
            <a:r>
              <a:rPr sz="1200" dirty="0">
                <a:solidFill>
                  <a:srgbClr val="000000"/>
                </a:solidFill>
                <a:latin typeface="Microsoft YaHei" pitchFamily="34" charset="-122"/>
                <a:ea typeface="Microsoft YaHei" pitchFamily="34" charset="-122"/>
              </a:rPr>
              <a:t>60岁退休干部</a:t>
            </a:r>
            <a:endParaRPr sz="1200" dirty="0">
              <a:solidFill>
                <a:srgbClr val="000000"/>
              </a:solidFill>
              <a:latin typeface="Microsoft YaHei" pitchFamily="34" charset="-122"/>
              <a:ea typeface="Microsoft YaHei" pitchFamily="34" charset="-122"/>
            </a:endParaRPr>
          </a:p>
          <a:p>
            <a:pPr marL="29210">
              <a:spcBef>
                <a:spcPts val="170"/>
              </a:spcBef>
            </a:pPr>
            <a:r>
              <a:rPr lang="zh-CN" sz="1200" dirty="0">
                <a:latin typeface="Microsoft YaHei" pitchFamily="34" charset="-122"/>
                <a:ea typeface="Microsoft YaHei" pitchFamily="34" charset="-122"/>
              </a:rPr>
              <a:t>有太极习惯</a:t>
            </a:r>
            <a:endParaRPr lang="zh-CN" sz="1200" dirty="0">
              <a:latin typeface="Microsoft YaHei" pitchFamily="34" charset="-122"/>
              <a:ea typeface="Microsoft YaHei" pitchFamily="34" charset="-122"/>
            </a:endParaRPr>
          </a:p>
          <a:p>
            <a:pPr marL="118110">
              <a:spcBef>
                <a:spcPts val="175"/>
              </a:spcBef>
            </a:pPr>
            <a:r>
              <a:rPr lang="zh-CN" sz="1200" dirty="0">
                <a:latin typeface="Microsoft YaHei" pitchFamily="34" charset="-122"/>
                <a:ea typeface="Microsoft YaHei" pitchFamily="34" charset="-122"/>
              </a:rPr>
              <a:t>热爱中医</a:t>
            </a:r>
            <a:endParaRPr lang="zh-CN" sz="1200" dirty="0">
              <a:latin typeface="Microsoft YaHei" pitchFamily="34" charset="-122"/>
              <a:ea typeface="Microsoft YaHei" pitchFamily="34" charset="-122"/>
            </a:endParaRPr>
          </a:p>
        </p:txBody>
      </p:sp>
      <p:sp>
        <p:nvSpPr>
          <p:cNvPr id="116" name="TextBox 57"/>
          <p:cNvSpPr txBox="1"/>
          <p:nvPr/>
        </p:nvSpPr>
        <p:spPr>
          <a:xfrm>
            <a:off x="9174908" y="5652826"/>
            <a:ext cx="1795081" cy="160782"/>
          </a:xfrm>
          <a:prstGeom prst="rect">
            <a:avLst/>
          </a:prstGeom>
          <a:noFill/>
        </p:spPr>
        <p:txBody>
          <a:bodyPr wrap="none" lIns="0" tIns="0" rIns="0" bIns="0"/>
          <a:lstStyle/>
          <a:p>
            <a:pPr algn="ctr">
              <a:lnSpc>
                <a:spcPct val="130000"/>
              </a:lnSpc>
              <a:spcBef>
                <a:spcPts val="0"/>
              </a:spcBef>
              <a:spcAft>
                <a:spcPts val="0"/>
              </a:spcAft>
            </a:pPr>
            <a:endParaRPr sz="975" dirty="0">
              <a:solidFill>
                <a:srgbClr val="982939"/>
              </a:solidFill>
              <a:latin typeface="Microsoft YaHei" pitchFamily="34" charset="-122"/>
              <a:ea typeface="Microsoft YaHei" pitchFamily="34" charset="-122"/>
            </a:endParaRPr>
          </a:p>
        </p:txBody>
      </p:sp>
      <p:sp>
        <p:nvSpPr>
          <p:cNvPr id="121" name="椭圆形标注 120"/>
          <p:cNvSpPr/>
          <p:nvPr/>
        </p:nvSpPr>
        <p:spPr>
          <a:xfrm>
            <a:off x="2204802" y="4255461"/>
            <a:ext cx="2065231" cy="682093"/>
          </a:xfrm>
          <a:prstGeom prst="wedgeEllipseCallout">
            <a:avLst/>
          </a:prstGeom>
          <a:solidFill>
            <a:srgbClr val="FED6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05" name="TextBox 46"/>
          <p:cNvSpPr txBox="1"/>
          <p:nvPr/>
        </p:nvSpPr>
        <p:spPr>
          <a:xfrm>
            <a:off x="2424925" y="4393174"/>
            <a:ext cx="1326165" cy="618457"/>
          </a:xfrm>
          <a:prstGeom prst="rect">
            <a:avLst/>
          </a:prstGeom>
          <a:noFill/>
        </p:spPr>
        <p:txBody>
          <a:bodyPr wrap="none" lIns="0" tIns="0" rIns="0" bIns="0"/>
          <a:lstStyle/>
          <a:p>
            <a:pPr algn="just">
              <a:spcBef>
                <a:spcPts val="0"/>
              </a:spcBef>
              <a:spcAft>
                <a:spcPts val="0"/>
              </a:spcAft>
            </a:pPr>
            <a:r>
              <a:rPr sz="1200" dirty="0" err="1">
                <a:solidFill>
                  <a:srgbClr val="180A0D"/>
                </a:solidFill>
                <a:latin typeface="Microsoft YaHei" pitchFamily="34" charset="-122"/>
                <a:ea typeface="Microsoft YaHei" pitchFamily="34" charset="-122"/>
              </a:rPr>
              <a:t>以前的牛仔裤卡在大腿根</a:t>
            </a:r>
            <a:endParaRPr sz="1200" dirty="0">
              <a:solidFill>
                <a:srgbClr val="180A0D"/>
              </a:solidFill>
              <a:latin typeface="Microsoft YaHei" pitchFamily="34" charset="-122"/>
              <a:ea typeface="Microsoft YaHei" pitchFamily="34" charset="-122"/>
            </a:endParaRPr>
          </a:p>
          <a:p>
            <a:pPr>
              <a:spcBef>
                <a:spcPts val="185"/>
              </a:spcBef>
            </a:pPr>
            <a:r>
              <a:rPr lang="zh-CN" sz="1200" dirty="0">
                <a:latin typeface="Microsoft YaHei" pitchFamily="34" charset="-122"/>
                <a:ea typeface="Microsoft YaHei" pitchFamily="34" charset="-122"/>
              </a:rPr>
              <a:t>抱孩子时总觉得腰住前挺</a:t>
            </a:r>
            <a:endParaRPr lang="zh-CN" sz="1200" dirty="0">
              <a:latin typeface="Microsoft YaHei" pitchFamily="34" charset="-122"/>
              <a:ea typeface="Microsoft YaHei" pitchFamily="34" charset="-122"/>
            </a:endParaRPr>
          </a:p>
        </p:txBody>
      </p:sp>
      <p:pic>
        <p:nvPicPr>
          <p:cNvPr id="123" name="Picture 19" descr="image.png"/>
          <p:cNvPicPr>
            <a:picLocks noChangeAspect="1"/>
          </p:cNvPicPr>
          <p:nvPr/>
        </p:nvPicPr>
        <p:blipFill>
          <a:blip r:embed="rId12"/>
          <a:stretch>
            <a:fillRect/>
          </a:stretch>
        </p:blipFill>
        <p:spPr>
          <a:xfrm>
            <a:off x="4374399" y="5128935"/>
            <a:ext cx="1237745" cy="314095"/>
          </a:xfrm>
          <a:prstGeom prst="rect">
            <a:avLst/>
          </a:prstGeom>
        </p:spPr>
      </p:pic>
      <p:sp>
        <p:nvSpPr>
          <p:cNvPr id="115" name="TextBox 56"/>
          <p:cNvSpPr txBox="1"/>
          <p:nvPr/>
        </p:nvSpPr>
        <p:spPr>
          <a:xfrm>
            <a:off x="4634755" y="5112354"/>
            <a:ext cx="710755" cy="160782"/>
          </a:xfrm>
          <a:prstGeom prst="rect">
            <a:avLst/>
          </a:prstGeom>
          <a:noFill/>
        </p:spPr>
        <p:txBody>
          <a:bodyPr wrap="none" lIns="0" tIns="0" rIns="0" bIns="0"/>
          <a:lstStyle/>
          <a:p>
            <a:pPr algn="ctr">
              <a:lnSpc>
                <a:spcPct val="153000"/>
              </a:lnSpc>
              <a:spcBef>
                <a:spcPts val="0"/>
              </a:spcBef>
              <a:spcAft>
                <a:spcPts val="0"/>
              </a:spcAft>
            </a:pPr>
            <a:r>
              <a:rPr sz="1200" dirty="0" err="1">
                <a:solidFill>
                  <a:srgbClr val="180A0D"/>
                </a:solidFill>
                <a:latin typeface="Microsoft YaHei" pitchFamily="34" charset="-122"/>
                <a:ea typeface="Microsoft YaHei" pitchFamily="34" charset="-122"/>
              </a:rPr>
              <a:t>体态对比打卡</a:t>
            </a:r>
            <a:endParaRPr sz="1200" dirty="0">
              <a:solidFill>
                <a:srgbClr val="180A0D"/>
              </a:solidFill>
              <a:latin typeface="Microsoft YaHei" pitchFamily="34" charset="-122"/>
              <a:ea typeface="Microsoft YaHei" pitchFamily="34" charset="-122"/>
            </a:endParaRPr>
          </a:p>
        </p:txBody>
      </p:sp>
      <p:pic>
        <p:nvPicPr>
          <p:cNvPr id="124" name="Picture 19" descr="image.png"/>
          <p:cNvPicPr>
            <a:picLocks noChangeAspect="1"/>
          </p:cNvPicPr>
          <p:nvPr/>
        </p:nvPicPr>
        <p:blipFill>
          <a:blip r:embed="rId12"/>
          <a:stretch>
            <a:fillRect/>
          </a:stretch>
        </p:blipFill>
        <p:spPr>
          <a:xfrm>
            <a:off x="4375049" y="5490756"/>
            <a:ext cx="1237745" cy="314095"/>
          </a:xfrm>
          <a:prstGeom prst="rect">
            <a:avLst/>
          </a:prstGeom>
        </p:spPr>
      </p:pic>
      <p:sp>
        <p:nvSpPr>
          <p:cNvPr id="125" name="TextBox 56"/>
          <p:cNvSpPr txBox="1"/>
          <p:nvPr/>
        </p:nvSpPr>
        <p:spPr>
          <a:xfrm>
            <a:off x="4635405" y="5474175"/>
            <a:ext cx="710755" cy="160782"/>
          </a:xfrm>
          <a:prstGeom prst="rect">
            <a:avLst/>
          </a:prstGeom>
          <a:noFill/>
        </p:spPr>
        <p:txBody>
          <a:bodyPr wrap="none" lIns="0" tIns="0" rIns="0" bIns="0"/>
          <a:lstStyle/>
          <a:p>
            <a:pPr algn="ctr">
              <a:lnSpc>
                <a:spcPct val="153000"/>
              </a:lnSpc>
              <a:spcBef>
                <a:spcPts val="0"/>
              </a:spcBef>
              <a:spcAft>
                <a:spcPts val="0"/>
              </a:spcAft>
            </a:pPr>
            <a:r>
              <a:rPr lang="zh-CN" altLang="en-US" sz="1200" dirty="0">
                <a:solidFill>
                  <a:srgbClr val="180A0D"/>
                </a:solidFill>
                <a:latin typeface="Microsoft YaHei" pitchFamily="34" charset="-122"/>
                <a:ea typeface="Microsoft YaHei" pitchFamily="34" charset="-122"/>
              </a:rPr>
              <a:t>跟练碎片化</a:t>
            </a:r>
            <a:endParaRPr sz="1200" dirty="0">
              <a:solidFill>
                <a:srgbClr val="180A0D"/>
              </a:solidFill>
              <a:latin typeface="Microsoft YaHei" pitchFamily="34" charset="-122"/>
              <a:ea typeface="Microsoft YaHei" pitchFamily="34" charset="-122"/>
            </a:endParaRPr>
          </a:p>
        </p:txBody>
      </p:sp>
      <p:pic>
        <p:nvPicPr>
          <p:cNvPr id="126" name="Picture 19" descr="image.png"/>
          <p:cNvPicPr>
            <a:picLocks noChangeAspect="1"/>
          </p:cNvPicPr>
          <p:nvPr/>
        </p:nvPicPr>
        <p:blipFill>
          <a:blip r:embed="rId12"/>
          <a:stretch>
            <a:fillRect/>
          </a:stretch>
        </p:blipFill>
        <p:spPr>
          <a:xfrm>
            <a:off x="4420621" y="2618063"/>
            <a:ext cx="1237745" cy="314095"/>
          </a:xfrm>
          <a:prstGeom prst="rect">
            <a:avLst/>
          </a:prstGeom>
        </p:spPr>
      </p:pic>
      <p:sp>
        <p:nvSpPr>
          <p:cNvPr id="127" name="TextBox 56"/>
          <p:cNvSpPr txBox="1"/>
          <p:nvPr/>
        </p:nvSpPr>
        <p:spPr>
          <a:xfrm>
            <a:off x="4680977" y="2601482"/>
            <a:ext cx="710755" cy="160782"/>
          </a:xfrm>
          <a:prstGeom prst="rect">
            <a:avLst/>
          </a:prstGeom>
          <a:noFill/>
        </p:spPr>
        <p:txBody>
          <a:bodyPr wrap="none" lIns="0" tIns="0" rIns="0" bIns="0"/>
          <a:lstStyle/>
          <a:p>
            <a:pPr algn="ctr">
              <a:lnSpc>
                <a:spcPct val="153000"/>
              </a:lnSpc>
              <a:spcBef>
                <a:spcPts val="0"/>
              </a:spcBef>
              <a:spcAft>
                <a:spcPts val="0"/>
              </a:spcAft>
            </a:pPr>
            <a:r>
              <a:rPr lang="zh-CN" altLang="en-US" sz="1200" dirty="0">
                <a:solidFill>
                  <a:srgbClr val="180A0D"/>
                </a:solidFill>
                <a:latin typeface="Microsoft YaHei" pitchFamily="34" charset="-122"/>
                <a:ea typeface="Microsoft YaHei" pitchFamily="34" charset="-122"/>
              </a:rPr>
              <a:t>详解动作指导</a:t>
            </a:r>
            <a:endParaRPr sz="1200" dirty="0">
              <a:solidFill>
                <a:srgbClr val="180A0D"/>
              </a:solidFill>
              <a:latin typeface="Microsoft YaHei" pitchFamily="34" charset="-122"/>
              <a:ea typeface="Microsoft YaHei" pitchFamily="34" charset="-122"/>
            </a:endParaRPr>
          </a:p>
        </p:txBody>
      </p:sp>
      <p:pic>
        <p:nvPicPr>
          <p:cNvPr id="128" name="Picture 19" descr="image.png"/>
          <p:cNvPicPr>
            <a:picLocks noChangeAspect="1"/>
          </p:cNvPicPr>
          <p:nvPr/>
        </p:nvPicPr>
        <p:blipFill>
          <a:blip r:embed="rId12"/>
          <a:stretch>
            <a:fillRect/>
          </a:stretch>
        </p:blipFill>
        <p:spPr>
          <a:xfrm>
            <a:off x="4424524" y="2937808"/>
            <a:ext cx="1237745" cy="314095"/>
          </a:xfrm>
          <a:prstGeom prst="rect">
            <a:avLst/>
          </a:prstGeom>
        </p:spPr>
      </p:pic>
      <p:sp>
        <p:nvSpPr>
          <p:cNvPr id="129" name="TextBox 56"/>
          <p:cNvSpPr txBox="1"/>
          <p:nvPr/>
        </p:nvSpPr>
        <p:spPr>
          <a:xfrm>
            <a:off x="4684880" y="2921227"/>
            <a:ext cx="710755" cy="160782"/>
          </a:xfrm>
          <a:prstGeom prst="rect">
            <a:avLst/>
          </a:prstGeom>
          <a:noFill/>
        </p:spPr>
        <p:txBody>
          <a:bodyPr wrap="none" lIns="0" tIns="0" rIns="0" bIns="0"/>
          <a:lstStyle/>
          <a:p>
            <a:pPr algn="ctr">
              <a:lnSpc>
                <a:spcPct val="153000"/>
              </a:lnSpc>
              <a:spcBef>
                <a:spcPts val="0"/>
              </a:spcBef>
              <a:spcAft>
                <a:spcPts val="0"/>
              </a:spcAft>
            </a:pPr>
            <a:r>
              <a:rPr lang="zh-CN" altLang="en-US" sz="1200" dirty="0">
                <a:solidFill>
                  <a:srgbClr val="180A0D"/>
                </a:solidFill>
                <a:latin typeface="Microsoft YaHei" pitchFamily="34" charset="-122"/>
                <a:ea typeface="Microsoft YaHei" pitchFamily="34" charset="-122"/>
              </a:rPr>
              <a:t>即时反馈</a:t>
            </a:r>
            <a:endParaRPr sz="1200" dirty="0">
              <a:solidFill>
                <a:srgbClr val="180A0D"/>
              </a:solidFill>
              <a:latin typeface="Microsoft YaHei" pitchFamily="34" charset="-122"/>
              <a:ea typeface="Microsoft YaHei" pitchFamily="34" charset="-122"/>
            </a:endParaRPr>
          </a:p>
        </p:txBody>
      </p:sp>
      <p:sp>
        <p:nvSpPr>
          <p:cNvPr id="132" name="椭圆形标注 131"/>
          <p:cNvSpPr/>
          <p:nvPr/>
        </p:nvSpPr>
        <p:spPr>
          <a:xfrm>
            <a:off x="2166519" y="1639337"/>
            <a:ext cx="2065231" cy="682093"/>
          </a:xfrm>
          <a:prstGeom prst="wedgeEllipseCallout">
            <a:avLst/>
          </a:prstGeom>
          <a:solidFill>
            <a:srgbClr val="FED6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90" name="TextBox 31"/>
          <p:cNvSpPr txBox="1"/>
          <p:nvPr/>
        </p:nvSpPr>
        <p:spPr>
          <a:xfrm>
            <a:off x="2449358" y="1690703"/>
            <a:ext cx="1592312" cy="589311"/>
          </a:xfrm>
          <a:prstGeom prst="rect">
            <a:avLst/>
          </a:prstGeom>
          <a:noFill/>
        </p:spPr>
        <p:txBody>
          <a:bodyPr wrap="none" lIns="0" tIns="0" rIns="0" bIns="0"/>
          <a:lstStyle/>
          <a:p>
            <a:pPr marL="3175" algn="just">
              <a:spcBef>
                <a:spcPts val="0"/>
              </a:spcBef>
              <a:spcAft>
                <a:spcPts val="0"/>
              </a:spcAft>
            </a:pPr>
            <a:r>
              <a:rPr sz="1200" dirty="0" err="1">
                <a:solidFill>
                  <a:srgbClr val="000000"/>
                </a:solidFill>
                <a:latin typeface="Microsoft YaHei" pitchFamily="34" charset="-122"/>
                <a:ea typeface="Microsoft YaHei" pitchFamily="34" charset="-122"/>
              </a:rPr>
              <a:t>批改作业到深夜</a:t>
            </a:r>
            <a:endParaRPr sz="1200" dirty="0">
              <a:solidFill>
                <a:srgbClr val="000000"/>
              </a:solidFill>
              <a:latin typeface="Microsoft YaHei" pitchFamily="34" charset="-122"/>
              <a:ea typeface="Microsoft YaHei" pitchFamily="34" charset="-122"/>
            </a:endParaRPr>
          </a:p>
          <a:p>
            <a:r>
              <a:rPr lang="zh-CN" sz="1200" dirty="0">
                <a:latin typeface="Microsoft YaHei" pitchFamily="34" charset="-122"/>
                <a:ea typeface="Microsoft YaHei" pitchFamily="34" charset="-122"/>
              </a:rPr>
              <a:t>脖子转一下咔咔响</a:t>
            </a:r>
            <a:endParaRPr lang="en-US" altLang="zh-CN" sz="1200" dirty="0">
              <a:latin typeface="Microsoft YaHei" pitchFamily="34" charset="-122"/>
              <a:ea typeface="Microsoft YaHei" pitchFamily="34" charset="-122"/>
            </a:endParaRPr>
          </a:p>
          <a:p>
            <a:r>
              <a:rPr lang="zh-CN" sz="1200" dirty="0">
                <a:latin typeface="Microsoft YaHei" pitchFamily="34" charset="-122"/>
                <a:ea typeface="Microsoft YaHei" pitchFamily="34" charset="-122"/>
              </a:rPr>
              <a:t>膏药贴了也不管用</a:t>
            </a:r>
            <a:endParaRPr lang="zh-CN" sz="1200" dirty="0">
              <a:latin typeface="Microsoft YaHei" pitchFamily="34" charset="-122"/>
              <a:ea typeface="Microsoft YaHei" pitchFamily="34" charset="-122"/>
            </a:endParaRPr>
          </a:p>
        </p:txBody>
      </p:sp>
      <p:sp>
        <p:nvSpPr>
          <p:cNvPr id="133" name="椭圆形标注 132"/>
          <p:cNvSpPr/>
          <p:nvPr/>
        </p:nvSpPr>
        <p:spPr>
          <a:xfrm>
            <a:off x="7703190" y="1595209"/>
            <a:ext cx="2319475" cy="675942"/>
          </a:xfrm>
          <a:prstGeom prst="wedgeEllipseCallout">
            <a:avLst/>
          </a:prstGeom>
          <a:solidFill>
            <a:srgbClr val="FED6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91" name="TextBox 32"/>
          <p:cNvSpPr txBox="1"/>
          <p:nvPr/>
        </p:nvSpPr>
        <p:spPr>
          <a:xfrm>
            <a:off x="8159993" y="1604306"/>
            <a:ext cx="1680210" cy="466915"/>
          </a:xfrm>
          <a:prstGeom prst="rect">
            <a:avLst/>
          </a:prstGeom>
          <a:noFill/>
        </p:spPr>
        <p:txBody>
          <a:bodyPr wrap="none" lIns="0" tIns="0" rIns="0" bIns="0"/>
          <a:lstStyle/>
          <a:p>
            <a:pPr algn="just">
              <a:spcBef>
                <a:spcPts val="0"/>
              </a:spcBef>
              <a:spcAft>
                <a:spcPts val="0"/>
              </a:spcAft>
            </a:pPr>
            <a:r>
              <a:rPr lang="zh-CN" altLang="en-US" sz="1200" dirty="0">
                <a:solidFill>
                  <a:srgbClr val="180C11"/>
                </a:solidFill>
                <a:latin typeface="Microsoft YaHei" pitchFamily="34" charset="-122"/>
                <a:ea typeface="Microsoft YaHei" pitchFamily="34" charset="-122"/>
              </a:rPr>
              <a:t>每天早上照镜子</a:t>
            </a:r>
            <a:endParaRPr lang="en-US" altLang="zh-CN" sz="1200" dirty="0">
              <a:solidFill>
                <a:srgbClr val="180C11"/>
              </a:solidFill>
              <a:latin typeface="Microsoft YaHei" pitchFamily="34" charset="-122"/>
              <a:ea typeface="Microsoft YaHei" pitchFamily="34" charset="-122"/>
            </a:endParaRPr>
          </a:p>
          <a:p>
            <a:pPr algn="just">
              <a:spcBef>
                <a:spcPts val="0"/>
              </a:spcBef>
              <a:spcAft>
                <a:spcPts val="0"/>
              </a:spcAft>
            </a:pPr>
            <a:r>
              <a:rPr lang="zh-CN" altLang="en-US" sz="1200" dirty="0">
                <a:solidFill>
                  <a:srgbClr val="180C11"/>
                </a:solidFill>
                <a:latin typeface="Microsoft YaHei" pitchFamily="34" charset="-122"/>
                <a:ea typeface="Microsoft YaHei" pitchFamily="34" charset="-122"/>
              </a:rPr>
              <a:t>都觉得脸色蜡黄</a:t>
            </a:r>
            <a:endParaRPr lang="zh-CN" altLang="en-US" sz="1200" dirty="0">
              <a:solidFill>
                <a:srgbClr val="180C11"/>
              </a:solidFill>
              <a:latin typeface="Microsoft YaHei" pitchFamily="34" charset="-122"/>
              <a:ea typeface="Microsoft YaHei" pitchFamily="34" charset="-122"/>
            </a:endParaRPr>
          </a:p>
          <a:p>
            <a:r>
              <a:rPr lang="zh-CN" altLang="en-US" sz="1200" dirty="0">
                <a:latin typeface="Microsoft YaHei" pitchFamily="34" charset="-122"/>
                <a:ea typeface="Microsoft YaHei" pitchFamily="34" charset="-122"/>
              </a:rPr>
              <a:t>没什么大病但就是没神</a:t>
            </a:r>
            <a:endParaRPr lang="zh-CN" altLang="en-US" sz="1200" dirty="0">
              <a:latin typeface="Microsoft YaHei" pitchFamily="34" charset="-122"/>
              <a:ea typeface="Microsoft YaHei" pitchFamily="34" charset="-122"/>
            </a:endParaRPr>
          </a:p>
        </p:txBody>
      </p:sp>
      <p:pic>
        <p:nvPicPr>
          <p:cNvPr id="136" name="Picture 19" descr="image.png"/>
          <p:cNvPicPr>
            <a:picLocks noChangeAspect="1"/>
          </p:cNvPicPr>
          <p:nvPr/>
        </p:nvPicPr>
        <p:blipFill>
          <a:blip r:embed="rId12"/>
          <a:stretch>
            <a:fillRect/>
          </a:stretch>
        </p:blipFill>
        <p:spPr>
          <a:xfrm>
            <a:off x="10125629" y="2095358"/>
            <a:ext cx="1237745" cy="314095"/>
          </a:xfrm>
          <a:prstGeom prst="rect">
            <a:avLst/>
          </a:prstGeom>
        </p:spPr>
      </p:pic>
      <p:sp>
        <p:nvSpPr>
          <p:cNvPr id="137" name="TextBox 56"/>
          <p:cNvSpPr txBox="1"/>
          <p:nvPr/>
        </p:nvSpPr>
        <p:spPr>
          <a:xfrm>
            <a:off x="10385985" y="2078777"/>
            <a:ext cx="710755" cy="160782"/>
          </a:xfrm>
          <a:prstGeom prst="rect">
            <a:avLst/>
          </a:prstGeom>
          <a:noFill/>
        </p:spPr>
        <p:txBody>
          <a:bodyPr wrap="none" lIns="0" tIns="0" rIns="0" bIns="0"/>
          <a:lstStyle/>
          <a:p>
            <a:pPr algn="ctr">
              <a:lnSpc>
                <a:spcPct val="153000"/>
              </a:lnSpc>
              <a:spcBef>
                <a:spcPts val="0"/>
              </a:spcBef>
              <a:spcAft>
                <a:spcPts val="0"/>
              </a:spcAft>
            </a:pPr>
            <a:r>
              <a:rPr lang="zh-CN" altLang="en-US" sz="1200" dirty="0">
                <a:solidFill>
                  <a:srgbClr val="180A0D"/>
                </a:solidFill>
                <a:latin typeface="Microsoft YaHei" pitchFamily="34" charset="-122"/>
                <a:ea typeface="Microsoft YaHei" pitchFamily="34" charset="-122"/>
              </a:rPr>
              <a:t>气色可视化改善</a:t>
            </a:r>
            <a:endParaRPr sz="1200" dirty="0">
              <a:solidFill>
                <a:srgbClr val="180A0D"/>
              </a:solidFill>
              <a:latin typeface="Microsoft YaHei" pitchFamily="34" charset="-122"/>
              <a:ea typeface="Microsoft YaHei" pitchFamily="34" charset="-122"/>
            </a:endParaRPr>
          </a:p>
        </p:txBody>
      </p:sp>
      <p:pic>
        <p:nvPicPr>
          <p:cNvPr id="138" name="Picture 19" descr="image.png"/>
          <p:cNvPicPr>
            <a:picLocks noChangeAspect="1"/>
          </p:cNvPicPr>
          <p:nvPr/>
        </p:nvPicPr>
        <p:blipFill>
          <a:blip r:embed="rId12"/>
          <a:stretch>
            <a:fillRect/>
          </a:stretch>
        </p:blipFill>
        <p:spPr>
          <a:xfrm>
            <a:off x="10129532" y="2415103"/>
            <a:ext cx="1237745" cy="314095"/>
          </a:xfrm>
          <a:prstGeom prst="rect">
            <a:avLst/>
          </a:prstGeom>
        </p:spPr>
      </p:pic>
      <p:sp>
        <p:nvSpPr>
          <p:cNvPr id="139" name="TextBox 56"/>
          <p:cNvSpPr txBox="1"/>
          <p:nvPr/>
        </p:nvSpPr>
        <p:spPr>
          <a:xfrm>
            <a:off x="10389888" y="2398522"/>
            <a:ext cx="710755" cy="160782"/>
          </a:xfrm>
          <a:prstGeom prst="rect">
            <a:avLst/>
          </a:prstGeom>
          <a:noFill/>
        </p:spPr>
        <p:txBody>
          <a:bodyPr wrap="none" lIns="0" tIns="0" rIns="0" bIns="0"/>
          <a:lstStyle/>
          <a:p>
            <a:pPr algn="ctr">
              <a:lnSpc>
                <a:spcPct val="153000"/>
              </a:lnSpc>
              <a:spcBef>
                <a:spcPts val="0"/>
              </a:spcBef>
              <a:spcAft>
                <a:spcPts val="0"/>
              </a:spcAft>
            </a:pPr>
            <a:r>
              <a:rPr lang="zh-CN" altLang="en-US" sz="1200" dirty="0">
                <a:solidFill>
                  <a:srgbClr val="180A0D"/>
                </a:solidFill>
                <a:latin typeface="Microsoft YaHei" pitchFamily="34" charset="-122"/>
                <a:ea typeface="Microsoft YaHei" pitchFamily="34" charset="-122"/>
              </a:rPr>
              <a:t>节气调理跟练</a:t>
            </a:r>
            <a:endParaRPr sz="1200" dirty="0">
              <a:solidFill>
                <a:srgbClr val="180A0D"/>
              </a:solidFill>
              <a:latin typeface="Microsoft YaHei" pitchFamily="34" charset="-122"/>
              <a:ea typeface="Microsoft YaHei" pitchFamily="34" charset="-122"/>
            </a:endParaRPr>
          </a:p>
        </p:txBody>
      </p:sp>
      <p:pic>
        <p:nvPicPr>
          <p:cNvPr id="141" name="Picture 12" descr="image.png"/>
          <p:cNvPicPr>
            <a:picLocks noChangeAspect="1"/>
          </p:cNvPicPr>
          <p:nvPr/>
        </p:nvPicPr>
        <p:blipFill>
          <a:blip r:embed="rId4"/>
          <a:stretch>
            <a:fillRect/>
          </a:stretch>
        </p:blipFill>
        <p:spPr>
          <a:xfrm>
            <a:off x="9720338" y="4061117"/>
            <a:ext cx="1693296" cy="898969"/>
          </a:xfrm>
          <a:prstGeom prst="rect">
            <a:avLst/>
          </a:prstGeom>
        </p:spPr>
      </p:pic>
      <p:sp>
        <p:nvSpPr>
          <p:cNvPr id="140" name="TextBox 33"/>
          <p:cNvSpPr txBox="1"/>
          <p:nvPr/>
        </p:nvSpPr>
        <p:spPr>
          <a:xfrm>
            <a:off x="7624301" y="2450838"/>
            <a:ext cx="2319475" cy="828559"/>
          </a:xfrm>
          <a:prstGeom prst="rect">
            <a:avLst/>
          </a:prstGeom>
          <a:noFill/>
        </p:spPr>
        <p:txBody>
          <a:bodyPr wrap="none" lIns="0" tIns="0" rIns="0" bIns="0"/>
          <a:lstStyle/>
          <a:p>
            <a:pPr algn="just">
              <a:spcBef>
                <a:spcPts val="0"/>
              </a:spcBef>
              <a:spcAft>
                <a:spcPts val="0"/>
              </a:spcAft>
            </a:pPr>
            <a:r>
              <a:rPr sz="1400" dirty="0" err="1">
                <a:solidFill>
                  <a:srgbClr val="F16C67"/>
                </a:solidFill>
                <a:latin typeface="Microsoft YaHei" pitchFamily="34" charset="-122"/>
                <a:ea typeface="Microsoft YaHei" pitchFamily="34" charset="-122"/>
              </a:rPr>
              <a:t>生活场景</a:t>
            </a:r>
            <a:endParaRPr sz="1400" dirty="0">
              <a:solidFill>
                <a:srgbClr val="F16C67"/>
              </a:solidFill>
              <a:latin typeface="Microsoft YaHei" pitchFamily="34" charset="-122"/>
              <a:ea typeface="Microsoft YaHei" pitchFamily="34" charset="-122"/>
            </a:endParaRPr>
          </a:p>
          <a:p>
            <a:pPr>
              <a:spcBef>
                <a:spcPts val="180"/>
              </a:spcBef>
            </a:pPr>
            <a:r>
              <a:rPr lang="zh-CN" altLang="en-US" sz="1200" dirty="0">
                <a:latin typeface="Microsoft YaHei" pitchFamily="34" charset="-122"/>
                <a:ea typeface="Microsoft YaHei" pitchFamily="34" charset="-122"/>
              </a:rPr>
              <a:t>中医说我是气血虚，但那么多</a:t>
            </a:r>
            <a:endParaRPr lang="en-US" altLang="zh-CN" sz="1200" dirty="0">
              <a:latin typeface="Microsoft YaHei" pitchFamily="34" charset="-122"/>
              <a:ea typeface="Microsoft YaHei" pitchFamily="34" charset="-122"/>
            </a:endParaRPr>
          </a:p>
          <a:p>
            <a:pPr>
              <a:spcBef>
                <a:spcPts val="180"/>
              </a:spcBef>
            </a:pPr>
            <a:r>
              <a:rPr lang="zh-CN" altLang="en-US" sz="1200" dirty="0">
                <a:latin typeface="Microsoft YaHei" pitchFamily="34" charset="-122"/>
                <a:ea typeface="Microsoft YaHei" pitchFamily="34" charset="-122"/>
              </a:rPr>
              <a:t>理论我记不住，有没有简单点的</a:t>
            </a:r>
            <a:endParaRPr lang="en-US" altLang="zh-CN" sz="1200" dirty="0">
              <a:latin typeface="Microsoft YaHei" pitchFamily="34" charset="-122"/>
              <a:ea typeface="Microsoft YaHei" pitchFamily="34" charset="-122"/>
            </a:endParaRPr>
          </a:p>
          <a:p>
            <a:pPr>
              <a:spcBef>
                <a:spcPts val="180"/>
              </a:spcBef>
            </a:pPr>
            <a:r>
              <a:rPr lang="zh-CN" altLang="en-US" sz="1200" dirty="0">
                <a:latin typeface="Microsoft YaHei" pitchFamily="34" charset="-122"/>
                <a:ea typeface="Microsoft YaHei" pitchFamily="34" charset="-122"/>
              </a:rPr>
              <a:t>法子让我每天花十几分钟就能调理</a:t>
            </a:r>
            <a:endParaRPr lang="zh-CN" altLang="en-US" sz="1200" dirty="0">
              <a:latin typeface="Microsoft YaHei" pitchFamily="34" charset="-122"/>
              <a:ea typeface="Microsoft YaHei" pitchFamily="34" charset="-122"/>
            </a:endParaRPr>
          </a:p>
        </p:txBody>
      </p:sp>
      <p:sp>
        <p:nvSpPr>
          <p:cNvPr id="107" name="TextBox 48"/>
          <p:cNvSpPr txBox="1"/>
          <p:nvPr/>
        </p:nvSpPr>
        <p:spPr>
          <a:xfrm>
            <a:off x="10197468" y="4185956"/>
            <a:ext cx="1033665" cy="466153"/>
          </a:xfrm>
          <a:prstGeom prst="rect">
            <a:avLst/>
          </a:prstGeom>
          <a:noFill/>
        </p:spPr>
        <p:txBody>
          <a:bodyPr wrap="none" lIns="0" tIns="0" rIns="0" bIns="0"/>
          <a:lstStyle/>
          <a:p>
            <a:r>
              <a:rPr lang="zh-CN" sz="1200" dirty="0">
                <a:latin typeface="Microsoft YaHei" pitchFamily="34" charset="-122"/>
                <a:ea typeface="Microsoft YaHei" pitchFamily="34" charset="-122"/>
              </a:rPr>
              <a:t>听人说瑜伽和</a:t>
            </a:r>
            <a:endParaRPr lang="en-US" altLang="zh-CN" sz="1200" dirty="0">
              <a:latin typeface="Microsoft YaHei" pitchFamily="34" charset="-122"/>
              <a:ea typeface="Microsoft YaHei" pitchFamily="34" charset="-122"/>
            </a:endParaRPr>
          </a:p>
          <a:p>
            <a:r>
              <a:rPr lang="zh-CN" sz="1200" dirty="0">
                <a:latin typeface="Microsoft YaHei" pitchFamily="34" charset="-122"/>
                <a:ea typeface="Microsoft YaHei" pitchFamily="34" charset="-122"/>
              </a:rPr>
              <a:t>中医结合</a:t>
            </a:r>
            <a:endParaRPr lang="zh-CN" sz="1200" dirty="0">
              <a:latin typeface="Microsoft YaHei" pitchFamily="34" charset="-122"/>
              <a:ea typeface="Microsoft YaHei" pitchFamily="34" charset="-122"/>
            </a:endParaRPr>
          </a:p>
          <a:p>
            <a:pPr marL="1270"/>
            <a:r>
              <a:rPr lang="zh-CN" sz="1200" dirty="0">
                <a:latin typeface="Microsoft YaHei" pitchFamily="34" charset="-122"/>
                <a:ea typeface="Microsoft YaHei" pitchFamily="34" charset="-122"/>
              </a:rPr>
              <a:t>想深入学学</a:t>
            </a:r>
            <a:endParaRPr lang="zh-CN" sz="1200" dirty="0">
              <a:latin typeface="Microsoft YaHei" pitchFamily="34" charset="-122"/>
              <a:ea typeface="Microsoft YaHei" pitchFamily="34" charset="-122"/>
            </a:endParaRPr>
          </a:p>
        </p:txBody>
      </p:sp>
      <p:sp>
        <p:nvSpPr>
          <p:cNvPr id="142" name="TextBox 49"/>
          <p:cNvSpPr txBox="1"/>
          <p:nvPr/>
        </p:nvSpPr>
        <p:spPr>
          <a:xfrm>
            <a:off x="8022572" y="4989741"/>
            <a:ext cx="1589913" cy="619220"/>
          </a:xfrm>
          <a:prstGeom prst="rect">
            <a:avLst/>
          </a:prstGeom>
          <a:noFill/>
        </p:spPr>
        <p:txBody>
          <a:bodyPr wrap="none" lIns="0" tIns="0" rIns="0" bIns="0"/>
          <a:lstStyle/>
          <a:p>
            <a:pPr algn="just">
              <a:spcBef>
                <a:spcPts val="0"/>
              </a:spcBef>
              <a:spcAft>
                <a:spcPts val="0"/>
              </a:spcAft>
            </a:pPr>
            <a:r>
              <a:rPr lang="zh-CN" altLang="en-US" sz="1200" dirty="0">
                <a:solidFill>
                  <a:srgbClr val="F16C67"/>
                </a:solidFill>
                <a:latin typeface="Microsoft YaHei" pitchFamily="34" charset="-122"/>
                <a:ea typeface="Microsoft YaHei" pitchFamily="34" charset="-122"/>
              </a:rPr>
              <a:t>生活场景</a:t>
            </a:r>
            <a:endParaRPr lang="en-US" altLang="zh-CN" sz="1200" dirty="0">
              <a:solidFill>
                <a:srgbClr val="F16C67"/>
              </a:solidFill>
              <a:latin typeface="Microsoft YaHei" pitchFamily="34" charset="-122"/>
              <a:ea typeface="Microsoft YaHei" pitchFamily="34" charset="-122"/>
            </a:endParaRPr>
          </a:p>
          <a:p>
            <a:pPr>
              <a:spcBef>
                <a:spcPts val="175"/>
              </a:spcBef>
            </a:pPr>
            <a:r>
              <a:rPr lang="zh-CN" altLang="zh-CN" sz="1200" dirty="0">
                <a:latin typeface="Microsoft YaHei" pitchFamily="34" charset="-122"/>
                <a:ea typeface="Microsoft YaHei" pitchFamily="34" charset="-122"/>
              </a:rPr>
              <a:t>别天天给我发广告烦我</a:t>
            </a:r>
            <a:endParaRPr lang="zh-CN" altLang="zh-CN" sz="1200" dirty="0">
              <a:latin typeface="Microsoft YaHei" pitchFamily="34" charset="-122"/>
              <a:ea typeface="Microsoft YaHei" pitchFamily="34" charset="-122"/>
            </a:endParaRPr>
          </a:p>
          <a:p>
            <a:pPr marL="1270"/>
            <a:r>
              <a:rPr lang="zh-CN" altLang="zh-CN" sz="1200" dirty="0">
                <a:latin typeface="Microsoft YaHei" pitchFamily="34" charset="-122"/>
                <a:ea typeface="Microsoft YaHei" pitchFamily="34" charset="-122"/>
              </a:rPr>
              <a:t>就想找个</a:t>
            </a:r>
            <a:r>
              <a:rPr lang="zh-CN" altLang="en-US" sz="1200" dirty="0">
                <a:latin typeface="Microsoft YaHei" pitchFamily="34" charset="-122"/>
                <a:ea typeface="Microsoft YaHei" pitchFamily="34" charset="-122"/>
              </a:rPr>
              <a:t>靠谱</a:t>
            </a:r>
            <a:r>
              <a:rPr lang="zh-CN" altLang="zh-CN" sz="1200" dirty="0">
                <a:latin typeface="Microsoft YaHei" pitchFamily="34" charset="-122"/>
                <a:ea typeface="Microsoft YaHei" pitchFamily="34" charset="-122"/>
              </a:rPr>
              <a:t>的老师</a:t>
            </a:r>
            <a:endParaRPr lang="zh-CN" altLang="zh-CN" sz="1200" dirty="0">
              <a:latin typeface="Microsoft YaHei" pitchFamily="34" charset="-122"/>
              <a:ea typeface="Microsoft YaHei" pitchFamily="34" charset="-122"/>
            </a:endParaRPr>
          </a:p>
        </p:txBody>
      </p:sp>
      <p:sp>
        <p:nvSpPr>
          <p:cNvPr id="143" name="TextBox 49"/>
          <p:cNvSpPr txBox="1"/>
          <p:nvPr/>
        </p:nvSpPr>
        <p:spPr>
          <a:xfrm>
            <a:off x="9935662" y="4997397"/>
            <a:ext cx="1589913" cy="619220"/>
          </a:xfrm>
          <a:prstGeom prst="rect">
            <a:avLst/>
          </a:prstGeom>
          <a:noFill/>
        </p:spPr>
        <p:txBody>
          <a:bodyPr wrap="none" lIns="0" tIns="0" rIns="0" bIns="0"/>
          <a:lstStyle/>
          <a:p>
            <a:pPr algn="just">
              <a:spcBef>
                <a:spcPts val="0"/>
              </a:spcBef>
              <a:spcAft>
                <a:spcPts val="0"/>
              </a:spcAft>
            </a:pPr>
            <a:r>
              <a:rPr lang="zh-CN" altLang="en-US" sz="1200" dirty="0">
                <a:solidFill>
                  <a:srgbClr val="F16C67"/>
                </a:solidFill>
                <a:latin typeface="Microsoft YaHei" pitchFamily="34" charset="-122"/>
                <a:ea typeface="Microsoft YaHei" pitchFamily="34" charset="-122"/>
              </a:rPr>
              <a:t>期待</a:t>
            </a:r>
            <a:endParaRPr lang="en-US" altLang="zh-CN" sz="1200" dirty="0">
              <a:solidFill>
                <a:srgbClr val="F16C67"/>
              </a:solidFill>
              <a:latin typeface="Microsoft YaHei" pitchFamily="34" charset="-122"/>
              <a:ea typeface="Microsoft YaHei" pitchFamily="34" charset="-122"/>
            </a:endParaRPr>
          </a:p>
          <a:p>
            <a:pPr algn="just">
              <a:spcBef>
                <a:spcPts val="0"/>
              </a:spcBef>
              <a:spcAft>
                <a:spcPts val="0"/>
              </a:spcAft>
            </a:pPr>
            <a:r>
              <a:rPr lang="zh-CN" altLang="en-US" sz="1200" dirty="0">
                <a:latin typeface="Microsoft YaHei" pitchFamily="34" charset="-122"/>
                <a:ea typeface="Microsoft YaHei" pitchFamily="34" charset="-122"/>
              </a:rPr>
              <a:t>就想学养生道理</a:t>
            </a:r>
            <a:endParaRPr lang="zh-CN" altLang="en-US" sz="1200" dirty="0">
              <a:latin typeface="Microsoft YaHei" pitchFamily="34" charset="-122"/>
              <a:ea typeface="Microsoft YaHei" pitchFamily="34" charset="-122"/>
            </a:endParaRPr>
          </a:p>
          <a:p>
            <a:pPr>
              <a:spcBef>
                <a:spcPts val="175"/>
              </a:spcBef>
            </a:pPr>
            <a:r>
              <a:rPr lang="zh-CN" altLang="en-US" sz="1200" dirty="0">
                <a:latin typeface="Microsoft YaHei" pitchFamily="34" charset="-122"/>
                <a:ea typeface="Microsoft YaHei" pitchFamily="34" charset="-122"/>
              </a:rPr>
              <a:t>和同好交流</a:t>
            </a:r>
            <a:endParaRPr lang="zh-CN" altLang="en-US" sz="1200" dirty="0">
              <a:latin typeface="Microsoft YaHei" pitchFamily="34" charset="-122"/>
              <a:ea typeface="Microsoft YaHei" pitchFamily="34" charset="-122"/>
            </a:endParaRPr>
          </a:p>
          <a:p>
            <a:pPr>
              <a:spcBef>
                <a:spcPts val="175"/>
              </a:spcBef>
            </a:pPr>
            <a:endParaRPr lang="zh-CN" altLang="zh-CN" sz="1200" dirty="0">
              <a:latin typeface="Microsoft YaHei" pitchFamily="34" charset="-122"/>
              <a:ea typeface="Microsoft YaHei" pitchFamily="34" charset="-122"/>
            </a:endParaRPr>
          </a:p>
        </p:txBody>
      </p:sp>
      <p:pic>
        <p:nvPicPr>
          <p:cNvPr id="144" name="Picture 19" descr="image.png"/>
          <p:cNvPicPr>
            <a:picLocks noChangeAspect="1"/>
          </p:cNvPicPr>
          <p:nvPr/>
        </p:nvPicPr>
        <p:blipFill>
          <a:blip r:embed="rId12"/>
          <a:stretch>
            <a:fillRect/>
          </a:stretch>
        </p:blipFill>
        <p:spPr>
          <a:xfrm>
            <a:off x="8949529" y="5637924"/>
            <a:ext cx="1333500" cy="314095"/>
          </a:xfrm>
          <a:prstGeom prst="rect">
            <a:avLst/>
          </a:prstGeom>
        </p:spPr>
      </p:pic>
      <p:sp>
        <p:nvSpPr>
          <p:cNvPr id="145" name="TextBox 56"/>
          <p:cNvSpPr txBox="1"/>
          <p:nvPr/>
        </p:nvSpPr>
        <p:spPr>
          <a:xfrm>
            <a:off x="9270328" y="5667319"/>
            <a:ext cx="710755" cy="160782"/>
          </a:xfrm>
          <a:prstGeom prst="rect">
            <a:avLst/>
          </a:prstGeom>
          <a:noFill/>
        </p:spPr>
        <p:txBody>
          <a:bodyPr wrap="none" lIns="0" tIns="0" rIns="0" bIns="0"/>
          <a:lstStyle/>
          <a:p>
            <a:pPr algn="ctr">
              <a:lnSpc>
                <a:spcPct val="130000"/>
              </a:lnSpc>
              <a:spcBef>
                <a:spcPts val="0"/>
              </a:spcBef>
              <a:spcAft>
                <a:spcPts val="0"/>
              </a:spcAft>
            </a:pPr>
            <a:r>
              <a:rPr lang="zh-CN" altLang="en-US" sz="1200" dirty="0">
                <a:solidFill>
                  <a:srgbClr val="982939"/>
                </a:solidFill>
                <a:latin typeface="Microsoft YaHei" pitchFamily="34" charset="-122"/>
                <a:ea typeface="Microsoft YaHei" pitchFamily="34" charset="-122"/>
              </a:rPr>
              <a:t>知识圈层交流</a:t>
            </a:r>
            <a:endParaRPr lang="zh-CN" altLang="en-US" sz="1200" dirty="0">
              <a:solidFill>
                <a:srgbClr val="982939"/>
              </a:solidFill>
              <a:latin typeface="Microsoft YaHei" pitchFamily="34" charset="-122"/>
              <a:ea typeface="Microsoft YaHei" pitchFamily="34" charset="-122"/>
            </a:endParaRPr>
          </a:p>
        </p:txBody>
      </p:sp>
    </p:spTree>
    <p:custDataLst>
      <p:tags r:id="rId1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1248" y="424815"/>
            <a:ext cx="912162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dirty="0">
                <a:latin typeface="Microsoft YaHei" pitchFamily="34" charset="-122"/>
                <a:ea typeface="Microsoft YaHei" pitchFamily="34" charset="-122"/>
              </a:rPr>
              <a:t>战役一：新用户旅程</a:t>
            </a:r>
            <a:endParaRPr lang="zh-CN" altLang="en-US" sz="3200" dirty="0">
              <a:latin typeface="Microsoft YaHei" pitchFamily="34" charset="-122"/>
              <a:ea typeface="Microsoft YaHei" pitchFamily="34" charset="-122"/>
            </a:endParaRPr>
          </a:p>
        </p:txBody>
      </p:sp>
      <p:pic>
        <p:nvPicPr>
          <p:cNvPr id="7" name="Picture 3" descr="image.png"/>
          <p:cNvPicPr>
            <a:picLocks noChangeAspect="1"/>
          </p:cNvPicPr>
          <p:nvPr/>
        </p:nvPicPr>
        <p:blipFill>
          <a:blip r:embed="rId1"/>
          <a:stretch>
            <a:fillRect/>
          </a:stretch>
        </p:blipFill>
        <p:spPr>
          <a:xfrm>
            <a:off x="1186923" y="4413753"/>
            <a:ext cx="10343102" cy="323817"/>
          </a:xfrm>
          <a:prstGeom prst="rect">
            <a:avLst/>
          </a:prstGeom>
        </p:spPr>
      </p:pic>
      <p:pic>
        <p:nvPicPr>
          <p:cNvPr id="11" name="Picture 7" descr="image.png"/>
          <p:cNvPicPr>
            <a:picLocks noChangeAspect="1"/>
          </p:cNvPicPr>
          <p:nvPr/>
        </p:nvPicPr>
        <p:blipFill>
          <a:blip r:embed="rId2"/>
          <a:stretch>
            <a:fillRect/>
          </a:stretch>
        </p:blipFill>
        <p:spPr>
          <a:xfrm>
            <a:off x="4084365" y="4747874"/>
            <a:ext cx="643348" cy="595693"/>
          </a:xfrm>
          <a:prstGeom prst="rect">
            <a:avLst/>
          </a:prstGeom>
        </p:spPr>
      </p:pic>
      <p:pic>
        <p:nvPicPr>
          <p:cNvPr id="12" name="Picture 8" descr="image.png"/>
          <p:cNvPicPr>
            <a:picLocks noChangeAspect="1"/>
          </p:cNvPicPr>
          <p:nvPr/>
        </p:nvPicPr>
        <p:blipFill>
          <a:blip r:embed="rId3"/>
          <a:stretch>
            <a:fillRect/>
          </a:stretch>
        </p:blipFill>
        <p:spPr>
          <a:xfrm>
            <a:off x="2737120" y="3819473"/>
            <a:ext cx="622166" cy="550926"/>
          </a:xfrm>
          <a:prstGeom prst="rect">
            <a:avLst/>
          </a:prstGeom>
        </p:spPr>
      </p:pic>
      <p:pic>
        <p:nvPicPr>
          <p:cNvPr id="13" name="Picture 9" descr="image.png"/>
          <p:cNvPicPr>
            <a:picLocks noChangeAspect="1"/>
          </p:cNvPicPr>
          <p:nvPr/>
        </p:nvPicPr>
        <p:blipFill>
          <a:blip r:embed="rId4"/>
          <a:stretch>
            <a:fillRect/>
          </a:stretch>
        </p:blipFill>
        <p:spPr>
          <a:xfrm>
            <a:off x="8722281" y="3848143"/>
            <a:ext cx="543234" cy="500348"/>
          </a:xfrm>
          <a:prstGeom prst="rect">
            <a:avLst/>
          </a:prstGeom>
        </p:spPr>
      </p:pic>
      <p:sp>
        <p:nvSpPr>
          <p:cNvPr id="14" name="TextBox 12"/>
          <p:cNvSpPr txBox="1"/>
          <p:nvPr/>
        </p:nvSpPr>
        <p:spPr>
          <a:xfrm>
            <a:off x="8825401" y="3978254"/>
            <a:ext cx="274034" cy="225075"/>
          </a:xfrm>
          <a:prstGeom prst="rect">
            <a:avLst/>
          </a:prstGeom>
          <a:noFill/>
        </p:spPr>
        <p:txBody>
          <a:bodyPr wrap="none" lIns="0" tIns="0" rIns="0" bIns="0"/>
          <a:lstStyle/>
          <a:p>
            <a:pPr algn="just">
              <a:lnSpc>
                <a:spcPct val="118000"/>
              </a:lnSpc>
              <a:spcBef>
                <a:spcPts val="0"/>
              </a:spcBef>
              <a:spcAft>
                <a:spcPts val="0"/>
              </a:spcAft>
            </a:pPr>
            <a:r>
              <a:rPr sz="1500">
                <a:solidFill>
                  <a:srgbClr val="FCF5F7"/>
                </a:solidFill>
                <a:latin typeface="Microsoft YaHei" pitchFamily="34" charset="-122"/>
                <a:ea typeface="Microsoft YaHei" pitchFamily="34" charset="-122"/>
              </a:rPr>
              <a:t>三</a:t>
            </a:r>
            <a:endParaRPr sz="1500">
              <a:solidFill>
                <a:srgbClr val="FCF5F7"/>
              </a:solidFill>
              <a:latin typeface="Microsoft YaHei" pitchFamily="34" charset="-122"/>
              <a:ea typeface="Microsoft YaHei" pitchFamily="34" charset="-122"/>
            </a:endParaRPr>
          </a:p>
        </p:txBody>
      </p:sp>
      <p:sp>
        <p:nvSpPr>
          <p:cNvPr id="15" name="TextBox 13"/>
          <p:cNvSpPr txBox="1"/>
          <p:nvPr/>
        </p:nvSpPr>
        <p:spPr>
          <a:xfrm>
            <a:off x="425284" y="3247297"/>
            <a:ext cx="5467543" cy="727137"/>
          </a:xfrm>
          <a:prstGeom prst="rect">
            <a:avLst/>
          </a:prstGeom>
          <a:noFill/>
        </p:spPr>
        <p:txBody>
          <a:bodyPr wrap="none" lIns="0" tIns="0" rIns="0" bIns="0"/>
          <a:lstStyle/>
          <a:p>
            <a:pPr algn="just">
              <a:lnSpc>
                <a:spcPct val="113000"/>
              </a:lnSpc>
              <a:spcBef>
                <a:spcPts val="0"/>
              </a:spcBef>
              <a:spcAft>
                <a:spcPts val="0"/>
              </a:spcAft>
            </a:pP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新用户全生命</a:t>
            </a:r>
            <a:r>
              <a:rPr lang="zh-CN" altLang="en-US" dirty="0">
                <a:solidFill>
                  <a:srgbClr val="820506"/>
                </a:solidFill>
                <a:latin typeface="Microsoft YaHei" pitchFamily="34" charset="-122"/>
                <a:ea typeface="Microsoft YaHei" pitchFamily="34" charset="-122"/>
              </a:rPr>
              <a:t>周期</a:t>
            </a: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标准化</a:t>
            </a:r>
            <a:r>
              <a:rPr lang="en-GB" altLang="zh-CN" dirty="0">
                <a:solidFill>
                  <a:srgbClr val="820506"/>
                </a:solidFill>
                <a:latin typeface="Microsoft YaHei" pitchFamily="34" charset="-122"/>
                <a:ea typeface="Microsoft YaHei" pitchFamily="34" charset="-122"/>
              </a:rPr>
              <a:t>day1-30</a:t>
            </a:r>
            <a:r>
              <a:rPr lang="zh-CN" altLang="en-US" sz="1800" dirty="0">
                <a:solidFill>
                  <a:srgbClr val="820506"/>
                </a:solidFill>
                <a:latin typeface="Microsoft YaHei" pitchFamily="34" charset="-122"/>
                <a:ea typeface="Microsoft YaHei" pitchFamily="34" charset="-122"/>
              </a:rPr>
              <a:t>，形成周节律</a:t>
            </a:r>
            <a:endParaRPr lang="zh-CN" altLang="en-US" sz="1800" dirty="0">
              <a:solidFill>
                <a:srgbClr val="820506"/>
              </a:solidFill>
              <a:latin typeface="Microsoft YaHei" pitchFamily="34" charset="-122"/>
              <a:ea typeface="Microsoft YaHei" pitchFamily="34" charset="-122"/>
            </a:endParaRPr>
          </a:p>
          <a:p>
            <a:pPr algn="just">
              <a:lnSpc>
                <a:spcPct val="113000"/>
              </a:lnSpc>
              <a:spcBef>
                <a:spcPts val="0"/>
              </a:spcBef>
              <a:spcAft>
                <a:spcPts val="0"/>
              </a:spcAft>
            </a:pPr>
            <a:r>
              <a:rPr lang="zh-CN" altLang="en-US" sz="1800" dirty="0">
                <a:solidFill>
                  <a:srgbClr val="820506"/>
                </a:solidFill>
                <a:latin typeface="Microsoft YaHei" pitchFamily="34" charset="-122"/>
                <a:ea typeface="Microsoft YaHei" pitchFamily="34" charset="-122"/>
              </a:rPr>
              <a:t>运营，固定“学</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练</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晒</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评</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荐”节律（植入权益）</a:t>
            </a:r>
            <a:endParaRPr lang="zh-CN" altLang="en-US" sz="1800" dirty="0">
              <a:solidFill>
                <a:srgbClr val="820506"/>
              </a:solidFill>
              <a:latin typeface="Microsoft YaHei" pitchFamily="34" charset="-122"/>
              <a:ea typeface="Microsoft YaHei" pitchFamily="34" charset="-122"/>
            </a:endParaRPr>
          </a:p>
        </p:txBody>
      </p:sp>
      <p:sp>
        <p:nvSpPr>
          <p:cNvPr id="17" name="TextBox 15"/>
          <p:cNvSpPr txBox="1"/>
          <p:nvPr/>
        </p:nvSpPr>
        <p:spPr>
          <a:xfrm>
            <a:off x="1785664" y="5472346"/>
            <a:ext cx="5033581" cy="482155"/>
          </a:xfrm>
          <a:prstGeom prst="rect">
            <a:avLst/>
          </a:prstGeom>
          <a:noFill/>
        </p:spPr>
        <p:txBody>
          <a:bodyPr wrap="none" lIns="0" tIns="0" rIns="0" bIns="0"/>
          <a:lstStyle/>
          <a:p>
            <a:pPr marL="171450" indent="-171450">
              <a:lnSpc>
                <a:spcPct val="150000"/>
              </a:lnSpc>
              <a:buClr>
                <a:schemeClr val="accent1"/>
              </a:buClr>
              <a:buFont typeface="Arial" panose="020B0604020202090204" pitchFamily="34" charset="0"/>
              <a:buChar char="•"/>
            </a:pPr>
            <a:endParaRPr lang="en-US" altLang="zh-CN" sz="2800" dirty="0">
              <a:solidFill>
                <a:schemeClr val="tx2"/>
              </a:solidFill>
              <a:latin typeface="Microsoft YaHei" pitchFamily="34" charset="-122"/>
              <a:ea typeface="Microsoft YaHei" pitchFamily="34" charset="-122"/>
            </a:endParaRPr>
          </a:p>
        </p:txBody>
      </p:sp>
      <p:sp>
        <p:nvSpPr>
          <p:cNvPr id="22" name="TextBox 20"/>
          <p:cNvSpPr txBox="1"/>
          <p:nvPr/>
        </p:nvSpPr>
        <p:spPr>
          <a:xfrm>
            <a:off x="7600554" y="5289577"/>
            <a:ext cx="3191212" cy="869171"/>
          </a:xfrm>
          <a:prstGeom prst="rect">
            <a:avLst/>
          </a:prstGeom>
          <a:noFill/>
        </p:spPr>
        <p:txBody>
          <a:bodyPr wrap="none" lIns="0" tIns="0" rIns="0" bIns="0"/>
          <a:lstStyle/>
          <a:p>
            <a:pPr algn="ctr">
              <a:spcBef>
                <a:spcPts val="0"/>
              </a:spcBef>
              <a:spcAft>
                <a:spcPts val="0"/>
              </a:spcAft>
            </a:pPr>
            <a:r>
              <a:rPr sz="2400" dirty="0" err="1">
                <a:solidFill>
                  <a:srgbClr val="880507"/>
                </a:solidFill>
                <a:latin typeface="Microsoft YaHei" pitchFamily="34" charset="-122"/>
                <a:ea typeface="Microsoft YaHei" pitchFamily="34" charset="-122"/>
              </a:rPr>
              <a:t>从试点到全量,实现私域</a:t>
            </a:r>
            <a:endParaRPr lang="en-US" sz="2400" dirty="0">
              <a:solidFill>
                <a:srgbClr val="880507"/>
              </a:solidFill>
              <a:latin typeface="Microsoft YaHei" pitchFamily="34" charset="-122"/>
              <a:ea typeface="Microsoft YaHei" pitchFamily="34" charset="-122"/>
            </a:endParaRPr>
          </a:p>
          <a:p>
            <a:pPr algn="ctr">
              <a:spcBef>
                <a:spcPts val="0"/>
              </a:spcBef>
              <a:spcAft>
                <a:spcPts val="0"/>
              </a:spcAft>
            </a:pPr>
            <a:r>
              <a:rPr lang="zh-CN" sz="2400" dirty="0">
                <a:latin typeface="Microsoft YaHei" pitchFamily="34" charset="-122"/>
                <a:ea typeface="Microsoft YaHei" pitchFamily="34" charset="-122"/>
              </a:rPr>
              <a:t>用户旅程重构</a:t>
            </a:r>
            <a:endParaRPr lang="zh-CN" sz="2400" dirty="0">
              <a:latin typeface="Microsoft YaHei" pitchFamily="34" charset="-122"/>
              <a:ea typeface="Microsoft YaHei" pitchFamily="34" charset="-122"/>
            </a:endParaRPr>
          </a:p>
        </p:txBody>
      </p:sp>
      <p:grpSp>
        <p:nvGrpSpPr>
          <p:cNvPr id="32" name="组合 31"/>
          <p:cNvGrpSpPr/>
          <p:nvPr/>
        </p:nvGrpSpPr>
        <p:grpSpPr>
          <a:xfrm>
            <a:off x="7202237" y="384061"/>
            <a:ext cx="3880220" cy="2781776"/>
            <a:chOff x="7638909" y="3156082"/>
            <a:chExt cx="3880220" cy="2781776"/>
          </a:xfrm>
        </p:grpSpPr>
        <p:pic>
          <p:nvPicPr>
            <p:cNvPr id="6" name="Picture 2" descr="image.png"/>
            <p:cNvPicPr>
              <a:picLocks noChangeAspect="1"/>
            </p:cNvPicPr>
            <p:nvPr/>
          </p:nvPicPr>
          <p:blipFill>
            <a:blip r:embed="rId5"/>
            <a:stretch>
              <a:fillRect/>
            </a:stretch>
          </p:blipFill>
          <p:spPr>
            <a:xfrm>
              <a:off x="7638909" y="3156082"/>
              <a:ext cx="3880220" cy="2781776"/>
            </a:xfrm>
            <a:prstGeom prst="rect">
              <a:avLst/>
            </a:prstGeom>
          </p:spPr>
        </p:pic>
        <p:pic>
          <p:nvPicPr>
            <p:cNvPr id="8" name="Picture 4" descr="image.png"/>
            <p:cNvPicPr>
              <a:picLocks noChangeAspect="1"/>
            </p:cNvPicPr>
            <p:nvPr/>
          </p:nvPicPr>
          <p:blipFill>
            <a:blip r:embed="rId6"/>
            <a:stretch>
              <a:fillRect/>
            </a:stretch>
          </p:blipFill>
          <p:spPr>
            <a:xfrm>
              <a:off x="9072099" y="4056664"/>
              <a:ext cx="1015841" cy="982612"/>
            </a:xfrm>
            <a:prstGeom prst="rect">
              <a:avLst/>
            </a:prstGeom>
          </p:spPr>
        </p:pic>
        <p:pic>
          <p:nvPicPr>
            <p:cNvPr id="9" name="Picture 5" descr="image.png"/>
            <p:cNvPicPr>
              <a:picLocks noChangeAspect="1"/>
            </p:cNvPicPr>
            <p:nvPr/>
          </p:nvPicPr>
          <p:blipFill>
            <a:blip r:embed="rId7"/>
            <a:stretch>
              <a:fillRect/>
            </a:stretch>
          </p:blipFill>
          <p:spPr>
            <a:xfrm>
              <a:off x="7946911" y="4050796"/>
              <a:ext cx="1002601" cy="988346"/>
            </a:xfrm>
            <a:prstGeom prst="rect">
              <a:avLst/>
            </a:prstGeom>
          </p:spPr>
        </p:pic>
        <p:pic>
          <p:nvPicPr>
            <p:cNvPr id="10" name="Picture 6" descr="image.png"/>
            <p:cNvPicPr>
              <a:picLocks noChangeAspect="1"/>
            </p:cNvPicPr>
            <p:nvPr/>
          </p:nvPicPr>
          <p:blipFill>
            <a:blip r:embed="rId8"/>
            <a:stretch>
              <a:fillRect/>
            </a:stretch>
          </p:blipFill>
          <p:spPr>
            <a:xfrm>
              <a:off x="10230718" y="4050796"/>
              <a:ext cx="997720" cy="988218"/>
            </a:xfrm>
            <a:prstGeom prst="rect">
              <a:avLst/>
            </a:prstGeom>
          </p:spPr>
        </p:pic>
        <p:sp>
          <p:nvSpPr>
            <p:cNvPr id="16" name="TextBox 14"/>
            <p:cNvSpPr txBox="1"/>
            <p:nvPr/>
          </p:nvSpPr>
          <p:spPr>
            <a:xfrm>
              <a:off x="8883218" y="3251237"/>
              <a:ext cx="1330547" cy="257175"/>
            </a:xfrm>
            <a:prstGeom prst="rect">
              <a:avLst/>
            </a:prstGeom>
            <a:noFill/>
          </p:spPr>
          <p:txBody>
            <a:bodyPr wrap="none" lIns="0" tIns="0" rIns="0" bIns="0"/>
            <a:lstStyle/>
            <a:p>
              <a:pPr algn="ctr">
                <a:lnSpc>
                  <a:spcPct val="123000"/>
                </a:lnSpc>
                <a:spcBef>
                  <a:spcPts val="0"/>
                </a:spcBef>
                <a:spcAft>
                  <a:spcPts val="0"/>
                </a:spcAft>
              </a:pPr>
              <a:r>
                <a:rPr lang="zh-CN" altLang="en-US" sz="1650" dirty="0">
                  <a:solidFill>
                    <a:srgbClr val="FFFFFF"/>
                  </a:solidFill>
                  <a:latin typeface="Microsoft YaHei" pitchFamily="34" charset="-122"/>
                  <a:ea typeface="Microsoft YaHei" pitchFamily="34" charset="-122"/>
                </a:rPr>
                <a:t>北极星指标</a:t>
              </a:r>
              <a:endParaRPr sz="1650" dirty="0">
                <a:solidFill>
                  <a:srgbClr val="FFFFFF"/>
                </a:solidFill>
                <a:latin typeface="Microsoft YaHei" pitchFamily="34" charset="-122"/>
                <a:ea typeface="Microsoft YaHei" pitchFamily="34" charset="-122"/>
              </a:endParaRPr>
            </a:p>
          </p:txBody>
        </p:sp>
        <p:sp>
          <p:nvSpPr>
            <p:cNvPr id="19" name="TextBox 17"/>
            <p:cNvSpPr txBox="1"/>
            <p:nvPr/>
          </p:nvSpPr>
          <p:spPr>
            <a:xfrm>
              <a:off x="8150555" y="4384045"/>
              <a:ext cx="539305" cy="257175"/>
            </a:xfrm>
            <a:prstGeom prst="rect">
              <a:avLst/>
            </a:prstGeom>
            <a:noFill/>
          </p:spPr>
          <p:txBody>
            <a:bodyPr wrap="none" lIns="0" tIns="0" rIns="0" bIns="0"/>
            <a:lstStyle/>
            <a:p>
              <a:pPr algn="ctr">
                <a:lnSpc>
                  <a:spcPct val="113000"/>
                </a:lnSpc>
                <a:spcBef>
                  <a:spcPts val="0"/>
                </a:spcBef>
                <a:spcAft>
                  <a:spcPts val="0"/>
                </a:spcAft>
              </a:pPr>
              <a:r>
                <a:rPr lang="en-US" altLang="zh-CN" sz="1800" dirty="0">
                  <a:solidFill>
                    <a:srgbClr val="191B20"/>
                  </a:solidFill>
                  <a:latin typeface="Microsoft YaHei" pitchFamily="34" charset="-122"/>
                  <a:ea typeface="Microsoft YaHei" pitchFamily="34" charset="-122"/>
                </a:rPr>
                <a:t>60</a:t>
              </a:r>
              <a:endParaRPr sz="1800" dirty="0">
                <a:solidFill>
                  <a:srgbClr val="191B20"/>
                </a:solidFill>
                <a:latin typeface="Microsoft YaHei" pitchFamily="34" charset="-122"/>
                <a:ea typeface="Microsoft YaHei" pitchFamily="34" charset="-122"/>
              </a:endParaRPr>
            </a:p>
          </p:txBody>
        </p:sp>
        <p:sp>
          <p:nvSpPr>
            <p:cNvPr id="20" name="TextBox 18"/>
            <p:cNvSpPr txBox="1"/>
            <p:nvPr/>
          </p:nvSpPr>
          <p:spPr>
            <a:xfrm>
              <a:off x="9322892" y="4384045"/>
              <a:ext cx="509968" cy="257175"/>
            </a:xfrm>
            <a:prstGeom prst="rect">
              <a:avLst/>
            </a:prstGeom>
            <a:noFill/>
          </p:spPr>
          <p:txBody>
            <a:bodyPr wrap="none" lIns="0" tIns="0" rIns="0" bIns="0"/>
            <a:lstStyle/>
            <a:p>
              <a:pPr algn="ctr">
                <a:lnSpc>
                  <a:spcPct val="113000"/>
                </a:lnSpc>
                <a:spcBef>
                  <a:spcPts val="0"/>
                </a:spcBef>
                <a:spcAft>
                  <a:spcPts val="0"/>
                </a:spcAft>
              </a:pPr>
              <a:r>
                <a:rPr lang="en-US" altLang="zh-CN" sz="1800" dirty="0">
                  <a:solidFill>
                    <a:srgbClr val="191B20"/>
                  </a:solidFill>
                  <a:latin typeface="Microsoft YaHei" pitchFamily="34" charset="-122"/>
                  <a:ea typeface="Microsoft YaHei" pitchFamily="34" charset="-122"/>
                </a:rPr>
                <a:t>90</a:t>
              </a:r>
              <a:r>
                <a:rPr sz="1800" dirty="0">
                  <a:solidFill>
                    <a:srgbClr val="191B20"/>
                  </a:solidFill>
                  <a:latin typeface="Microsoft YaHei" pitchFamily="34" charset="-122"/>
                  <a:ea typeface="Microsoft YaHei" pitchFamily="34" charset="-122"/>
                </a:rPr>
                <a:t>%</a:t>
              </a:r>
              <a:endParaRPr sz="1800" dirty="0">
                <a:solidFill>
                  <a:srgbClr val="191B20"/>
                </a:solidFill>
                <a:latin typeface="Microsoft YaHei" pitchFamily="34" charset="-122"/>
                <a:ea typeface="Microsoft YaHei" pitchFamily="34" charset="-122"/>
              </a:endParaRPr>
            </a:p>
          </p:txBody>
        </p:sp>
        <p:sp>
          <p:nvSpPr>
            <p:cNvPr id="21" name="TextBox 19"/>
            <p:cNvSpPr txBox="1"/>
            <p:nvPr/>
          </p:nvSpPr>
          <p:spPr>
            <a:xfrm>
              <a:off x="10407218" y="4384045"/>
              <a:ext cx="568547" cy="257175"/>
            </a:xfrm>
            <a:prstGeom prst="rect">
              <a:avLst/>
            </a:prstGeom>
            <a:noFill/>
          </p:spPr>
          <p:txBody>
            <a:bodyPr wrap="none" lIns="0" tIns="0" rIns="0" bIns="0"/>
            <a:lstStyle/>
            <a:p>
              <a:pPr algn="ctr">
                <a:lnSpc>
                  <a:spcPct val="113000"/>
                </a:lnSpc>
                <a:spcBef>
                  <a:spcPts val="0"/>
                </a:spcBef>
                <a:spcAft>
                  <a:spcPts val="0"/>
                </a:spcAft>
              </a:pPr>
              <a:r>
                <a:rPr lang="en-US" altLang="zh-CN" dirty="0">
                  <a:latin typeface="Microsoft YaHei" pitchFamily="34" charset="-122"/>
                  <a:ea typeface="Microsoft YaHei" pitchFamily="34" charset="-122"/>
                </a:rPr>
                <a:t>85%</a:t>
              </a:r>
              <a:endParaRPr sz="1800" dirty="0">
                <a:latin typeface="Microsoft YaHei" pitchFamily="34" charset="-122"/>
                <a:ea typeface="Microsoft YaHei" pitchFamily="34" charset="-122"/>
              </a:endParaRPr>
            </a:p>
          </p:txBody>
        </p:sp>
        <p:sp>
          <p:nvSpPr>
            <p:cNvPr id="23" name="TextBox 21"/>
            <p:cNvSpPr txBox="1"/>
            <p:nvPr/>
          </p:nvSpPr>
          <p:spPr>
            <a:xfrm>
              <a:off x="7974724" y="5088228"/>
              <a:ext cx="882110" cy="470820"/>
            </a:xfrm>
            <a:prstGeom prst="rect">
              <a:avLst/>
            </a:prstGeom>
            <a:noFill/>
          </p:spPr>
          <p:txBody>
            <a:bodyPr wrap="none" lIns="0" tIns="0" rIns="0" bIns="0"/>
            <a:lstStyle/>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新用户</a:t>
              </a:r>
              <a:r>
                <a:rPr lang="en-US" altLang="zh-CN" sz="1535" dirty="0">
                  <a:solidFill>
                    <a:srgbClr val="191A20"/>
                  </a:solidFill>
                  <a:latin typeface="Microsoft YaHei" pitchFamily="34" charset="-122"/>
                  <a:ea typeface="Microsoft YaHei" pitchFamily="34" charset="-122"/>
                </a:rPr>
                <a:t>LTV</a:t>
              </a:r>
              <a:endParaRPr lang="en-US" altLang="zh-CN" sz="1535" dirty="0">
                <a:solidFill>
                  <a:srgbClr val="191A20"/>
                </a:solidFill>
                <a:latin typeface="Microsoft YaHei" pitchFamily="34" charset="-122"/>
                <a:ea typeface="Microsoft YaHei" pitchFamily="34" charset="-122"/>
              </a:endParaRPr>
            </a:p>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达</a:t>
              </a:r>
              <a:r>
                <a:rPr lang="en-US" altLang="zh-CN" sz="1535" dirty="0">
                  <a:solidFill>
                    <a:srgbClr val="191A20"/>
                  </a:solidFill>
                  <a:latin typeface="Microsoft YaHei" pitchFamily="34" charset="-122"/>
                  <a:ea typeface="Microsoft YaHei" pitchFamily="34" charset="-122"/>
                </a:rPr>
                <a:t>60</a:t>
              </a:r>
              <a:endParaRPr lang="en-US" altLang="zh-CN" sz="1535" dirty="0">
                <a:latin typeface="Microsoft YaHei" pitchFamily="34" charset="-122"/>
                <a:ea typeface="Microsoft YaHei" pitchFamily="34" charset="-122"/>
              </a:endParaRPr>
            </a:p>
          </p:txBody>
        </p:sp>
        <p:sp>
          <p:nvSpPr>
            <p:cNvPr id="24" name="TextBox 22"/>
            <p:cNvSpPr txBox="1"/>
            <p:nvPr/>
          </p:nvSpPr>
          <p:spPr>
            <a:xfrm>
              <a:off x="9059145" y="5088228"/>
              <a:ext cx="1008221" cy="470820"/>
            </a:xfrm>
            <a:prstGeom prst="rect">
              <a:avLst/>
            </a:prstGeom>
            <a:noFill/>
          </p:spPr>
          <p:txBody>
            <a:bodyPr wrap="none" lIns="0" tIns="0" rIns="0" bIns="0"/>
            <a:lstStyle/>
            <a:p>
              <a:pPr algn="ctr">
                <a:spcBef>
                  <a:spcPts val="0"/>
                </a:spcBef>
                <a:spcAft>
                  <a:spcPts val="0"/>
                </a:spcAft>
              </a:pPr>
              <a:r>
                <a:rPr sz="1535" dirty="0">
                  <a:solidFill>
                    <a:srgbClr val="191A20"/>
                  </a:solidFill>
                  <a:latin typeface="Microsoft YaHei" pitchFamily="34" charset="-122"/>
                  <a:ea typeface="Microsoft YaHei" pitchFamily="34" charset="-122"/>
                </a:rPr>
                <a:t>day15留存</a:t>
              </a:r>
              <a:endParaRPr sz="1535" dirty="0">
                <a:solidFill>
                  <a:srgbClr val="191A20"/>
                </a:solidFill>
                <a:latin typeface="Microsoft YaHei" pitchFamily="34" charset="-122"/>
                <a:ea typeface="Microsoft YaHei" pitchFamily="34" charset="-122"/>
              </a:endParaRPr>
            </a:p>
            <a:p>
              <a:pPr marL="147320"/>
              <a:r>
                <a:rPr lang="zh-CN" sz="1535" dirty="0">
                  <a:latin typeface="Microsoft YaHei" pitchFamily="34" charset="-122"/>
                  <a:ea typeface="Microsoft YaHei" pitchFamily="34" charset="-122"/>
                </a:rPr>
                <a:t>≥</a:t>
              </a:r>
              <a:r>
                <a:rPr lang="en-US" altLang="zh-CN" sz="1535" dirty="0">
                  <a:latin typeface="Microsoft YaHei" pitchFamily="34" charset="-122"/>
                  <a:ea typeface="Microsoft YaHei" pitchFamily="34" charset="-122"/>
                </a:rPr>
                <a:t>90</a:t>
              </a:r>
              <a:r>
                <a:rPr lang="zh-CN" sz="1535" dirty="0">
                  <a:latin typeface="Microsoft YaHei" pitchFamily="34" charset="-122"/>
                  <a:ea typeface="Microsoft YaHei" pitchFamily="34" charset="-122"/>
                </a:rPr>
                <a:t>%</a:t>
              </a:r>
              <a:endParaRPr lang="zh-CN" sz="1535" dirty="0">
                <a:latin typeface="Microsoft YaHei" pitchFamily="34" charset="-122"/>
                <a:ea typeface="Microsoft YaHei" pitchFamily="34" charset="-122"/>
              </a:endParaRPr>
            </a:p>
          </p:txBody>
        </p:sp>
        <p:sp>
          <p:nvSpPr>
            <p:cNvPr id="25" name="TextBox 23"/>
            <p:cNvSpPr txBox="1"/>
            <p:nvPr/>
          </p:nvSpPr>
          <p:spPr>
            <a:xfrm>
              <a:off x="10172808" y="5088228"/>
              <a:ext cx="1008221" cy="470820"/>
            </a:xfrm>
            <a:prstGeom prst="rect">
              <a:avLst/>
            </a:prstGeom>
            <a:noFill/>
          </p:spPr>
          <p:txBody>
            <a:bodyPr wrap="none" lIns="0" tIns="0" rIns="0" bIns="0"/>
            <a:lstStyle/>
            <a:p>
              <a:pPr algn="ctr">
                <a:spcBef>
                  <a:spcPts val="0"/>
                </a:spcBef>
                <a:spcAft>
                  <a:spcPts val="0"/>
                </a:spcAft>
              </a:pPr>
              <a:r>
                <a:rPr lang="en-US" altLang="zh-CN" sz="1500" dirty="0">
                  <a:latin typeface="Microsoft YaHei" pitchFamily="34" charset="-122"/>
                  <a:ea typeface="Microsoft YaHei" pitchFamily="34" charset="-122"/>
                </a:rPr>
                <a:t>Day30</a:t>
              </a:r>
              <a:r>
                <a:rPr lang="zh-CN" altLang="en-US" sz="1500" dirty="0">
                  <a:latin typeface="Microsoft YaHei" pitchFamily="34" charset="-122"/>
                  <a:ea typeface="Microsoft YaHei" pitchFamily="34" charset="-122"/>
                </a:rPr>
                <a:t>留存</a:t>
              </a:r>
              <a:endParaRPr lang="en-US" altLang="zh-CN" sz="1500" dirty="0">
                <a:latin typeface="Microsoft YaHei" pitchFamily="34" charset="-122"/>
                <a:ea typeface="Microsoft YaHei" pitchFamily="34" charset="-122"/>
              </a:endParaRPr>
            </a:p>
            <a:p>
              <a:pPr algn="ctr"/>
              <a:r>
                <a:rPr lang="zh-CN" altLang="zh-CN" sz="1400" dirty="0">
                  <a:latin typeface="Microsoft YaHei" pitchFamily="34" charset="-122"/>
                  <a:ea typeface="Microsoft YaHei" pitchFamily="34" charset="-122"/>
                </a:rPr>
                <a:t>≥</a:t>
              </a:r>
              <a:r>
                <a:rPr lang="en-US" altLang="zh-CN" sz="1400" dirty="0">
                  <a:latin typeface="Microsoft YaHei" pitchFamily="34" charset="-122"/>
                  <a:ea typeface="Microsoft YaHei" pitchFamily="34" charset="-122"/>
                </a:rPr>
                <a:t>85</a:t>
              </a:r>
              <a:r>
                <a:rPr lang="zh-CN" altLang="zh-CN" sz="1400" dirty="0">
                  <a:latin typeface="Microsoft YaHei" pitchFamily="34" charset="-122"/>
                  <a:ea typeface="Microsoft YaHei" pitchFamily="34" charset="-122"/>
                </a:rPr>
                <a:t>%</a:t>
              </a:r>
              <a:endParaRPr lang="zh-CN" altLang="zh-CN" sz="1400" dirty="0">
                <a:latin typeface="Microsoft YaHei" pitchFamily="34" charset="-122"/>
                <a:ea typeface="Microsoft YaHei" pitchFamily="34" charset="-122"/>
              </a:endParaRPr>
            </a:p>
            <a:p>
              <a:pPr algn="ctr">
                <a:spcBef>
                  <a:spcPts val="0"/>
                </a:spcBef>
                <a:spcAft>
                  <a:spcPts val="0"/>
                </a:spcAft>
              </a:pPr>
              <a:endParaRPr lang="zh-CN" sz="1500" dirty="0">
                <a:latin typeface="Microsoft YaHei" pitchFamily="34" charset="-122"/>
                <a:ea typeface="Microsoft YaHei" pitchFamily="34" charset="-122"/>
              </a:endParaRPr>
            </a:p>
          </p:txBody>
        </p:sp>
      </p:grpSp>
      <p:sp>
        <p:nvSpPr>
          <p:cNvPr id="26" name="TextBox 13"/>
          <p:cNvSpPr txBox="1"/>
          <p:nvPr/>
        </p:nvSpPr>
        <p:spPr>
          <a:xfrm>
            <a:off x="577827" y="5475558"/>
            <a:ext cx="5467543" cy="727137"/>
          </a:xfrm>
          <a:prstGeom prst="rect">
            <a:avLst/>
          </a:prstGeom>
          <a:noFill/>
        </p:spPr>
        <p:txBody>
          <a:bodyPr wrap="none" lIns="0" tIns="0" rIns="0" bIns="0"/>
          <a:lstStyle/>
          <a:p>
            <a:pPr algn="just">
              <a:lnSpc>
                <a:spcPct val="113000"/>
              </a:lnSpc>
              <a:spcBef>
                <a:spcPts val="0"/>
              </a:spcBef>
              <a:spcAft>
                <a:spcPts val="0"/>
              </a:spcAft>
            </a:pP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日常大课场景重塑</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结合</a:t>
            </a:r>
            <a:r>
              <a:rPr lang="en-GB" altLang="zh-CN" sz="1800" dirty="0">
                <a:solidFill>
                  <a:srgbClr val="820506"/>
                </a:solidFill>
                <a:latin typeface="Microsoft YaHei" pitchFamily="34" charset="-122"/>
                <a:ea typeface="Microsoft YaHei" pitchFamily="34" charset="-122"/>
              </a:rPr>
              <a:t>CDP</a:t>
            </a:r>
            <a:r>
              <a:rPr lang="zh-CN" altLang="en-US" sz="1800" dirty="0">
                <a:solidFill>
                  <a:srgbClr val="820506"/>
                </a:solidFill>
                <a:latin typeface="Microsoft YaHei" pitchFamily="34" charset="-122"/>
                <a:ea typeface="Microsoft YaHei" pitchFamily="34" charset="-122"/>
              </a:rPr>
              <a:t>画像标签“实时行为</a:t>
            </a:r>
            <a:r>
              <a:rPr lang="en-US" altLang="zh-CN" sz="1800" dirty="0">
                <a:solidFill>
                  <a:srgbClr val="820506"/>
                </a:solidFill>
                <a:latin typeface="Microsoft YaHei" pitchFamily="34" charset="-122"/>
                <a:ea typeface="Microsoft YaHei" pitchFamily="34" charset="-122"/>
              </a:rPr>
              <a:t>+</a:t>
            </a:r>
            <a:endParaRPr lang="en-US" altLang="zh-CN" sz="1800" dirty="0">
              <a:solidFill>
                <a:srgbClr val="820506"/>
              </a:solidFill>
              <a:latin typeface="Microsoft YaHei" pitchFamily="34" charset="-122"/>
              <a:ea typeface="Microsoft YaHei" pitchFamily="34" charset="-122"/>
            </a:endParaRPr>
          </a:p>
          <a:p>
            <a:pPr algn="just">
              <a:lnSpc>
                <a:spcPct val="113000"/>
              </a:lnSpc>
              <a:spcBef>
                <a:spcPts val="0"/>
              </a:spcBef>
              <a:spcAft>
                <a:spcPts val="0"/>
              </a:spcAft>
            </a:pPr>
            <a:r>
              <a:rPr lang="zh-CN" altLang="en-US" sz="1800" dirty="0">
                <a:solidFill>
                  <a:srgbClr val="820506"/>
                </a:solidFill>
                <a:latin typeface="Microsoft YaHei" pitchFamily="34" charset="-122"/>
                <a:ea typeface="Microsoft YaHei" pitchFamily="34" charset="-122"/>
              </a:rPr>
              <a:t>阶段判断”推荐，实现用户行为</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需求推测</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精准种草链路</a:t>
            </a:r>
            <a:endParaRPr lang="zh-CN" altLang="en-US" sz="1800" dirty="0">
              <a:solidFill>
                <a:srgbClr val="820506"/>
              </a:solidFill>
              <a:latin typeface="Microsoft YaHei" pitchFamily="34" charset="-122"/>
              <a:ea typeface="Microsoft YaHei" pitchFamily="34" charset="-122"/>
            </a:endParaRPr>
          </a:p>
        </p:txBody>
      </p:sp>
      <p:sp>
        <p:nvSpPr>
          <p:cNvPr id="27" name="文本框 26"/>
          <p:cNvSpPr txBox="1"/>
          <p:nvPr/>
        </p:nvSpPr>
        <p:spPr>
          <a:xfrm>
            <a:off x="480300" y="3978253"/>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【Q2-3】</a:t>
            </a:r>
            <a:endParaRPr kumimoji="1" lang="zh-CN" altLang="en-US" sz="2800" dirty="0">
              <a:latin typeface="Microsoft YaHei" pitchFamily="34" charset="-122"/>
              <a:ea typeface="Microsoft YaHei" pitchFamily="34" charset="-122"/>
            </a:endParaRPr>
          </a:p>
        </p:txBody>
      </p:sp>
      <p:grpSp>
        <p:nvGrpSpPr>
          <p:cNvPr id="33" name="组合 32"/>
          <p:cNvGrpSpPr/>
          <p:nvPr/>
        </p:nvGrpSpPr>
        <p:grpSpPr>
          <a:xfrm>
            <a:off x="549745" y="1462551"/>
            <a:ext cx="5467543" cy="444454"/>
            <a:chOff x="6449946" y="548922"/>
            <a:chExt cx="5467543" cy="444454"/>
          </a:xfrm>
        </p:grpSpPr>
        <p:sp>
          <p:nvSpPr>
            <p:cNvPr id="29" name="圆角矩形 28"/>
            <p:cNvSpPr/>
            <p:nvPr/>
          </p:nvSpPr>
          <p:spPr>
            <a:xfrm>
              <a:off x="7798671" y="548922"/>
              <a:ext cx="2341022" cy="406648"/>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8" name="TextBox 13"/>
            <p:cNvSpPr txBox="1"/>
            <p:nvPr/>
          </p:nvSpPr>
          <p:spPr>
            <a:xfrm>
              <a:off x="6449946" y="593620"/>
              <a:ext cx="5467543" cy="399756"/>
            </a:xfrm>
            <a:prstGeom prst="rect">
              <a:avLst/>
            </a:prstGeom>
            <a:noFill/>
          </p:spPr>
          <p:txBody>
            <a:bodyPr wrap="none" lIns="0" tIns="0" rIns="0" bIns="0"/>
            <a:lstStyle/>
            <a:p>
              <a:pPr algn="just">
                <a:lnSpc>
                  <a:spcPct val="113000"/>
                </a:lnSpc>
                <a:spcBef>
                  <a:spcPts val="0"/>
                </a:spcBef>
                <a:spcAft>
                  <a:spcPts val="0"/>
                </a:spcAft>
              </a:pPr>
              <a:r>
                <a:rPr lang="zh-CN" altLang="en-US" dirty="0">
                  <a:latin typeface="Microsoft YaHei" pitchFamily="34" charset="-122"/>
                  <a:ea typeface="Microsoft YaHei" pitchFamily="34" charset="-122"/>
                </a:rPr>
                <a:t>新用户</a:t>
              </a:r>
              <a:r>
                <a:rPr lang="en-GB" altLang="zh-CN" dirty="0">
                  <a:latin typeface="Microsoft YaHei" pitchFamily="34" charset="-122"/>
                  <a:ea typeface="Microsoft YaHei" pitchFamily="34" charset="-122"/>
                </a:rPr>
                <a:t>LTV = </a:t>
              </a:r>
              <a:r>
                <a:rPr lang="en-GB" altLang="zh-CN" b="1" dirty="0">
                  <a:solidFill>
                    <a:schemeClr val="bg1"/>
                  </a:solidFill>
                  <a:latin typeface="Microsoft YaHei" pitchFamily="34" charset="-122"/>
                  <a:ea typeface="Microsoft YaHei" pitchFamily="34" charset="-122"/>
                </a:rPr>
                <a:t>D30 </a:t>
              </a:r>
              <a:r>
                <a:rPr lang="zh-CN" altLang="en-US" b="1" dirty="0">
                  <a:solidFill>
                    <a:schemeClr val="bg1"/>
                  </a:solidFill>
                  <a:latin typeface="Microsoft YaHei" pitchFamily="34" charset="-122"/>
                  <a:ea typeface="Microsoft YaHei" pitchFamily="34" charset="-122"/>
                </a:rPr>
                <a:t>留存率 </a:t>
              </a:r>
              <a:r>
                <a:rPr lang="en-US" altLang="zh-CN" b="1" dirty="0">
                  <a:solidFill>
                    <a:schemeClr val="bg1"/>
                  </a:solidFill>
                  <a:latin typeface="Microsoft YaHei" pitchFamily="34" charset="-122"/>
                  <a:ea typeface="Microsoft YaHei" pitchFamily="34" charset="-122"/>
                </a:rPr>
                <a:t>× </a:t>
              </a:r>
              <a:r>
                <a:rPr lang="zh-CN" altLang="en-US" b="1" dirty="0">
                  <a:solidFill>
                    <a:schemeClr val="bg1"/>
                  </a:solidFill>
                  <a:latin typeface="Microsoft YaHei" pitchFamily="34" charset="-122"/>
                  <a:ea typeface="Microsoft YaHei" pitchFamily="34" charset="-122"/>
                </a:rPr>
                <a:t>跨科率</a:t>
              </a:r>
              <a:r>
                <a:rPr lang="zh-CN" altLang="en-US" dirty="0">
                  <a:latin typeface="Microsoft YaHei" pitchFamily="34" charset="-122"/>
                  <a:ea typeface="Microsoft YaHei" pitchFamily="34" charset="-122"/>
                </a:rPr>
                <a:t> </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首单转化率</a:t>
              </a:r>
              <a:endParaRPr lang="zh-CN" altLang="en-US" sz="1800" dirty="0">
                <a:solidFill>
                  <a:srgbClr val="820506"/>
                </a:solidFill>
                <a:latin typeface="Microsoft YaHei" pitchFamily="34" charset="-122"/>
                <a:ea typeface="Microsoft YaHei" pitchFamily="34" charset="-122"/>
              </a:endParaRPr>
            </a:p>
          </p:txBody>
        </p:sp>
      </p:grpSp>
      <p:sp>
        <p:nvSpPr>
          <p:cNvPr id="30" name="TextBox 13"/>
          <p:cNvSpPr txBox="1"/>
          <p:nvPr/>
        </p:nvSpPr>
        <p:spPr>
          <a:xfrm>
            <a:off x="6058907" y="3240813"/>
            <a:ext cx="5246699" cy="727137"/>
          </a:xfrm>
          <a:prstGeom prst="rect">
            <a:avLst/>
          </a:prstGeom>
          <a:noFill/>
        </p:spPr>
        <p:txBody>
          <a:bodyPr wrap="none" lIns="0" tIns="0" rIns="0" bIns="0"/>
          <a:lstStyle/>
          <a:p>
            <a:pPr algn="just">
              <a:lnSpc>
                <a:spcPct val="113000"/>
              </a:lnSpc>
              <a:spcBef>
                <a:spcPts val="0"/>
              </a:spcBef>
              <a:spcAft>
                <a:spcPts val="0"/>
              </a:spcAft>
            </a:pPr>
            <a:r>
              <a:rPr lang="en-US" altLang="zh-CN" sz="1800" dirty="0">
                <a:solidFill>
                  <a:srgbClr val="820506"/>
                </a:solidFill>
                <a:latin typeface="Microsoft YaHei" pitchFamily="34" charset="-122"/>
                <a:ea typeface="Microsoft YaHei" pitchFamily="34" charset="-122"/>
              </a:rPr>
              <a:t>【</a:t>
            </a:r>
            <a:r>
              <a:rPr lang="en-GB" altLang="zh-CN" sz="1800" dirty="0">
                <a:solidFill>
                  <a:srgbClr val="820506"/>
                </a:solidFill>
                <a:latin typeface="Microsoft YaHei" pitchFamily="34" charset="-122"/>
                <a:ea typeface="Microsoft YaHei" pitchFamily="34" charset="-122"/>
              </a:rPr>
              <a:t>Agent</a:t>
            </a:r>
            <a:r>
              <a:rPr lang="zh-CN" altLang="en-US" sz="1800" dirty="0">
                <a:solidFill>
                  <a:srgbClr val="820506"/>
                </a:solidFill>
                <a:latin typeface="Microsoft YaHei" pitchFamily="34" charset="-122"/>
                <a:ea typeface="Microsoft YaHei" pitchFamily="34" charset="-122"/>
              </a:rPr>
              <a:t>全量覆盖</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打通</a:t>
            </a:r>
            <a:r>
              <a:rPr lang="en-GB" altLang="zh-CN" sz="1800" dirty="0">
                <a:solidFill>
                  <a:srgbClr val="820506"/>
                </a:solidFill>
                <a:latin typeface="Microsoft YaHei" pitchFamily="34" charset="-122"/>
                <a:ea typeface="Microsoft YaHei" pitchFamily="34" charset="-122"/>
              </a:rPr>
              <a:t>day1-7/day7-15/day15+</a:t>
            </a:r>
            <a:r>
              <a:rPr lang="zh-CN" altLang="en-US" sz="1800" dirty="0">
                <a:solidFill>
                  <a:srgbClr val="820506"/>
                </a:solidFill>
                <a:latin typeface="Microsoft YaHei" pitchFamily="34" charset="-122"/>
                <a:ea typeface="Microsoft YaHei" pitchFamily="34" charset="-122"/>
              </a:rPr>
              <a:t>全旅程</a:t>
            </a:r>
            <a:endParaRPr lang="zh-CN" altLang="en-US" sz="1800" dirty="0">
              <a:solidFill>
                <a:srgbClr val="820506"/>
              </a:solidFill>
              <a:latin typeface="Microsoft YaHei" pitchFamily="34" charset="-122"/>
              <a:ea typeface="Microsoft YaHei" pitchFamily="34" charset="-122"/>
            </a:endParaRPr>
          </a:p>
          <a:p>
            <a:pPr algn="just">
              <a:lnSpc>
                <a:spcPct val="113000"/>
              </a:lnSpc>
              <a:spcBef>
                <a:spcPts val="0"/>
              </a:spcBef>
              <a:spcAft>
                <a:spcPts val="0"/>
              </a:spcAft>
            </a:pPr>
            <a:r>
              <a:rPr lang="zh-CN" altLang="en-US" sz="1800" dirty="0">
                <a:solidFill>
                  <a:srgbClr val="820506"/>
                </a:solidFill>
                <a:latin typeface="Microsoft YaHei" pitchFamily="34" charset="-122"/>
                <a:ea typeface="Microsoft YaHei" pitchFamily="34" charset="-122"/>
              </a:rPr>
              <a:t>编排，实现“画像</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权益</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内容</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推荐</a:t>
            </a:r>
            <a:r>
              <a:rPr lang="en-US" altLang="zh-CN" sz="1800" dirty="0">
                <a:solidFill>
                  <a:srgbClr val="820506"/>
                </a:solidFill>
                <a:latin typeface="Microsoft YaHei" pitchFamily="34" charset="-122"/>
                <a:ea typeface="Microsoft YaHei" pitchFamily="34" charset="-122"/>
              </a:rPr>
              <a:t>-</a:t>
            </a:r>
            <a:r>
              <a:rPr lang="zh-CN" altLang="en-US" sz="1800" dirty="0">
                <a:solidFill>
                  <a:srgbClr val="820506"/>
                </a:solidFill>
                <a:latin typeface="Microsoft YaHei" pitchFamily="34" charset="-122"/>
                <a:ea typeface="Microsoft YaHei" pitchFamily="34" charset="-122"/>
              </a:rPr>
              <a:t>成交复购”闭环</a:t>
            </a:r>
            <a:endParaRPr lang="zh-CN" altLang="en-US" sz="1800" dirty="0">
              <a:solidFill>
                <a:srgbClr val="820506"/>
              </a:solidFill>
              <a:latin typeface="Microsoft YaHei" pitchFamily="34" charset="-122"/>
              <a:ea typeface="Microsoft YaHei" pitchFamily="34" charset="-122"/>
            </a:endParaRPr>
          </a:p>
        </p:txBody>
      </p:sp>
      <p:sp>
        <p:nvSpPr>
          <p:cNvPr id="31" name="文本框 30"/>
          <p:cNvSpPr txBox="1"/>
          <p:nvPr/>
        </p:nvSpPr>
        <p:spPr>
          <a:xfrm>
            <a:off x="7088985" y="3960924"/>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【Q4】</a:t>
            </a:r>
            <a:endParaRPr kumimoji="1" lang="zh-CN" altLang="en-US" sz="2800" dirty="0">
              <a:latin typeface="Microsoft YaHei" pitchFamily="34" charset="-122"/>
              <a:ea typeface="Microsoft YaHei" pitchFamily="34" charset="-122"/>
            </a:endParaRPr>
          </a:p>
        </p:txBody>
      </p:sp>
      <p:sp>
        <p:nvSpPr>
          <p:cNvPr id="34" name="圆角矩形 33"/>
          <p:cNvSpPr/>
          <p:nvPr/>
        </p:nvSpPr>
        <p:spPr>
          <a:xfrm>
            <a:off x="577827" y="2271252"/>
            <a:ext cx="4451054" cy="44453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如何让留下来的人买更多的课？</a:t>
            </a:r>
            <a:endParaRPr kumimoji="1" lang="zh-CN" altLang="en-US" dirty="0">
              <a:latin typeface="Microsoft YaHei" pitchFamily="34" charset="-122"/>
              <a:ea typeface="Microsoft YaHei" pitchFamily="34" charset="-122"/>
            </a:endParaRPr>
          </a:p>
        </p:txBody>
      </p:sp>
    </p:spTree>
    <p:custDataLst>
      <p:tags r:id="rId9"/>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线连接符 38"/>
          <p:cNvCxnSpPr>
            <a:stCxn id="37" idx="1"/>
          </p:cNvCxnSpPr>
          <p:nvPr/>
        </p:nvCxnSpPr>
        <p:spPr>
          <a:xfrm flipH="1">
            <a:off x="2809051" y="1875498"/>
            <a:ext cx="1877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圆角矩形 4"/>
          <p:cNvSpPr/>
          <p:nvPr/>
        </p:nvSpPr>
        <p:spPr>
          <a:xfrm>
            <a:off x="3142451" y="1845625"/>
            <a:ext cx="817521" cy="39975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 name="文本框 1"/>
          <p:cNvSpPr txBox="1"/>
          <p:nvPr/>
        </p:nvSpPr>
        <p:spPr>
          <a:xfrm>
            <a:off x="481248" y="424815"/>
            <a:ext cx="912162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dirty="0">
                <a:latin typeface="Microsoft YaHei" pitchFamily="34" charset="-122"/>
                <a:ea typeface="Microsoft YaHei" pitchFamily="34" charset="-122"/>
              </a:rPr>
              <a:t>战役二：</a:t>
            </a:r>
            <a:r>
              <a:rPr lang="zh-CN" altLang="en-US" sz="3200" dirty="0">
                <a:solidFill>
                  <a:srgbClr val="000000"/>
                </a:solidFill>
                <a:latin typeface="Microsoft YaHei" pitchFamily="34" charset="-122"/>
                <a:ea typeface="Microsoft YaHei" pitchFamily="34" charset="-122"/>
              </a:rPr>
              <a:t>直播</a:t>
            </a:r>
            <a:r>
              <a:rPr lang="en-US" altLang="zh-CN" sz="3200" dirty="0">
                <a:solidFill>
                  <a:srgbClr val="000000"/>
                </a:solidFill>
                <a:latin typeface="Microsoft YaHei" pitchFamily="34" charset="-122"/>
                <a:ea typeface="Microsoft YaHei" pitchFamily="34" charset="-122"/>
              </a:rPr>
              <a:t>-</a:t>
            </a:r>
            <a:r>
              <a:rPr lang="zh-CN" altLang="en-US" sz="3200" dirty="0">
                <a:solidFill>
                  <a:srgbClr val="000000"/>
                </a:solidFill>
                <a:latin typeface="Microsoft YaHei" pitchFamily="34" charset="-122"/>
                <a:ea typeface="Microsoft YaHei" pitchFamily="34" charset="-122"/>
              </a:rPr>
              <a:t>私域战略升级</a:t>
            </a:r>
            <a:endParaRPr lang="zh-CN" altLang="en-US" sz="3200" dirty="0">
              <a:solidFill>
                <a:srgbClr val="000000"/>
              </a:solidFill>
              <a:latin typeface="Microsoft YaHei" pitchFamily="34" charset="-122"/>
              <a:ea typeface="Microsoft YaHei" pitchFamily="34" charset="-122"/>
            </a:endParaRPr>
          </a:p>
        </p:txBody>
      </p:sp>
      <p:pic>
        <p:nvPicPr>
          <p:cNvPr id="7" name="Picture 3" descr="image.png"/>
          <p:cNvPicPr>
            <a:picLocks noChangeAspect="1"/>
          </p:cNvPicPr>
          <p:nvPr/>
        </p:nvPicPr>
        <p:blipFill>
          <a:blip r:embed="rId1"/>
          <a:stretch>
            <a:fillRect/>
          </a:stretch>
        </p:blipFill>
        <p:spPr>
          <a:xfrm>
            <a:off x="1186923" y="4413753"/>
            <a:ext cx="10343102" cy="323817"/>
          </a:xfrm>
          <a:prstGeom prst="rect">
            <a:avLst/>
          </a:prstGeom>
        </p:spPr>
      </p:pic>
      <p:pic>
        <p:nvPicPr>
          <p:cNvPr id="11" name="Picture 7" descr="image.png"/>
          <p:cNvPicPr>
            <a:picLocks noChangeAspect="1"/>
          </p:cNvPicPr>
          <p:nvPr/>
        </p:nvPicPr>
        <p:blipFill>
          <a:blip r:embed="rId2"/>
          <a:stretch>
            <a:fillRect/>
          </a:stretch>
        </p:blipFill>
        <p:spPr>
          <a:xfrm>
            <a:off x="4084365" y="4747874"/>
            <a:ext cx="643348" cy="595693"/>
          </a:xfrm>
          <a:prstGeom prst="rect">
            <a:avLst/>
          </a:prstGeom>
        </p:spPr>
      </p:pic>
      <p:pic>
        <p:nvPicPr>
          <p:cNvPr id="12" name="Picture 8" descr="image.png"/>
          <p:cNvPicPr>
            <a:picLocks noChangeAspect="1"/>
          </p:cNvPicPr>
          <p:nvPr/>
        </p:nvPicPr>
        <p:blipFill>
          <a:blip r:embed="rId3"/>
          <a:stretch>
            <a:fillRect/>
          </a:stretch>
        </p:blipFill>
        <p:spPr>
          <a:xfrm>
            <a:off x="2737120" y="3819473"/>
            <a:ext cx="622166" cy="550926"/>
          </a:xfrm>
          <a:prstGeom prst="rect">
            <a:avLst/>
          </a:prstGeom>
        </p:spPr>
      </p:pic>
      <p:pic>
        <p:nvPicPr>
          <p:cNvPr id="13" name="Picture 9" descr="image.png"/>
          <p:cNvPicPr>
            <a:picLocks noChangeAspect="1"/>
          </p:cNvPicPr>
          <p:nvPr/>
        </p:nvPicPr>
        <p:blipFill>
          <a:blip r:embed="rId4"/>
          <a:stretch>
            <a:fillRect/>
          </a:stretch>
        </p:blipFill>
        <p:spPr>
          <a:xfrm>
            <a:off x="8722281" y="3848143"/>
            <a:ext cx="543234" cy="500348"/>
          </a:xfrm>
          <a:prstGeom prst="rect">
            <a:avLst/>
          </a:prstGeom>
        </p:spPr>
      </p:pic>
      <p:sp>
        <p:nvSpPr>
          <p:cNvPr id="14" name="TextBox 12"/>
          <p:cNvSpPr txBox="1"/>
          <p:nvPr/>
        </p:nvSpPr>
        <p:spPr>
          <a:xfrm>
            <a:off x="8825401" y="3978254"/>
            <a:ext cx="274034" cy="225075"/>
          </a:xfrm>
          <a:prstGeom prst="rect">
            <a:avLst/>
          </a:prstGeom>
          <a:noFill/>
        </p:spPr>
        <p:txBody>
          <a:bodyPr wrap="none" lIns="0" tIns="0" rIns="0" bIns="0"/>
          <a:lstStyle/>
          <a:p>
            <a:pPr algn="just">
              <a:lnSpc>
                <a:spcPct val="118000"/>
              </a:lnSpc>
              <a:spcBef>
                <a:spcPts val="0"/>
              </a:spcBef>
              <a:spcAft>
                <a:spcPts val="0"/>
              </a:spcAft>
            </a:pPr>
            <a:r>
              <a:rPr sz="1500">
                <a:solidFill>
                  <a:srgbClr val="FCF5F7"/>
                </a:solidFill>
                <a:latin typeface="Microsoft YaHei" pitchFamily="34" charset="-122"/>
                <a:ea typeface="Microsoft YaHei" pitchFamily="34" charset="-122"/>
              </a:rPr>
              <a:t>三</a:t>
            </a:r>
            <a:endParaRPr sz="1500">
              <a:solidFill>
                <a:srgbClr val="FCF5F7"/>
              </a:solidFill>
              <a:latin typeface="Microsoft YaHei" pitchFamily="34" charset="-122"/>
              <a:ea typeface="Microsoft YaHei" pitchFamily="34" charset="-122"/>
            </a:endParaRPr>
          </a:p>
        </p:txBody>
      </p:sp>
      <p:sp>
        <p:nvSpPr>
          <p:cNvPr id="15" name="TextBox 13"/>
          <p:cNvSpPr txBox="1"/>
          <p:nvPr/>
        </p:nvSpPr>
        <p:spPr>
          <a:xfrm>
            <a:off x="568099" y="5186317"/>
            <a:ext cx="4461101" cy="1086986"/>
          </a:xfrm>
          <a:prstGeom prst="rect">
            <a:avLst/>
          </a:prstGeom>
          <a:noFill/>
        </p:spPr>
        <p:txBody>
          <a:bodyPr wrap="none" lIns="0" tIns="0" rIns="0" bIns="0"/>
          <a:lstStyle/>
          <a:p>
            <a:pPr algn="just">
              <a:lnSpc>
                <a:spcPct val="113000"/>
              </a:lnSpc>
            </a:pP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精准供给验证</a:t>
            </a:r>
            <a:r>
              <a:rPr lang="en-US" altLang="zh-CN" dirty="0">
                <a:solidFill>
                  <a:srgbClr val="820506"/>
                </a:solidFill>
                <a:latin typeface="Microsoft YaHei" pitchFamily="34" charset="-122"/>
                <a:ea typeface="Microsoft YaHei" pitchFamily="34" charset="-122"/>
              </a:rPr>
              <a:t>】</a:t>
            </a:r>
            <a:endParaRPr lang="en-US" altLang="zh-CN" dirty="0">
              <a:solidFill>
                <a:srgbClr val="820506"/>
              </a:solidFill>
              <a:latin typeface="Microsoft YaHei" pitchFamily="34" charset="-122"/>
              <a:ea typeface="Microsoft YaHei" pitchFamily="34" charset="-122"/>
            </a:endParaRPr>
          </a:p>
          <a:p>
            <a:pPr algn="just">
              <a:lnSpc>
                <a:spcPct val="113000"/>
              </a:lnSpc>
            </a:pPr>
            <a:r>
              <a:rPr lang="zh-CN" altLang="en-US" dirty="0">
                <a:solidFill>
                  <a:srgbClr val="820506"/>
                </a:solidFill>
                <a:latin typeface="Microsoft YaHei" pitchFamily="34" charset="-122"/>
                <a:ea typeface="Microsoft YaHei" pitchFamily="34" charset="-122"/>
              </a:rPr>
              <a:t>高转智能直播筛选模型扩至全品类；</a:t>
            </a:r>
            <a:endParaRPr lang="en-US" altLang="zh-CN" dirty="0">
              <a:solidFill>
                <a:srgbClr val="820506"/>
              </a:solidFill>
              <a:latin typeface="Microsoft YaHei" pitchFamily="34" charset="-122"/>
              <a:ea typeface="Microsoft YaHei" pitchFamily="34" charset="-122"/>
            </a:endParaRPr>
          </a:p>
          <a:p>
            <a:pPr algn="just">
              <a:lnSpc>
                <a:spcPct val="113000"/>
              </a:lnSpc>
            </a:pPr>
            <a:r>
              <a:rPr lang="zh-CN" altLang="en-US" dirty="0">
                <a:solidFill>
                  <a:srgbClr val="820506"/>
                </a:solidFill>
                <a:latin typeface="Microsoft YaHei" pitchFamily="34" charset="-122"/>
                <a:ea typeface="Microsoft YaHei" pitchFamily="34" charset="-122"/>
              </a:rPr>
              <a:t>创新策略验证提升人群触达精准度</a:t>
            </a:r>
            <a:endParaRPr lang="zh-CN" altLang="en-US" dirty="0">
              <a:solidFill>
                <a:srgbClr val="820506"/>
              </a:solidFill>
              <a:latin typeface="Microsoft YaHei" pitchFamily="34" charset="-122"/>
              <a:ea typeface="Microsoft YaHei" pitchFamily="34" charset="-122"/>
            </a:endParaRPr>
          </a:p>
        </p:txBody>
      </p:sp>
      <p:grpSp>
        <p:nvGrpSpPr>
          <p:cNvPr id="32" name="组合 31"/>
          <p:cNvGrpSpPr/>
          <p:nvPr/>
        </p:nvGrpSpPr>
        <p:grpSpPr>
          <a:xfrm>
            <a:off x="7202237" y="384061"/>
            <a:ext cx="3880220" cy="2781776"/>
            <a:chOff x="7638909" y="3156082"/>
            <a:chExt cx="3880220" cy="2781776"/>
          </a:xfrm>
        </p:grpSpPr>
        <p:pic>
          <p:nvPicPr>
            <p:cNvPr id="6" name="Picture 2" descr="image.png"/>
            <p:cNvPicPr>
              <a:picLocks noChangeAspect="1"/>
            </p:cNvPicPr>
            <p:nvPr/>
          </p:nvPicPr>
          <p:blipFill>
            <a:blip r:embed="rId5"/>
            <a:stretch>
              <a:fillRect/>
            </a:stretch>
          </p:blipFill>
          <p:spPr>
            <a:xfrm>
              <a:off x="7638909" y="3156082"/>
              <a:ext cx="3880220" cy="2781776"/>
            </a:xfrm>
            <a:prstGeom prst="rect">
              <a:avLst/>
            </a:prstGeom>
          </p:spPr>
        </p:pic>
        <p:pic>
          <p:nvPicPr>
            <p:cNvPr id="9" name="Picture 5" descr="image.png"/>
            <p:cNvPicPr>
              <a:picLocks noChangeAspect="1"/>
            </p:cNvPicPr>
            <p:nvPr/>
          </p:nvPicPr>
          <p:blipFill>
            <a:blip r:embed="rId6"/>
            <a:stretch>
              <a:fillRect/>
            </a:stretch>
          </p:blipFill>
          <p:spPr>
            <a:xfrm>
              <a:off x="8344778" y="4066310"/>
              <a:ext cx="1002601" cy="988346"/>
            </a:xfrm>
            <a:prstGeom prst="rect">
              <a:avLst/>
            </a:prstGeom>
          </p:spPr>
        </p:pic>
        <p:sp>
          <p:nvSpPr>
            <p:cNvPr id="16" name="TextBox 14"/>
            <p:cNvSpPr txBox="1"/>
            <p:nvPr/>
          </p:nvSpPr>
          <p:spPr>
            <a:xfrm>
              <a:off x="8883218" y="3251237"/>
              <a:ext cx="1330547" cy="257175"/>
            </a:xfrm>
            <a:prstGeom prst="rect">
              <a:avLst/>
            </a:prstGeom>
            <a:noFill/>
          </p:spPr>
          <p:txBody>
            <a:bodyPr wrap="none" lIns="0" tIns="0" rIns="0" bIns="0"/>
            <a:lstStyle/>
            <a:p>
              <a:pPr algn="ctr">
                <a:lnSpc>
                  <a:spcPct val="123000"/>
                </a:lnSpc>
                <a:spcBef>
                  <a:spcPts val="0"/>
                </a:spcBef>
                <a:spcAft>
                  <a:spcPts val="0"/>
                </a:spcAft>
              </a:pPr>
              <a:r>
                <a:rPr lang="zh-CN" altLang="en-US" sz="1650" dirty="0">
                  <a:solidFill>
                    <a:srgbClr val="FFFFFF"/>
                  </a:solidFill>
                  <a:latin typeface="Microsoft YaHei" pitchFamily="34" charset="-122"/>
                  <a:ea typeface="Microsoft YaHei" pitchFamily="34" charset="-122"/>
                </a:rPr>
                <a:t>北极星指标</a:t>
              </a:r>
              <a:endParaRPr sz="1650" dirty="0">
                <a:solidFill>
                  <a:srgbClr val="FFFFFF"/>
                </a:solidFill>
                <a:latin typeface="Microsoft YaHei" pitchFamily="34" charset="-122"/>
                <a:ea typeface="Microsoft YaHei" pitchFamily="34" charset="-122"/>
              </a:endParaRPr>
            </a:p>
          </p:txBody>
        </p:sp>
        <p:sp>
          <p:nvSpPr>
            <p:cNvPr id="19" name="TextBox 17"/>
            <p:cNvSpPr txBox="1"/>
            <p:nvPr/>
          </p:nvSpPr>
          <p:spPr>
            <a:xfrm>
              <a:off x="8548422" y="4399559"/>
              <a:ext cx="539305" cy="257175"/>
            </a:xfrm>
            <a:prstGeom prst="rect">
              <a:avLst/>
            </a:prstGeom>
            <a:noFill/>
          </p:spPr>
          <p:txBody>
            <a:bodyPr wrap="none" lIns="0" tIns="0" rIns="0" bIns="0"/>
            <a:lstStyle/>
            <a:p>
              <a:pPr algn="ctr">
                <a:lnSpc>
                  <a:spcPct val="113000"/>
                </a:lnSpc>
                <a:spcBef>
                  <a:spcPts val="0"/>
                </a:spcBef>
                <a:spcAft>
                  <a:spcPts val="0"/>
                </a:spcAft>
              </a:pPr>
              <a:r>
                <a:rPr lang="en-US" altLang="zh-CN" sz="1800" dirty="0">
                  <a:solidFill>
                    <a:srgbClr val="191B20"/>
                  </a:solidFill>
                  <a:latin typeface="Microsoft YaHei" pitchFamily="34" charset="-122"/>
                  <a:ea typeface="Microsoft YaHei" pitchFamily="34" charset="-122"/>
                </a:rPr>
                <a:t>130w</a:t>
              </a:r>
              <a:endParaRPr sz="1800" dirty="0">
                <a:solidFill>
                  <a:srgbClr val="191B20"/>
                </a:solidFill>
                <a:latin typeface="Microsoft YaHei" pitchFamily="34" charset="-122"/>
                <a:ea typeface="Microsoft YaHei" pitchFamily="34" charset="-122"/>
              </a:endParaRPr>
            </a:p>
          </p:txBody>
        </p:sp>
        <p:sp>
          <p:nvSpPr>
            <p:cNvPr id="23" name="TextBox 21"/>
            <p:cNvSpPr txBox="1"/>
            <p:nvPr/>
          </p:nvSpPr>
          <p:spPr>
            <a:xfrm>
              <a:off x="8372591" y="5103742"/>
              <a:ext cx="882110" cy="470820"/>
            </a:xfrm>
            <a:prstGeom prst="rect">
              <a:avLst/>
            </a:prstGeom>
            <a:noFill/>
          </p:spPr>
          <p:txBody>
            <a:bodyPr wrap="none" lIns="0" tIns="0" rIns="0" bIns="0"/>
            <a:lstStyle/>
            <a:p>
              <a:pPr algn="ctr">
                <a:spcBef>
                  <a:spcPts val="0"/>
                </a:spcBef>
                <a:spcAft>
                  <a:spcPts val="0"/>
                </a:spcAft>
              </a:pPr>
              <a:r>
                <a:rPr lang="en-US" altLang="zh-CN" sz="1535" dirty="0">
                  <a:solidFill>
                    <a:srgbClr val="191A20"/>
                  </a:solidFill>
                  <a:latin typeface="Microsoft YaHei" pitchFamily="34" charset="-122"/>
                  <a:ea typeface="Microsoft YaHei" pitchFamily="34" charset="-122"/>
                </a:rPr>
                <a:t>Q3</a:t>
              </a:r>
              <a:r>
                <a:rPr lang="zh-CN" altLang="en-US" sz="1535" dirty="0">
                  <a:solidFill>
                    <a:srgbClr val="191A20"/>
                  </a:solidFill>
                  <a:latin typeface="Microsoft YaHei" pitchFamily="34" charset="-122"/>
                  <a:ea typeface="Microsoft YaHei" pitchFamily="34" charset="-122"/>
                </a:rPr>
                <a:t>前直播间</a:t>
              </a:r>
              <a:endParaRPr lang="en-US" altLang="zh-CN" sz="1535" dirty="0">
                <a:solidFill>
                  <a:srgbClr val="191A20"/>
                </a:solidFill>
                <a:latin typeface="Microsoft YaHei" pitchFamily="34" charset="-122"/>
                <a:ea typeface="Microsoft YaHei" pitchFamily="34" charset="-122"/>
              </a:endParaRPr>
            </a:p>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流水达</a:t>
              </a:r>
              <a:r>
                <a:rPr lang="en-US" altLang="zh-CN" sz="1535" dirty="0">
                  <a:solidFill>
                    <a:srgbClr val="191A20"/>
                  </a:solidFill>
                  <a:latin typeface="Microsoft YaHei" pitchFamily="34" charset="-122"/>
                  <a:ea typeface="Microsoft YaHei" pitchFamily="34" charset="-122"/>
                </a:rPr>
                <a:t>130w/</a:t>
              </a:r>
              <a:r>
                <a:rPr lang="zh-CN" altLang="en-US" sz="1535" dirty="0">
                  <a:solidFill>
                    <a:srgbClr val="191A20"/>
                  </a:solidFill>
                  <a:latin typeface="Microsoft YaHei" pitchFamily="34" charset="-122"/>
                  <a:ea typeface="Microsoft YaHei" pitchFamily="34" charset="-122"/>
                </a:rPr>
                <a:t>月</a:t>
              </a:r>
              <a:endParaRPr lang="en-US" altLang="zh-CN" sz="1535" dirty="0">
                <a:latin typeface="Microsoft YaHei" pitchFamily="34" charset="-122"/>
                <a:ea typeface="Microsoft YaHei" pitchFamily="34" charset="-122"/>
              </a:endParaRPr>
            </a:p>
          </p:txBody>
        </p:sp>
      </p:grpSp>
      <p:sp>
        <p:nvSpPr>
          <p:cNvPr id="27" name="文本框 26"/>
          <p:cNvSpPr txBox="1"/>
          <p:nvPr/>
        </p:nvSpPr>
        <p:spPr>
          <a:xfrm>
            <a:off x="480300" y="3978253"/>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【Q2-3】</a:t>
            </a:r>
            <a:endParaRPr kumimoji="1" lang="zh-CN" altLang="en-US" sz="2800" dirty="0">
              <a:latin typeface="Microsoft YaHei" pitchFamily="34" charset="-122"/>
              <a:ea typeface="Microsoft YaHei" pitchFamily="34" charset="-122"/>
            </a:endParaRPr>
          </a:p>
        </p:txBody>
      </p:sp>
      <p:grpSp>
        <p:nvGrpSpPr>
          <p:cNvPr id="33" name="组合 32"/>
          <p:cNvGrpSpPr/>
          <p:nvPr/>
        </p:nvGrpSpPr>
        <p:grpSpPr>
          <a:xfrm>
            <a:off x="2091394" y="1304358"/>
            <a:ext cx="3829638" cy="792542"/>
            <a:chOff x="8208343" y="574540"/>
            <a:chExt cx="3829638" cy="792542"/>
          </a:xfrm>
        </p:grpSpPr>
        <p:sp>
          <p:nvSpPr>
            <p:cNvPr id="29" name="圆角矩形 28"/>
            <p:cNvSpPr/>
            <p:nvPr/>
          </p:nvSpPr>
          <p:spPr>
            <a:xfrm>
              <a:off x="8208343" y="967327"/>
              <a:ext cx="812551" cy="39975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icrosoft YaHei" pitchFamily="34" charset="-122"/>
                <a:ea typeface="Microsoft YaHei" pitchFamily="34" charset="-122"/>
              </a:endParaRPr>
            </a:p>
          </p:txBody>
        </p:sp>
        <p:sp>
          <p:nvSpPr>
            <p:cNvPr id="28" name="TextBox 13"/>
            <p:cNvSpPr txBox="1"/>
            <p:nvPr/>
          </p:nvSpPr>
          <p:spPr>
            <a:xfrm>
              <a:off x="9280547" y="574540"/>
              <a:ext cx="2757434" cy="399756"/>
            </a:xfrm>
            <a:prstGeom prst="rect">
              <a:avLst/>
            </a:prstGeom>
            <a:noFill/>
          </p:spPr>
          <p:txBody>
            <a:bodyPr wrap="none" lIns="0" tIns="0" rIns="0" bIns="0"/>
            <a:lstStyle/>
            <a:p>
              <a:pPr algn="just">
                <a:lnSpc>
                  <a:spcPct val="113000"/>
                </a:lnSpc>
                <a:spcBef>
                  <a:spcPts val="0"/>
                </a:spcBef>
                <a:spcAft>
                  <a:spcPts val="0"/>
                </a:spcAft>
              </a:pPr>
              <a:r>
                <a:rPr lang="zh-CN" altLang="en-US" dirty="0">
                  <a:latin typeface="Microsoft YaHei" pitchFamily="34" charset="-122"/>
                  <a:ea typeface="Microsoft YaHei" pitchFamily="34" charset="-122"/>
                </a:rPr>
                <a:t>线索转化率 </a:t>
              </a:r>
              <a:r>
                <a:rPr lang="en-US"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首单转化率</a:t>
              </a:r>
              <a:endParaRPr lang="zh-CN" altLang="en-US" sz="1800" dirty="0">
                <a:latin typeface="Microsoft YaHei" pitchFamily="34" charset="-122"/>
                <a:ea typeface="Microsoft YaHei" pitchFamily="34" charset="-122"/>
              </a:endParaRPr>
            </a:p>
          </p:txBody>
        </p:sp>
      </p:grpSp>
      <p:sp>
        <p:nvSpPr>
          <p:cNvPr id="31" name="文本框 30"/>
          <p:cNvSpPr txBox="1"/>
          <p:nvPr/>
        </p:nvSpPr>
        <p:spPr>
          <a:xfrm>
            <a:off x="7037274" y="4624607"/>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【Q4】</a:t>
            </a:r>
            <a:endParaRPr kumimoji="1" lang="zh-CN" altLang="en-US" sz="2800" dirty="0">
              <a:latin typeface="Microsoft YaHei" pitchFamily="34" charset="-122"/>
              <a:ea typeface="Microsoft YaHei" pitchFamily="34" charset="-122"/>
            </a:endParaRPr>
          </a:p>
        </p:txBody>
      </p:sp>
      <p:sp>
        <p:nvSpPr>
          <p:cNvPr id="34" name="圆角矩形 33"/>
          <p:cNvSpPr/>
          <p:nvPr/>
        </p:nvSpPr>
        <p:spPr>
          <a:xfrm>
            <a:off x="292528" y="2636838"/>
            <a:ext cx="6585775" cy="490499"/>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icrosoft YaHei" pitchFamily="34" charset="-122"/>
                <a:ea typeface="Microsoft YaHei" pitchFamily="34" charset="-122"/>
              </a:rPr>
              <a:t>直播增长不靠</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加量</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，而靠</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精准供给</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分层触达</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自动化</a:t>
            </a:r>
            <a:r>
              <a:rPr kumimoji="1" lang="zh-CN" altLang="en-US" dirty="0">
                <a:latin typeface="Microsoft YaHei" pitchFamily="34" charset="-122"/>
                <a:ea typeface="Microsoft YaHei" pitchFamily="34" charset="-122"/>
              </a:rPr>
              <a:t>”</a:t>
            </a:r>
            <a:endParaRPr lang="zh-CN" altLang="en-US" dirty="0">
              <a:latin typeface="Microsoft YaHei" pitchFamily="34" charset="-122"/>
              <a:ea typeface="Microsoft YaHei" pitchFamily="34" charset="-122"/>
            </a:endParaRPr>
          </a:p>
        </p:txBody>
      </p:sp>
      <p:sp>
        <p:nvSpPr>
          <p:cNvPr id="4" name="TextBox 13"/>
          <p:cNvSpPr txBox="1"/>
          <p:nvPr/>
        </p:nvSpPr>
        <p:spPr>
          <a:xfrm>
            <a:off x="3233040" y="1883304"/>
            <a:ext cx="1632332" cy="399756"/>
          </a:xfrm>
          <a:prstGeom prst="rect">
            <a:avLst/>
          </a:prstGeom>
          <a:noFill/>
        </p:spPr>
        <p:txBody>
          <a:bodyPr wrap="none" lIns="0" tIns="0" rIns="0" bIns="0"/>
          <a:lstStyle/>
          <a:p>
            <a:pPr algn="just">
              <a:lnSpc>
                <a:spcPct val="113000"/>
              </a:lnSpc>
              <a:spcBef>
                <a:spcPts val="0"/>
              </a:spcBef>
              <a:spcAft>
                <a:spcPts val="0"/>
              </a:spcAft>
            </a:pPr>
            <a:r>
              <a:rPr lang="zh-CN" altLang="en-US" dirty="0">
                <a:solidFill>
                  <a:schemeClr val="bg1"/>
                </a:solidFill>
                <a:latin typeface="Microsoft YaHei" pitchFamily="34" charset="-122"/>
                <a:ea typeface="Microsoft YaHei" pitchFamily="34" charset="-122"/>
              </a:rPr>
              <a:t>转化率 </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客单价</a:t>
            </a:r>
            <a:endParaRPr lang="zh-CN" altLang="en-US" sz="1800" dirty="0">
              <a:solidFill>
                <a:schemeClr val="bg1"/>
              </a:solidFill>
              <a:latin typeface="Microsoft YaHei" pitchFamily="34" charset="-122"/>
              <a:ea typeface="Microsoft YaHei" pitchFamily="34" charset="-122"/>
            </a:endParaRPr>
          </a:p>
        </p:txBody>
      </p:sp>
      <p:sp>
        <p:nvSpPr>
          <p:cNvPr id="18" name="椭圆 17"/>
          <p:cNvSpPr/>
          <p:nvPr/>
        </p:nvSpPr>
        <p:spPr>
          <a:xfrm>
            <a:off x="5927329" y="1275311"/>
            <a:ext cx="950974" cy="456638"/>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体验</a:t>
            </a:r>
            <a:endParaRPr kumimoji="1" lang="zh-CN" altLang="en-US" dirty="0">
              <a:latin typeface="Microsoft YaHei" pitchFamily="34" charset="-122"/>
              <a:ea typeface="Microsoft YaHei" pitchFamily="34" charset="-122"/>
            </a:endParaRPr>
          </a:p>
        </p:txBody>
      </p:sp>
      <p:sp>
        <p:nvSpPr>
          <p:cNvPr id="35" name="椭圆 34"/>
          <p:cNvSpPr/>
          <p:nvPr/>
        </p:nvSpPr>
        <p:spPr>
          <a:xfrm>
            <a:off x="4900639" y="1837084"/>
            <a:ext cx="1360654" cy="4729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Microsoft YaHei" pitchFamily="34" charset="-122"/>
                <a:ea typeface="Microsoft YaHei" pitchFamily="34" charset="-122"/>
              </a:rPr>
              <a:t>中价课</a:t>
            </a:r>
            <a:endParaRPr kumimoji="1" lang="zh-CN" altLang="en-US" dirty="0">
              <a:latin typeface="Microsoft YaHei" pitchFamily="34" charset="-122"/>
              <a:ea typeface="Microsoft YaHei" pitchFamily="34" charset="-122"/>
            </a:endParaRPr>
          </a:p>
        </p:txBody>
      </p:sp>
      <p:sp>
        <p:nvSpPr>
          <p:cNvPr id="36" name="文本框 35"/>
          <p:cNvSpPr txBox="1"/>
          <p:nvPr/>
        </p:nvSpPr>
        <p:spPr>
          <a:xfrm>
            <a:off x="173341" y="1676170"/>
            <a:ext cx="2879314" cy="369332"/>
          </a:xfrm>
          <a:prstGeom prst="rect">
            <a:avLst/>
          </a:prstGeom>
          <a:noFill/>
        </p:spPr>
        <p:txBody>
          <a:bodyPr wrap="none" rtlCol="0">
            <a:spAutoFit/>
          </a:bodyPr>
          <a:lstStyle/>
          <a:p>
            <a:r>
              <a:rPr lang="zh-CN" altLang="en-US" dirty="0">
                <a:latin typeface="Microsoft YaHei" pitchFamily="34" charset="-122"/>
                <a:ea typeface="Microsoft YaHei" pitchFamily="34" charset="-122"/>
              </a:rPr>
              <a:t>月 </a:t>
            </a:r>
            <a:r>
              <a:rPr lang="en-GB" altLang="zh-CN" dirty="0">
                <a:latin typeface="Microsoft YaHei" pitchFamily="34" charset="-122"/>
                <a:ea typeface="Microsoft YaHei" pitchFamily="34" charset="-122"/>
              </a:rPr>
              <a:t>GMV = </a:t>
            </a:r>
            <a:r>
              <a:rPr lang="zh-CN" altLang="en-US" dirty="0">
                <a:latin typeface="Microsoft YaHei" pitchFamily="34" charset="-122"/>
                <a:ea typeface="Microsoft YaHei" pitchFamily="34" charset="-122"/>
              </a:rPr>
              <a:t>场次</a:t>
            </a:r>
            <a:r>
              <a:rPr lang="en-US"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 </a:t>
            </a:r>
            <a:r>
              <a:rPr lang="zh-CN" altLang="en-US" dirty="0">
                <a:solidFill>
                  <a:schemeClr val="bg1"/>
                </a:solidFill>
                <a:latin typeface="Microsoft YaHei" pitchFamily="34" charset="-122"/>
                <a:ea typeface="Microsoft YaHei" pitchFamily="34" charset="-122"/>
              </a:rPr>
              <a:t>到课率</a:t>
            </a:r>
            <a:endParaRPr kumimoji="1" lang="zh-CN" altLang="en-US" dirty="0">
              <a:latin typeface="Microsoft YaHei" pitchFamily="34" charset="-122"/>
              <a:ea typeface="Microsoft YaHei" pitchFamily="34" charset="-122"/>
            </a:endParaRPr>
          </a:p>
        </p:txBody>
      </p:sp>
      <p:sp>
        <p:nvSpPr>
          <p:cNvPr id="37" name="左中括号 36"/>
          <p:cNvSpPr/>
          <p:nvPr/>
        </p:nvSpPr>
        <p:spPr>
          <a:xfrm>
            <a:off x="2996794" y="1496098"/>
            <a:ext cx="167301" cy="758800"/>
          </a:xfrm>
          <a:prstGeom prst="lef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Microsoft YaHei" pitchFamily="34" charset="-122"/>
              <a:ea typeface="Microsoft YaHei" pitchFamily="34" charset="-122"/>
            </a:endParaRPr>
          </a:p>
        </p:txBody>
      </p:sp>
      <p:sp>
        <p:nvSpPr>
          <p:cNvPr id="45" name="TextBox 13"/>
          <p:cNvSpPr txBox="1"/>
          <p:nvPr/>
        </p:nvSpPr>
        <p:spPr>
          <a:xfrm>
            <a:off x="3536594" y="3283413"/>
            <a:ext cx="3426602" cy="1086986"/>
          </a:xfrm>
          <a:prstGeom prst="rect">
            <a:avLst/>
          </a:prstGeom>
          <a:noFill/>
        </p:spPr>
        <p:txBody>
          <a:bodyPr wrap="none" lIns="0" tIns="0" rIns="0" bIns="0"/>
          <a:lstStyle/>
          <a:p>
            <a:pPr algn="just">
              <a:lnSpc>
                <a:spcPct val="113000"/>
              </a:lnSpc>
            </a:pP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高客单种草链路验证</a:t>
            </a:r>
            <a:r>
              <a:rPr lang="en-US" altLang="zh-CN" dirty="0">
                <a:solidFill>
                  <a:srgbClr val="820506"/>
                </a:solidFill>
                <a:latin typeface="Microsoft YaHei" pitchFamily="34" charset="-122"/>
                <a:ea typeface="Microsoft YaHei" pitchFamily="34" charset="-122"/>
              </a:rPr>
              <a:t>】</a:t>
            </a:r>
            <a:endParaRPr lang="en-US" altLang="zh-CN" dirty="0">
              <a:solidFill>
                <a:srgbClr val="820506"/>
              </a:solidFill>
              <a:latin typeface="Microsoft YaHei" pitchFamily="34" charset="-122"/>
              <a:ea typeface="Microsoft YaHei" pitchFamily="34" charset="-122"/>
            </a:endParaRPr>
          </a:p>
          <a:p>
            <a:pPr algn="just">
              <a:lnSpc>
                <a:spcPct val="113000"/>
              </a:lnSpc>
            </a:pPr>
            <a:r>
              <a:rPr lang="zh-CN" altLang="en-US" dirty="0">
                <a:solidFill>
                  <a:srgbClr val="820506"/>
                </a:solidFill>
                <a:latin typeface="Microsoft YaHei" pitchFamily="34" charset="-122"/>
                <a:ea typeface="Microsoft YaHei" pitchFamily="34" charset="-122"/>
              </a:rPr>
              <a:t>利用</a:t>
            </a:r>
            <a:r>
              <a:rPr lang="en-US" altLang="zh-CN" dirty="0">
                <a:solidFill>
                  <a:srgbClr val="820506"/>
                </a:solidFill>
                <a:latin typeface="Microsoft YaHei" pitchFamily="34" charset="-122"/>
                <a:ea typeface="Microsoft YaHei" pitchFamily="34" charset="-122"/>
              </a:rPr>
              <a:t>MA-</a:t>
            </a:r>
            <a:r>
              <a:rPr lang="zh-CN" altLang="en-US" dirty="0">
                <a:solidFill>
                  <a:srgbClr val="820506"/>
                </a:solidFill>
                <a:latin typeface="Microsoft YaHei" pitchFamily="34" charset="-122"/>
                <a:ea typeface="Microsoft YaHei" pitchFamily="34" charset="-122"/>
              </a:rPr>
              <a:t>用户行为分层，从单点测</a:t>
            </a: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规模化</a:t>
            </a:r>
            <a:endParaRPr lang="en-US" altLang="zh-CN" dirty="0">
              <a:solidFill>
                <a:srgbClr val="820506"/>
              </a:solidFill>
              <a:latin typeface="Microsoft YaHei" pitchFamily="34" charset="-122"/>
              <a:ea typeface="Microsoft YaHei" pitchFamily="34" charset="-122"/>
            </a:endParaRPr>
          </a:p>
          <a:p>
            <a:pPr algn="just">
              <a:lnSpc>
                <a:spcPct val="113000"/>
              </a:lnSpc>
            </a:pPr>
            <a:r>
              <a:rPr lang="zh-CN" altLang="en-US" dirty="0">
                <a:solidFill>
                  <a:srgbClr val="820506"/>
                </a:solidFill>
                <a:latin typeface="Microsoft YaHei" pitchFamily="34" charset="-122"/>
                <a:ea typeface="Microsoft YaHei" pitchFamily="34" charset="-122"/>
              </a:rPr>
              <a:t>完成高客单精细化自动化营销链路</a:t>
            </a:r>
            <a:endParaRPr lang="zh-CN" altLang="en-US" dirty="0">
              <a:solidFill>
                <a:srgbClr val="820506"/>
              </a:solidFill>
              <a:latin typeface="Microsoft YaHei" pitchFamily="34" charset="-122"/>
              <a:ea typeface="Microsoft YaHei" pitchFamily="34" charset="-122"/>
            </a:endParaRPr>
          </a:p>
        </p:txBody>
      </p:sp>
      <p:sp>
        <p:nvSpPr>
          <p:cNvPr id="46" name="TextBox 13"/>
          <p:cNvSpPr txBox="1"/>
          <p:nvPr/>
        </p:nvSpPr>
        <p:spPr>
          <a:xfrm>
            <a:off x="7202237" y="5239628"/>
            <a:ext cx="5207984" cy="1086986"/>
          </a:xfrm>
          <a:prstGeom prst="rect">
            <a:avLst/>
          </a:prstGeom>
          <a:noFill/>
        </p:spPr>
        <p:txBody>
          <a:bodyPr wrap="none" lIns="0" tIns="0" rIns="0" bIns="0"/>
          <a:lstStyle/>
          <a:p>
            <a:pPr algn="just">
              <a:lnSpc>
                <a:spcPct val="113000"/>
              </a:lnSpc>
            </a:pP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直播 </a:t>
            </a:r>
            <a:r>
              <a:rPr lang="en-GB" altLang="zh-CN" dirty="0">
                <a:solidFill>
                  <a:srgbClr val="820506"/>
                </a:solidFill>
                <a:latin typeface="Microsoft YaHei" pitchFamily="34" charset="-122"/>
                <a:ea typeface="Microsoft YaHei" pitchFamily="34" charset="-122"/>
              </a:rPr>
              <a:t>MA Agent </a:t>
            </a:r>
            <a:r>
              <a:rPr lang="zh-CN" altLang="en-US" dirty="0">
                <a:solidFill>
                  <a:srgbClr val="820506"/>
                </a:solidFill>
                <a:latin typeface="Microsoft YaHei" pitchFamily="34" charset="-122"/>
                <a:ea typeface="Microsoft YaHei" pitchFamily="34" charset="-122"/>
              </a:rPr>
              <a:t>自主决策</a:t>
            </a:r>
            <a:r>
              <a:rPr lang="en-US" altLang="zh-CN" dirty="0">
                <a:solidFill>
                  <a:srgbClr val="820506"/>
                </a:solidFill>
                <a:latin typeface="Microsoft YaHei" pitchFamily="34" charset="-122"/>
                <a:ea typeface="Microsoft YaHei" pitchFamily="34" charset="-122"/>
              </a:rPr>
              <a:t>】</a:t>
            </a:r>
            <a:endParaRPr lang="en-US" altLang="zh-CN" dirty="0">
              <a:solidFill>
                <a:srgbClr val="820506"/>
              </a:solidFill>
              <a:latin typeface="Microsoft YaHei" pitchFamily="34" charset="-122"/>
              <a:ea typeface="Microsoft YaHei" pitchFamily="34" charset="-122"/>
            </a:endParaRPr>
          </a:p>
          <a:p>
            <a:pPr algn="just">
              <a:lnSpc>
                <a:spcPct val="113000"/>
              </a:lnSpc>
            </a:pPr>
            <a:r>
              <a:rPr lang="zh-CN" altLang="en-US" dirty="0">
                <a:solidFill>
                  <a:srgbClr val="820506"/>
                </a:solidFill>
                <a:latin typeface="Microsoft YaHei" pitchFamily="34" charset="-122"/>
                <a:ea typeface="Microsoft YaHei" pitchFamily="34" charset="-122"/>
              </a:rPr>
              <a:t>直播引流</a:t>
            </a:r>
            <a:r>
              <a:rPr lang="en-US" altLang="zh-CN" dirty="0">
                <a:solidFill>
                  <a:srgbClr val="820506"/>
                </a:solidFill>
                <a:latin typeface="Microsoft YaHei" pitchFamily="34" charset="-122"/>
                <a:ea typeface="Microsoft YaHei" pitchFamily="34" charset="-122"/>
              </a:rPr>
              <a:t>—</a:t>
            </a:r>
            <a:r>
              <a:rPr lang="en-GB" altLang="zh-CN" dirty="0">
                <a:solidFill>
                  <a:srgbClr val="820506"/>
                </a:solidFill>
                <a:latin typeface="Microsoft YaHei" pitchFamily="34" charset="-122"/>
                <a:ea typeface="Microsoft YaHei" pitchFamily="34" charset="-122"/>
              </a:rPr>
              <a:t>APP </a:t>
            </a:r>
            <a:r>
              <a:rPr lang="zh-CN" altLang="en-US" dirty="0">
                <a:solidFill>
                  <a:srgbClr val="820506"/>
                </a:solidFill>
                <a:latin typeface="Microsoft YaHei" pitchFamily="34" charset="-122"/>
                <a:ea typeface="Microsoft YaHei" pitchFamily="34" charset="-122"/>
              </a:rPr>
              <a:t>资源位</a:t>
            </a:r>
            <a:r>
              <a:rPr lang="en-US" altLang="zh-CN" dirty="0">
                <a:solidFill>
                  <a:srgbClr val="820506"/>
                </a:solidFill>
                <a:latin typeface="Microsoft YaHei" pitchFamily="34" charset="-122"/>
                <a:ea typeface="Microsoft YaHei" pitchFamily="34" charset="-122"/>
              </a:rPr>
              <a:t>—</a:t>
            </a:r>
            <a:r>
              <a:rPr lang="zh-CN" altLang="en-US" dirty="0">
                <a:solidFill>
                  <a:srgbClr val="820506"/>
                </a:solidFill>
                <a:latin typeface="Microsoft YaHei" pitchFamily="34" charset="-122"/>
                <a:ea typeface="Microsoft YaHei" pitchFamily="34" charset="-122"/>
              </a:rPr>
              <a:t>私域社群联动</a:t>
            </a:r>
            <a:endParaRPr lang="zh-CN" altLang="en-US" dirty="0">
              <a:solidFill>
                <a:srgbClr val="820506"/>
              </a:solidFill>
              <a:latin typeface="Microsoft YaHei" pitchFamily="34" charset="-122"/>
              <a:ea typeface="Microsoft YaHei" pitchFamily="34" charset="-122"/>
            </a:endParaRPr>
          </a:p>
        </p:txBody>
      </p:sp>
      <p:pic>
        <p:nvPicPr>
          <p:cNvPr id="47" name="Picture 5" descr="image.png"/>
          <p:cNvPicPr>
            <a:picLocks noChangeAspect="1"/>
          </p:cNvPicPr>
          <p:nvPr/>
        </p:nvPicPr>
        <p:blipFill>
          <a:blip r:embed="rId6"/>
          <a:stretch>
            <a:fillRect/>
          </a:stretch>
        </p:blipFill>
        <p:spPr>
          <a:xfrm>
            <a:off x="9389512" y="1267361"/>
            <a:ext cx="1002601" cy="988346"/>
          </a:xfrm>
          <a:prstGeom prst="rect">
            <a:avLst/>
          </a:prstGeom>
        </p:spPr>
      </p:pic>
      <p:sp>
        <p:nvSpPr>
          <p:cNvPr id="48" name="TextBox 17"/>
          <p:cNvSpPr txBox="1"/>
          <p:nvPr/>
        </p:nvSpPr>
        <p:spPr>
          <a:xfrm>
            <a:off x="9593156" y="1600610"/>
            <a:ext cx="539305" cy="257175"/>
          </a:xfrm>
          <a:prstGeom prst="rect">
            <a:avLst/>
          </a:prstGeom>
          <a:noFill/>
        </p:spPr>
        <p:txBody>
          <a:bodyPr wrap="none" lIns="0" tIns="0" rIns="0" bIns="0"/>
          <a:lstStyle/>
          <a:p>
            <a:pPr algn="ctr">
              <a:lnSpc>
                <a:spcPct val="113000"/>
              </a:lnSpc>
              <a:spcBef>
                <a:spcPts val="0"/>
              </a:spcBef>
              <a:spcAft>
                <a:spcPts val="0"/>
              </a:spcAft>
            </a:pPr>
            <a:r>
              <a:rPr lang="en-US" altLang="zh-CN" sz="1800" dirty="0">
                <a:solidFill>
                  <a:srgbClr val="191B20"/>
                </a:solidFill>
                <a:latin typeface="Microsoft YaHei" pitchFamily="34" charset="-122"/>
                <a:ea typeface="Microsoft YaHei" pitchFamily="34" charset="-122"/>
              </a:rPr>
              <a:t>170w</a:t>
            </a:r>
            <a:endParaRPr sz="1800" dirty="0">
              <a:solidFill>
                <a:srgbClr val="191B20"/>
              </a:solidFill>
              <a:latin typeface="Microsoft YaHei" pitchFamily="34" charset="-122"/>
              <a:ea typeface="Microsoft YaHei" pitchFamily="34" charset="-122"/>
            </a:endParaRPr>
          </a:p>
        </p:txBody>
      </p:sp>
      <p:sp>
        <p:nvSpPr>
          <p:cNvPr id="49" name="TextBox 21"/>
          <p:cNvSpPr txBox="1"/>
          <p:nvPr/>
        </p:nvSpPr>
        <p:spPr>
          <a:xfrm>
            <a:off x="9417325" y="2304793"/>
            <a:ext cx="882110" cy="470820"/>
          </a:xfrm>
          <a:prstGeom prst="rect">
            <a:avLst/>
          </a:prstGeom>
          <a:noFill/>
        </p:spPr>
        <p:txBody>
          <a:bodyPr wrap="none" lIns="0" tIns="0" rIns="0" bIns="0"/>
          <a:lstStyle/>
          <a:p>
            <a:pPr algn="ctr">
              <a:spcBef>
                <a:spcPts val="0"/>
              </a:spcBef>
              <a:spcAft>
                <a:spcPts val="0"/>
              </a:spcAft>
            </a:pPr>
            <a:r>
              <a:rPr lang="en-US" altLang="zh-CN" sz="1535" dirty="0">
                <a:solidFill>
                  <a:srgbClr val="191A20"/>
                </a:solidFill>
                <a:latin typeface="Microsoft YaHei" pitchFamily="34" charset="-122"/>
                <a:ea typeface="Microsoft YaHei" pitchFamily="34" charset="-122"/>
              </a:rPr>
              <a:t>Q4</a:t>
            </a:r>
            <a:r>
              <a:rPr lang="zh-CN" altLang="en-US" sz="1535" dirty="0">
                <a:solidFill>
                  <a:srgbClr val="191A20"/>
                </a:solidFill>
                <a:latin typeface="Microsoft YaHei" pitchFamily="34" charset="-122"/>
                <a:ea typeface="Microsoft YaHei" pitchFamily="34" charset="-122"/>
              </a:rPr>
              <a:t>前直播间</a:t>
            </a:r>
            <a:endParaRPr lang="en-US" altLang="zh-CN" sz="1535" dirty="0">
              <a:solidFill>
                <a:srgbClr val="191A20"/>
              </a:solidFill>
              <a:latin typeface="Microsoft YaHei" pitchFamily="34" charset="-122"/>
              <a:ea typeface="Microsoft YaHei" pitchFamily="34" charset="-122"/>
            </a:endParaRPr>
          </a:p>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流水达</a:t>
            </a:r>
            <a:r>
              <a:rPr lang="en-US" altLang="zh-CN" sz="1535" dirty="0">
                <a:solidFill>
                  <a:srgbClr val="191A20"/>
                </a:solidFill>
                <a:latin typeface="Microsoft YaHei" pitchFamily="34" charset="-122"/>
                <a:ea typeface="Microsoft YaHei" pitchFamily="34" charset="-122"/>
              </a:rPr>
              <a:t>170w/</a:t>
            </a:r>
            <a:r>
              <a:rPr lang="zh-CN" altLang="en-US" sz="1535" dirty="0">
                <a:solidFill>
                  <a:srgbClr val="191A20"/>
                </a:solidFill>
                <a:latin typeface="Microsoft YaHei" pitchFamily="34" charset="-122"/>
                <a:ea typeface="Microsoft YaHei" pitchFamily="34" charset="-122"/>
              </a:rPr>
              <a:t>月</a:t>
            </a:r>
            <a:endParaRPr lang="en-US" altLang="zh-CN" sz="1535" dirty="0">
              <a:latin typeface="Microsoft YaHei" pitchFamily="34" charset="-122"/>
              <a:ea typeface="Microsoft YaHei" pitchFamily="34" charset="-122"/>
            </a:endParaRPr>
          </a:p>
        </p:txBody>
      </p:sp>
    </p:spTree>
    <p:custDataLst>
      <p:tags r:id="rId7"/>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1248" y="424815"/>
            <a:ext cx="9121624" cy="628833"/>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r>
              <a:rPr lang="zh-CN" altLang="en-US" sz="3200" dirty="0">
                <a:latin typeface="Microsoft YaHei" pitchFamily="34" charset="-122"/>
                <a:ea typeface="Microsoft YaHei" pitchFamily="34" charset="-122"/>
              </a:rPr>
              <a:t>战役三：</a:t>
            </a:r>
            <a:r>
              <a:rPr lang="zh-CN" altLang="zh-CN" sz="3200" dirty="0">
                <a:latin typeface="Microsoft YaHei" pitchFamily="34" charset="-122"/>
                <a:ea typeface="Microsoft YaHei" pitchFamily="34" charset="-122"/>
              </a:rPr>
              <a:t>重构APP商业化逻辑</a:t>
            </a:r>
            <a:endParaRPr lang="zh-CN" altLang="zh-CN" sz="3200" dirty="0">
              <a:latin typeface="Microsoft YaHei" pitchFamily="34" charset="-122"/>
              <a:ea typeface="Microsoft YaHei" pitchFamily="34" charset="-122"/>
            </a:endParaRPr>
          </a:p>
        </p:txBody>
      </p:sp>
      <p:pic>
        <p:nvPicPr>
          <p:cNvPr id="7" name="Picture 3" descr="image.png"/>
          <p:cNvPicPr>
            <a:picLocks noChangeAspect="1"/>
          </p:cNvPicPr>
          <p:nvPr/>
        </p:nvPicPr>
        <p:blipFill>
          <a:blip r:embed="rId1"/>
          <a:stretch>
            <a:fillRect/>
          </a:stretch>
        </p:blipFill>
        <p:spPr>
          <a:xfrm>
            <a:off x="1186923" y="4413753"/>
            <a:ext cx="10343102" cy="323817"/>
          </a:xfrm>
          <a:prstGeom prst="rect">
            <a:avLst/>
          </a:prstGeom>
        </p:spPr>
      </p:pic>
      <p:pic>
        <p:nvPicPr>
          <p:cNvPr id="11" name="Picture 7" descr="image.png"/>
          <p:cNvPicPr>
            <a:picLocks noChangeAspect="1"/>
          </p:cNvPicPr>
          <p:nvPr/>
        </p:nvPicPr>
        <p:blipFill>
          <a:blip r:embed="rId2"/>
          <a:stretch>
            <a:fillRect/>
          </a:stretch>
        </p:blipFill>
        <p:spPr>
          <a:xfrm>
            <a:off x="4084365" y="4747874"/>
            <a:ext cx="643348" cy="595693"/>
          </a:xfrm>
          <a:prstGeom prst="rect">
            <a:avLst/>
          </a:prstGeom>
        </p:spPr>
      </p:pic>
      <p:pic>
        <p:nvPicPr>
          <p:cNvPr id="12" name="Picture 8" descr="image.png"/>
          <p:cNvPicPr>
            <a:picLocks noChangeAspect="1"/>
          </p:cNvPicPr>
          <p:nvPr/>
        </p:nvPicPr>
        <p:blipFill>
          <a:blip r:embed="rId3"/>
          <a:stretch>
            <a:fillRect/>
          </a:stretch>
        </p:blipFill>
        <p:spPr>
          <a:xfrm>
            <a:off x="2737120" y="3819473"/>
            <a:ext cx="622166" cy="550926"/>
          </a:xfrm>
          <a:prstGeom prst="rect">
            <a:avLst/>
          </a:prstGeom>
        </p:spPr>
      </p:pic>
      <p:pic>
        <p:nvPicPr>
          <p:cNvPr id="13" name="Picture 9" descr="image.png"/>
          <p:cNvPicPr>
            <a:picLocks noChangeAspect="1"/>
          </p:cNvPicPr>
          <p:nvPr/>
        </p:nvPicPr>
        <p:blipFill>
          <a:blip r:embed="rId4"/>
          <a:stretch>
            <a:fillRect/>
          </a:stretch>
        </p:blipFill>
        <p:spPr>
          <a:xfrm>
            <a:off x="8722281" y="3848143"/>
            <a:ext cx="543234" cy="500348"/>
          </a:xfrm>
          <a:prstGeom prst="rect">
            <a:avLst/>
          </a:prstGeom>
        </p:spPr>
      </p:pic>
      <p:sp>
        <p:nvSpPr>
          <p:cNvPr id="14" name="TextBox 12"/>
          <p:cNvSpPr txBox="1"/>
          <p:nvPr/>
        </p:nvSpPr>
        <p:spPr>
          <a:xfrm>
            <a:off x="8825401" y="3978254"/>
            <a:ext cx="274034" cy="225075"/>
          </a:xfrm>
          <a:prstGeom prst="rect">
            <a:avLst/>
          </a:prstGeom>
          <a:noFill/>
        </p:spPr>
        <p:txBody>
          <a:bodyPr wrap="none" lIns="0" tIns="0" rIns="0" bIns="0"/>
          <a:lstStyle/>
          <a:p>
            <a:pPr algn="just">
              <a:lnSpc>
                <a:spcPct val="118000"/>
              </a:lnSpc>
              <a:spcBef>
                <a:spcPts val="0"/>
              </a:spcBef>
              <a:spcAft>
                <a:spcPts val="0"/>
              </a:spcAft>
            </a:pPr>
            <a:r>
              <a:rPr sz="1500">
                <a:solidFill>
                  <a:srgbClr val="FCF5F7"/>
                </a:solidFill>
                <a:latin typeface="Microsoft YaHei" pitchFamily="34" charset="-122"/>
                <a:ea typeface="Microsoft YaHei" pitchFamily="34" charset="-122"/>
              </a:rPr>
              <a:t>三</a:t>
            </a:r>
            <a:endParaRPr sz="1500">
              <a:solidFill>
                <a:srgbClr val="FCF5F7"/>
              </a:solidFill>
              <a:latin typeface="Microsoft YaHei" pitchFamily="34" charset="-122"/>
              <a:ea typeface="Microsoft YaHei" pitchFamily="34" charset="-122"/>
            </a:endParaRPr>
          </a:p>
        </p:txBody>
      </p:sp>
      <p:sp>
        <p:nvSpPr>
          <p:cNvPr id="15" name="TextBox 13"/>
          <p:cNvSpPr txBox="1"/>
          <p:nvPr/>
        </p:nvSpPr>
        <p:spPr>
          <a:xfrm>
            <a:off x="568099" y="5186317"/>
            <a:ext cx="4461101" cy="787423"/>
          </a:xfrm>
          <a:prstGeom prst="rect">
            <a:avLst/>
          </a:prstGeom>
          <a:noFill/>
        </p:spPr>
        <p:txBody>
          <a:bodyPr wrap="none" lIns="0" tIns="0" rIns="0" bIns="0"/>
          <a:lstStyle/>
          <a:p>
            <a:r>
              <a:rPr lang="zh-CN" altLang="en-US" dirty="0">
                <a:latin typeface="Microsoft YaHei" pitchFamily="34" charset="-122"/>
                <a:ea typeface="Microsoft YaHei" pitchFamily="34" charset="-122"/>
              </a:rPr>
              <a:t>旅程主题思维</a:t>
            </a:r>
            <a:r>
              <a:rPr lang="en-GB" altLang="zh-CN" dirty="0">
                <a:latin typeface="Microsoft YaHei" pitchFamily="34" charset="-122"/>
                <a:ea typeface="Microsoft YaHei" pitchFamily="34" charset="-122"/>
              </a:rPr>
              <a:t>MVP</a:t>
            </a:r>
            <a:r>
              <a:rPr lang="zh-CN" altLang="en-US" dirty="0">
                <a:latin typeface="Microsoft YaHei" pitchFamily="34" charset="-122"/>
                <a:ea typeface="Microsoft YaHei" pitchFamily="34" charset="-122"/>
              </a:rPr>
              <a:t>验证，</a:t>
            </a:r>
            <a:endParaRPr lang="en-US" altLang="zh-CN" dirty="0">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沉淀资源位流量分层分配规则</a:t>
            </a:r>
            <a:endParaRPr lang="zh-CN" altLang="en-US" dirty="0">
              <a:latin typeface="Microsoft YaHei" pitchFamily="34" charset="-122"/>
              <a:ea typeface="Microsoft YaHei" pitchFamily="34" charset="-122"/>
            </a:endParaRPr>
          </a:p>
        </p:txBody>
      </p:sp>
      <p:grpSp>
        <p:nvGrpSpPr>
          <p:cNvPr id="32" name="组合 31"/>
          <p:cNvGrpSpPr/>
          <p:nvPr/>
        </p:nvGrpSpPr>
        <p:grpSpPr>
          <a:xfrm>
            <a:off x="7202237" y="384061"/>
            <a:ext cx="3880220" cy="2781776"/>
            <a:chOff x="7638909" y="3156082"/>
            <a:chExt cx="3880220" cy="2781776"/>
          </a:xfrm>
        </p:grpSpPr>
        <p:pic>
          <p:nvPicPr>
            <p:cNvPr id="6" name="Picture 2" descr="image.png"/>
            <p:cNvPicPr>
              <a:picLocks noChangeAspect="1"/>
            </p:cNvPicPr>
            <p:nvPr/>
          </p:nvPicPr>
          <p:blipFill>
            <a:blip r:embed="rId5"/>
            <a:stretch>
              <a:fillRect/>
            </a:stretch>
          </p:blipFill>
          <p:spPr>
            <a:xfrm>
              <a:off x="7638909" y="3156082"/>
              <a:ext cx="3880220" cy="2781776"/>
            </a:xfrm>
            <a:prstGeom prst="rect">
              <a:avLst/>
            </a:prstGeom>
          </p:spPr>
        </p:pic>
        <p:pic>
          <p:nvPicPr>
            <p:cNvPr id="9" name="Picture 5" descr="image.png"/>
            <p:cNvPicPr>
              <a:picLocks noChangeAspect="1"/>
            </p:cNvPicPr>
            <p:nvPr/>
          </p:nvPicPr>
          <p:blipFill>
            <a:blip r:embed="rId6"/>
            <a:stretch>
              <a:fillRect/>
            </a:stretch>
          </p:blipFill>
          <p:spPr>
            <a:xfrm>
              <a:off x="8344778" y="4066310"/>
              <a:ext cx="1002601" cy="988346"/>
            </a:xfrm>
            <a:prstGeom prst="rect">
              <a:avLst/>
            </a:prstGeom>
          </p:spPr>
        </p:pic>
        <p:sp>
          <p:nvSpPr>
            <p:cNvPr id="16" name="TextBox 14"/>
            <p:cNvSpPr txBox="1"/>
            <p:nvPr/>
          </p:nvSpPr>
          <p:spPr>
            <a:xfrm>
              <a:off x="8883218" y="3251237"/>
              <a:ext cx="1330547" cy="257175"/>
            </a:xfrm>
            <a:prstGeom prst="rect">
              <a:avLst/>
            </a:prstGeom>
            <a:noFill/>
          </p:spPr>
          <p:txBody>
            <a:bodyPr wrap="none" lIns="0" tIns="0" rIns="0" bIns="0"/>
            <a:lstStyle/>
            <a:p>
              <a:pPr algn="ctr">
                <a:lnSpc>
                  <a:spcPct val="123000"/>
                </a:lnSpc>
                <a:spcBef>
                  <a:spcPts val="0"/>
                </a:spcBef>
                <a:spcAft>
                  <a:spcPts val="0"/>
                </a:spcAft>
              </a:pPr>
              <a:r>
                <a:rPr lang="zh-CN" altLang="en-US" sz="1650" dirty="0">
                  <a:solidFill>
                    <a:srgbClr val="FFFFFF"/>
                  </a:solidFill>
                  <a:latin typeface="Microsoft YaHei" pitchFamily="34" charset="-122"/>
                  <a:ea typeface="Microsoft YaHei" pitchFamily="34" charset="-122"/>
                </a:rPr>
                <a:t>北极星指标</a:t>
              </a:r>
              <a:endParaRPr sz="1650" dirty="0">
                <a:solidFill>
                  <a:srgbClr val="FFFFFF"/>
                </a:solidFill>
                <a:latin typeface="Microsoft YaHei" pitchFamily="34" charset="-122"/>
                <a:ea typeface="Microsoft YaHei" pitchFamily="34" charset="-122"/>
              </a:endParaRPr>
            </a:p>
          </p:txBody>
        </p:sp>
        <p:sp>
          <p:nvSpPr>
            <p:cNvPr id="19" name="TextBox 17"/>
            <p:cNvSpPr txBox="1"/>
            <p:nvPr/>
          </p:nvSpPr>
          <p:spPr>
            <a:xfrm>
              <a:off x="8548422" y="4399559"/>
              <a:ext cx="539305" cy="257175"/>
            </a:xfrm>
            <a:prstGeom prst="rect">
              <a:avLst/>
            </a:prstGeom>
            <a:noFill/>
          </p:spPr>
          <p:txBody>
            <a:bodyPr wrap="none" lIns="0" tIns="0" rIns="0" bIns="0"/>
            <a:lstStyle/>
            <a:p>
              <a:pPr algn="ctr">
                <a:lnSpc>
                  <a:spcPct val="113000"/>
                </a:lnSpc>
                <a:spcBef>
                  <a:spcPts val="0"/>
                </a:spcBef>
                <a:spcAft>
                  <a:spcPts val="0"/>
                </a:spcAft>
              </a:pPr>
              <a:r>
                <a:rPr lang="en-US" altLang="zh-CN" dirty="0">
                  <a:solidFill>
                    <a:srgbClr val="191B20"/>
                  </a:solidFill>
                  <a:latin typeface="Microsoft YaHei" pitchFamily="34" charset="-122"/>
                  <a:ea typeface="Microsoft YaHei" pitchFamily="34" charset="-122"/>
                </a:rPr>
                <a:t>400</a:t>
              </a:r>
              <a:r>
                <a:rPr lang="en-US" altLang="zh-CN" sz="1800" dirty="0">
                  <a:solidFill>
                    <a:srgbClr val="191B20"/>
                  </a:solidFill>
                  <a:latin typeface="Microsoft YaHei" pitchFamily="34" charset="-122"/>
                  <a:ea typeface="Microsoft YaHei" pitchFamily="34" charset="-122"/>
                </a:rPr>
                <a:t>w</a:t>
              </a:r>
              <a:endParaRPr sz="1800" dirty="0">
                <a:solidFill>
                  <a:srgbClr val="191B20"/>
                </a:solidFill>
                <a:latin typeface="Microsoft YaHei" pitchFamily="34" charset="-122"/>
                <a:ea typeface="Microsoft YaHei" pitchFamily="34" charset="-122"/>
              </a:endParaRPr>
            </a:p>
          </p:txBody>
        </p:sp>
        <p:sp>
          <p:nvSpPr>
            <p:cNvPr id="23" name="TextBox 21"/>
            <p:cNvSpPr txBox="1"/>
            <p:nvPr/>
          </p:nvSpPr>
          <p:spPr>
            <a:xfrm>
              <a:off x="8372591" y="5103742"/>
              <a:ext cx="882110" cy="470820"/>
            </a:xfrm>
            <a:prstGeom prst="rect">
              <a:avLst/>
            </a:prstGeom>
            <a:noFill/>
          </p:spPr>
          <p:txBody>
            <a:bodyPr wrap="none" lIns="0" tIns="0" rIns="0" bIns="0"/>
            <a:lstStyle/>
            <a:p>
              <a:pPr algn="ctr">
                <a:spcBef>
                  <a:spcPts val="0"/>
                </a:spcBef>
                <a:spcAft>
                  <a:spcPts val="0"/>
                </a:spcAft>
              </a:pPr>
              <a:r>
                <a:rPr lang="en-US" altLang="zh-CN" sz="1535" dirty="0">
                  <a:solidFill>
                    <a:srgbClr val="191A20"/>
                  </a:solidFill>
                  <a:latin typeface="Microsoft YaHei" pitchFamily="34" charset="-122"/>
                  <a:ea typeface="Microsoft YaHei" pitchFamily="34" charset="-122"/>
                </a:rPr>
                <a:t>Q4</a:t>
              </a:r>
              <a:r>
                <a:rPr lang="zh-CN" altLang="en-US" sz="1535" dirty="0">
                  <a:solidFill>
                    <a:srgbClr val="191A20"/>
                  </a:solidFill>
                  <a:latin typeface="Microsoft YaHei" pitchFamily="34" charset="-122"/>
                  <a:ea typeface="Microsoft YaHei" pitchFamily="34" charset="-122"/>
                </a:rPr>
                <a:t>前</a:t>
              </a:r>
              <a:r>
                <a:rPr lang="en-US" altLang="zh-CN" sz="1535" dirty="0">
                  <a:solidFill>
                    <a:srgbClr val="191A20"/>
                  </a:solidFill>
                  <a:latin typeface="Microsoft YaHei" pitchFamily="34" charset="-122"/>
                  <a:ea typeface="Microsoft YaHei" pitchFamily="34" charset="-122"/>
                </a:rPr>
                <a:t>APP</a:t>
              </a:r>
              <a:r>
                <a:rPr lang="zh-CN" altLang="en-US" sz="1535" dirty="0">
                  <a:solidFill>
                    <a:srgbClr val="191A20"/>
                  </a:solidFill>
                  <a:latin typeface="Microsoft YaHei" pitchFamily="34" charset="-122"/>
                  <a:ea typeface="Microsoft YaHei" pitchFamily="34" charset="-122"/>
                </a:rPr>
                <a:t> </a:t>
              </a:r>
              <a:endParaRPr lang="en-US" altLang="zh-CN" sz="1535" dirty="0">
                <a:solidFill>
                  <a:srgbClr val="191A20"/>
                </a:solidFill>
                <a:latin typeface="Microsoft YaHei" pitchFamily="34" charset="-122"/>
                <a:ea typeface="Microsoft YaHei" pitchFamily="34" charset="-122"/>
              </a:endParaRPr>
            </a:p>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流水达</a:t>
              </a:r>
              <a:r>
                <a:rPr lang="en-US" altLang="zh-CN" sz="1535" dirty="0">
                  <a:solidFill>
                    <a:srgbClr val="191A20"/>
                  </a:solidFill>
                  <a:latin typeface="Microsoft YaHei" pitchFamily="34" charset="-122"/>
                  <a:ea typeface="Microsoft YaHei" pitchFamily="34" charset="-122"/>
                </a:rPr>
                <a:t>400w/</a:t>
              </a:r>
              <a:r>
                <a:rPr lang="zh-CN" altLang="en-US" sz="1535" dirty="0">
                  <a:solidFill>
                    <a:srgbClr val="191A20"/>
                  </a:solidFill>
                  <a:latin typeface="Microsoft YaHei" pitchFamily="34" charset="-122"/>
                  <a:ea typeface="Microsoft YaHei" pitchFamily="34" charset="-122"/>
                </a:rPr>
                <a:t>月</a:t>
              </a:r>
              <a:endParaRPr lang="en-US" altLang="zh-CN" sz="1535" dirty="0">
                <a:latin typeface="Microsoft YaHei" pitchFamily="34" charset="-122"/>
                <a:ea typeface="Microsoft YaHei" pitchFamily="34" charset="-122"/>
              </a:endParaRPr>
            </a:p>
          </p:txBody>
        </p:sp>
      </p:grpSp>
      <p:sp>
        <p:nvSpPr>
          <p:cNvPr id="27" name="文本框 26"/>
          <p:cNvSpPr txBox="1"/>
          <p:nvPr/>
        </p:nvSpPr>
        <p:spPr>
          <a:xfrm>
            <a:off x="480300" y="3978253"/>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【Q2-3】</a:t>
            </a:r>
            <a:endParaRPr kumimoji="1" lang="zh-CN" altLang="en-US" sz="2800" dirty="0">
              <a:latin typeface="Microsoft YaHei" pitchFamily="34" charset="-122"/>
              <a:ea typeface="Microsoft YaHei" pitchFamily="34" charset="-122"/>
            </a:endParaRPr>
          </a:p>
        </p:txBody>
      </p:sp>
      <p:sp>
        <p:nvSpPr>
          <p:cNvPr id="31" name="文本框 30"/>
          <p:cNvSpPr txBox="1"/>
          <p:nvPr/>
        </p:nvSpPr>
        <p:spPr>
          <a:xfrm>
            <a:off x="5933448" y="4659072"/>
            <a:ext cx="1873433" cy="523220"/>
          </a:xfrm>
          <a:prstGeom prst="rect">
            <a:avLst/>
          </a:prstGeom>
          <a:noFill/>
        </p:spPr>
        <p:txBody>
          <a:bodyPr wrap="square" rtlCol="0">
            <a:spAutoFit/>
          </a:bodyPr>
          <a:lstStyle/>
          <a:p>
            <a:r>
              <a:rPr lang="en-US" altLang="zh-CN" sz="2800" dirty="0">
                <a:solidFill>
                  <a:srgbClr val="820506"/>
                </a:solidFill>
                <a:latin typeface="Microsoft YaHei" pitchFamily="34" charset="-122"/>
                <a:ea typeface="Microsoft YaHei" pitchFamily="34" charset="-122"/>
              </a:rPr>
              <a:t>【Q4】</a:t>
            </a:r>
            <a:endParaRPr kumimoji="1" lang="zh-CN" altLang="en-US" sz="2800" dirty="0">
              <a:latin typeface="Microsoft YaHei" pitchFamily="34" charset="-122"/>
              <a:ea typeface="Microsoft YaHei" pitchFamily="34" charset="-122"/>
            </a:endParaRPr>
          </a:p>
        </p:txBody>
      </p:sp>
      <p:sp>
        <p:nvSpPr>
          <p:cNvPr id="34" name="圆角矩形 33"/>
          <p:cNvSpPr/>
          <p:nvPr/>
        </p:nvSpPr>
        <p:spPr>
          <a:xfrm>
            <a:off x="480300" y="2365876"/>
            <a:ext cx="4435185" cy="444536"/>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latin typeface="Microsoft YaHei" pitchFamily="34" charset="-122"/>
                <a:ea typeface="Microsoft YaHei" pitchFamily="34" charset="-122"/>
              </a:rPr>
              <a:t>让现有流量的</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每一次曝光</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更值钱</a:t>
            </a:r>
            <a:endParaRPr lang="zh-CN" altLang="en-US" dirty="0">
              <a:latin typeface="Microsoft YaHei" pitchFamily="34" charset="-122"/>
              <a:ea typeface="Microsoft YaHei" pitchFamily="34" charset="-122"/>
            </a:endParaRPr>
          </a:p>
        </p:txBody>
      </p:sp>
      <p:sp>
        <p:nvSpPr>
          <p:cNvPr id="45" name="TextBox 13"/>
          <p:cNvSpPr txBox="1"/>
          <p:nvPr/>
        </p:nvSpPr>
        <p:spPr>
          <a:xfrm>
            <a:off x="3538682" y="3507894"/>
            <a:ext cx="3550303" cy="568560"/>
          </a:xfrm>
          <a:prstGeom prst="rect">
            <a:avLst/>
          </a:prstGeom>
          <a:noFill/>
        </p:spPr>
        <p:txBody>
          <a:bodyPr wrap="none" lIns="0" tIns="0" rIns="0" bIns="0"/>
          <a:lstStyle/>
          <a:p>
            <a:r>
              <a:rPr lang="zh-CN" altLang="en-US" dirty="0">
                <a:latin typeface="Microsoft YaHei" pitchFamily="34" charset="-122"/>
                <a:ea typeface="Microsoft YaHei" pitchFamily="34" charset="-122"/>
              </a:rPr>
              <a:t>全品类旅程覆盖，资源位联动常态化，基于用户行为</a:t>
            </a:r>
            <a:endParaRPr lang="en-US" altLang="zh-CN" dirty="0">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推送的内容与用户阶段相匹配</a:t>
            </a:r>
            <a:endParaRPr lang="zh-CN" altLang="en-US" dirty="0">
              <a:latin typeface="Microsoft YaHei" pitchFamily="34" charset="-122"/>
              <a:ea typeface="Microsoft YaHei" pitchFamily="34" charset="-122"/>
            </a:endParaRPr>
          </a:p>
          <a:p>
            <a:endParaRPr lang="zh-CN" altLang="en-US" dirty="0">
              <a:latin typeface="Microsoft YaHei" pitchFamily="34" charset="-122"/>
              <a:ea typeface="Microsoft YaHei" pitchFamily="34" charset="-122"/>
            </a:endParaRPr>
          </a:p>
        </p:txBody>
      </p:sp>
      <p:sp>
        <p:nvSpPr>
          <p:cNvPr id="46" name="TextBox 13"/>
          <p:cNvSpPr txBox="1"/>
          <p:nvPr/>
        </p:nvSpPr>
        <p:spPr>
          <a:xfrm>
            <a:off x="6214037" y="5186395"/>
            <a:ext cx="4868420" cy="643103"/>
          </a:xfrm>
          <a:prstGeom prst="rect">
            <a:avLst/>
          </a:prstGeom>
          <a:noFill/>
        </p:spPr>
        <p:txBody>
          <a:bodyPr wrap="none" lIns="0" tIns="0" rIns="0" bIns="0"/>
          <a:lstStyle/>
          <a:p>
            <a:r>
              <a:rPr lang="en-GB" altLang="zh-CN" dirty="0">
                <a:latin typeface="Microsoft YaHei" pitchFamily="34" charset="-122"/>
                <a:ea typeface="Microsoft YaHei" pitchFamily="34" charset="-122"/>
              </a:rPr>
              <a:t>APP</a:t>
            </a:r>
            <a:r>
              <a:rPr lang="zh-CN" altLang="en-US" dirty="0">
                <a:latin typeface="Microsoft YaHei" pitchFamily="34" charset="-122"/>
                <a:ea typeface="Microsoft YaHei" pitchFamily="34" charset="-122"/>
              </a:rPr>
              <a:t>用户行为与私域标签打通，协同种草</a:t>
            </a:r>
            <a:r>
              <a:rPr lang="en-US" altLang="zh-CN" dirty="0">
                <a:latin typeface="Microsoft YaHei" pitchFamily="34" charset="-122"/>
                <a:ea typeface="Microsoft YaHei" pitchFamily="34" charset="-122"/>
              </a:rPr>
              <a:t>+</a:t>
            </a:r>
            <a:r>
              <a:rPr lang="zh-CN" altLang="en-US" dirty="0">
                <a:latin typeface="Microsoft YaHei" pitchFamily="34" charset="-122"/>
                <a:ea typeface="Microsoft YaHei" pitchFamily="34" charset="-122"/>
              </a:rPr>
              <a:t>转化</a:t>
            </a:r>
            <a:endParaRPr lang="en-US" altLang="zh-CN" dirty="0">
              <a:latin typeface="Microsoft YaHei" pitchFamily="34" charset="-122"/>
              <a:ea typeface="Microsoft YaHei" pitchFamily="34" charset="-122"/>
            </a:endParaRPr>
          </a:p>
          <a:p>
            <a:r>
              <a:rPr lang="zh-CN" altLang="en-US" dirty="0">
                <a:latin typeface="Microsoft YaHei" pitchFamily="34" charset="-122"/>
                <a:ea typeface="Microsoft YaHei" pitchFamily="34" charset="-122"/>
              </a:rPr>
              <a:t>实现跨端增量，</a:t>
            </a:r>
            <a:r>
              <a:rPr lang="en-GB" altLang="zh-CN" dirty="0">
                <a:latin typeface="Microsoft YaHei" pitchFamily="34" charset="-122"/>
                <a:ea typeface="Microsoft YaHei" pitchFamily="34" charset="-122"/>
              </a:rPr>
              <a:t>AI</a:t>
            </a:r>
            <a:r>
              <a:rPr lang="zh-CN" altLang="en-US" dirty="0">
                <a:latin typeface="Microsoft YaHei" pitchFamily="34" charset="-122"/>
                <a:ea typeface="Microsoft YaHei" pitchFamily="34" charset="-122"/>
              </a:rPr>
              <a:t>实现资源位流量自动调优</a:t>
            </a:r>
            <a:endParaRPr lang="zh-CN" altLang="en-US" dirty="0">
              <a:latin typeface="Microsoft YaHei" pitchFamily="34" charset="-122"/>
              <a:ea typeface="Microsoft YaHei" pitchFamily="34" charset="-122"/>
            </a:endParaRPr>
          </a:p>
        </p:txBody>
      </p:sp>
      <p:pic>
        <p:nvPicPr>
          <p:cNvPr id="47" name="Picture 5" descr="image.png"/>
          <p:cNvPicPr>
            <a:picLocks noChangeAspect="1"/>
          </p:cNvPicPr>
          <p:nvPr/>
        </p:nvPicPr>
        <p:blipFill>
          <a:blip r:embed="rId6"/>
          <a:stretch>
            <a:fillRect/>
          </a:stretch>
        </p:blipFill>
        <p:spPr>
          <a:xfrm>
            <a:off x="9389512" y="1267361"/>
            <a:ext cx="1002601" cy="988346"/>
          </a:xfrm>
          <a:prstGeom prst="rect">
            <a:avLst/>
          </a:prstGeom>
        </p:spPr>
      </p:pic>
      <p:sp>
        <p:nvSpPr>
          <p:cNvPr id="48" name="TextBox 17"/>
          <p:cNvSpPr txBox="1"/>
          <p:nvPr/>
        </p:nvSpPr>
        <p:spPr>
          <a:xfrm>
            <a:off x="9593156" y="1600610"/>
            <a:ext cx="539305" cy="257175"/>
          </a:xfrm>
          <a:prstGeom prst="rect">
            <a:avLst/>
          </a:prstGeom>
          <a:noFill/>
        </p:spPr>
        <p:txBody>
          <a:bodyPr wrap="none" lIns="0" tIns="0" rIns="0" bIns="0"/>
          <a:lstStyle/>
          <a:p>
            <a:pPr algn="ctr">
              <a:lnSpc>
                <a:spcPct val="113000"/>
              </a:lnSpc>
              <a:spcBef>
                <a:spcPts val="0"/>
              </a:spcBef>
              <a:spcAft>
                <a:spcPts val="0"/>
              </a:spcAft>
            </a:pPr>
            <a:r>
              <a:rPr lang="en-US" altLang="zh-CN" dirty="0">
                <a:solidFill>
                  <a:srgbClr val="191B20"/>
                </a:solidFill>
                <a:latin typeface="Microsoft YaHei" pitchFamily="34" charset="-122"/>
                <a:ea typeface="Microsoft YaHei" pitchFamily="34" charset="-122"/>
              </a:rPr>
              <a:t>100</a:t>
            </a:r>
            <a:r>
              <a:rPr lang="en-US" altLang="zh-CN" sz="1800" dirty="0">
                <a:solidFill>
                  <a:srgbClr val="191B20"/>
                </a:solidFill>
                <a:latin typeface="Microsoft YaHei" pitchFamily="34" charset="-122"/>
                <a:ea typeface="Microsoft YaHei" pitchFamily="34" charset="-122"/>
              </a:rPr>
              <a:t>w</a:t>
            </a:r>
            <a:endParaRPr sz="1800" dirty="0">
              <a:solidFill>
                <a:srgbClr val="191B20"/>
              </a:solidFill>
              <a:latin typeface="Microsoft YaHei" pitchFamily="34" charset="-122"/>
              <a:ea typeface="Microsoft YaHei" pitchFamily="34" charset="-122"/>
            </a:endParaRPr>
          </a:p>
        </p:txBody>
      </p:sp>
      <p:sp>
        <p:nvSpPr>
          <p:cNvPr id="49" name="TextBox 21"/>
          <p:cNvSpPr txBox="1"/>
          <p:nvPr/>
        </p:nvSpPr>
        <p:spPr>
          <a:xfrm>
            <a:off x="9417325" y="2304793"/>
            <a:ext cx="882110" cy="470820"/>
          </a:xfrm>
          <a:prstGeom prst="rect">
            <a:avLst/>
          </a:prstGeom>
          <a:noFill/>
        </p:spPr>
        <p:txBody>
          <a:bodyPr wrap="none" lIns="0" tIns="0" rIns="0" bIns="0"/>
          <a:lstStyle/>
          <a:p>
            <a:pPr algn="ctr">
              <a:spcBef>
                <a:spcPts val="0"/>
              </a:spcBef>
              <a:spcAft>
                <a:spcPts val="0"/>
              </a:spcAft>
            </a:pPr>
            <a:r>
              <a:rPr lang="en-US" altLang="zh-CN" sz="1535" dirty="0">
                <a:solidFill>
                  <a:srgbClr val="191A20"/>
                </a:solidFill>
                <a:latin typeface="Microsoft YaHei" pitchFamily="34" charset="-122"/>
                <a:ea typeface="Microsoft YaHei" pitchFamily="34" charset="-122"/>
              </a:rPr>
              <a:t>Q4</a:t>
            </a:r>
            <a:r>
              <a:rPr lang="zh-CN" altLang="en-US" sz="1535" dirty="0">
                <a:solidFill>
                  <a:srgbClr val="191A20"/>
                </a:solidFill>
                <a:latin typeface="Microsoft YaHei" pitchFamily="34" charset="-122"/>
                <a:ea typeface="Microsoft YaHei" pitchFamily="34" charset="-122"/>
              </a:rPr>
              <a:t>前</a:t>
            </a:r>
            <a:r>
              <a:rPr lang="en-US" altLang="zh-CN" sz="1535" dirty="0">
                <a:solidFill>
                  <a:srgbClr val="191A20"/>
                </a:solidFill>
                <a:latin typeface="Microsoft YaHei" pitchFamily="34" charset="-122"/>
                <a:ea typeface="Microsoft YaHei" pitchFamily="34" charset="-122"/>
              </a:rPr>
              <a:t>APP</a:t>
            </a:r>
            <a:endParaRPr lang="en-US" altLang="zh-CN" sz="1535" dirty="0">
              <a:solidFill>
                <a:srgbClr val="191A20"/>
              </a:solidFill>
              <a:latin typeface="Microsoft YaHei" pitchFamily="34" charset="-122"/>
              <a:ea typeface="Microsoft YaHei" pitchFamily="34" charset="-122"/>
            </a:endParaRPr>
          </a:p>
          <a:p>
            <a:pPr algn="ctr">
              <a:spcBef>
                <a:spcPts val="0"/>
              </a:spcBef>
              <a:spcAft>
                <a:spcPts val="0"/>
              </a:spcAft>
            </a:pPr>
            <a:r>
              <a:rPr lang="zh-CN" altLang="en-US" sz="1535" dirty="0">
                <a:solidFill>
                  <a:srgbClr val="191A20"/>
                </a:solidFill>
                <a:latin typeface="Microsoft YaHei" pitchFamily="34" charset="-122"/>
                <a:ea typeface="Microsoft YaHei" pitchFamily="34" charset="-122"/>
              </a:rPr>
              <a:t>月活达</a:t>
            </a:r>
            <a:r>
              <a:rPr lang="en-US" altLang="zh-CN" sz="1535" dirty="0">
                <a:solidFill>
                  <a:srgbClr val="191A20"/>
                </a:solidFill>
                <a:latin typeface="Microsoft YaHei" pitchFamily="34" charset="-122"/>
                <a:ea typeface="Microsoft YaHei" pitchFamily="34" charset="-122"/>
              </a:rPr>
              <a:t>100w</a:t>
            </a:r>
            <a:endParaRPr lang="en-US" altLang="zh-CN" sz="1535" dirty="0">
              <a:latin typeface="Microsoft YaHei" pitchFamily="34" charset="-122"/>
              <a:ea typeface="Microsoft YaHei" pitchFamily="34" charset="-122"/>
            </a:endParaRPr>
          </a:p>
        </p:txBody>
      </p:sp>
      <p:grpSp>
        <p:nvGrpSpPr>
          <p:cNvPr id="3" name="组合 2"/>
          <p:cNvGrpSpPr/>
          <p:nvPr/>
        </p:nvGrpSpPr>
        <p:grpSpPr>
          <a:xfrm>
            <a:off x="314431" y="1463896"/>
            <a:ext cx="5467543" cy="443109"/>
            <a:chOff x="6214632" y="550267"/>
            <a:chExt cx="5467543" cy="443109"/>
          </a:xfrm>
        </p:grpSpPr>
        <p:sp>
          <p:nvSpPr>
            <p:cNvPr id="8" name="圆角矩形 7"/>
            <p:cNvSpPr/>
            <p:nvPr/>
          </p:nvSpPr>
          <p:spPr>
            <a:xfrm>
              <a:off x="7232430" y="550267"/>
              <a:ext cx="2516822" cy="368108"/>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zh-CN" altLang="en-US" dirty="0">
                <a:solidFill>
                  <a:schemeClr val="bg1"/>
                </a:solidFill>
                <a:latin typeface="Microsoft YaHei" pitchFamily="34" charset="-122"/>
                <a:ea typeface="Microsoft YaHei" pitchFamily="34" charset="-122"/>
              </a:endParaRPr>
            </a:p>
          </p:txBody>
        </p:sp>
        <p:sp>
          <p:nvSpPr>
            <p:cNvPr id="10" name="TextBox 13"/>
            <p:cNvSpPr txBox="1"/>
            <p:nvPr/>
          </p:nvSpPr>
          <p:spPr>
            <a:xfrm>
              <a:off x="6214632" y="593620"/>
              <a:ext cx="5467543" cy="399756"/>
            </a:xfrm>
            <a:prstGeom prst="rect">
              <a:avLst/>
            </a:prstGeom>
            <a:noFill/>
          </p:spPr>
          <p:txBody>
            <a:bodyPr wrap="none" lIns="0" tIns="0" rIns="0" bIns="0"/>
            <a:lstStyle/>
            <a:p>
              <a:pPr algn="just">
                <a:lnSpc>
                  <a:spcPct val="113000"/>
                </a:lnSpc>
                <a:spcBef>
                  <a:spcPts val="0"/>
                </a:spcBef>
                <a:spcAft>
                  <a:spcPts val="0"/>
                </a:spcAft>
              </a:pPr>
              <a:r>
                <a:rPr lang="zh-CN" altLang="en-US" dirty="0">
                  <a:latin typeface="Microsoft YaHei" pitchFamily="34" charset="-122"/>
                  <a:ea typeface="Microsoft YaHei" pitchFamily="34" charset="-122"/>
                </a:rPr>
                <a:t>月 </a:t>
              </a:r>
              <a:r>
                <a:rPr lang="en-GB" altLang="zh-CN" dirty="0">
                  <a:latin typeface="Microsoft YaHei" pitchFamily="34" charset="-122"/>
                  <a:ea typeface="Microsoft YaHei" pitchFamily="34" charset="-122"/>
                </a:rPr>
                <a:t>GMV = </a:t>
              </a:r>
              <a:r>
                <a:rPr lang="zh-CN" altLang="en-US" dirty="0">
                  <a:solidFill>
                    <a:schemeClr val="bg1"/>
                  </a:solidFill>
                  <a:latin typeface="Microsoft YaHei" pitchFamily="34" charset="-122"/>
                  <a:ea typeface="Microsoft YaHei" pitchFamily="34" charset="-122"/>
                </a:rPr>
                <a:t>月活 </a:t>
              </a:r>
              <a:r>
                <a:rPr lang="en-GB" altLang="zh-CN" dirty="0">
                  <a:solidFill>
                    <a:schemeClr val="bg1"/>
                  </a:solidFill>
                  <a:latin typeface="Microsoft YaHei" pitchFamily="34" charset="-122"/>
                  <a:ea typeface="Microsoft YaHei" pitchFamily="34" charset="-122"/>
                </a:rPr>
                <a:t>UV × </a:t>
              </a:r>
              <a:r>
                <a:rPr lang="zh-CN" altLang="en-US" dirty="0">
                  <a:solidFill>
                    <a:schemeClr val="bg1"/>
                  </a:solidFill>
                  <a:latin typeface="Microsoft YaHei" pitchFamily="34" charset="-122"/>
                  <a:ea typeface="Microsoft YaHei" pitchFamily="34" charset="-122"/>
                </a:rPr>
                <a:t>单 </a:t>
              </a:r>
              <a:r>
                <a:rPr lang="en-GB" altLang="zh-CN" dirty="0">
                  <a:solidFill>
                    <a:schemeClr val="bg1"/>
                  </a:solidFill>
                  <a:latin typeface="Microsoft YaHei" pitchFamily="34" charset="-122"/>
                  <a:ea typeface="Microsoft YaHei" pitchFamily="34" charset="-122"/>
                </a:rPr>
                <a:t>UV </a:t>
              </a:r>
              <a:r>
                <a:rPr lang="zh-CN" altLang="en-US" dirty="0">
                  <a:solidFill>
                    <a:schemeClr val="bg1"/>
                  </a:solidFill>
                  <a:latin typeface="Microsoft YaHei" pitchFamily="34" charset="-122"/>
                  <a:ea typeface="Microsoft YaHei" pitchFamily="34" charset="-122"/>
                </a:rPr>
                <a:t>产出 </a:t>
              </a:r>
              <a:endParaRPr lang="en-US" altLang="zh-CN" dirty="0">
                <a:solidFill>
                  <a:schemeClr val="bg1"/>
                </a:solidFill>
                <a:latin typeface="Microsoft YaHei" pitchFamily="34" charset="-122"/>
                <a:ea typeface="Microsoft YaHei" pitchFamily="34" charset="-122"/>
              </a:endParaRPr>
            </a:p>
            <a:p>
              <a:pPr algn="just">
                <a:lnSpc>
                  <a:spcPct val="113000"/>
                </a:lnSpc>
                <a:spcBef>
                  <a:spcPts val="0"/>
                </a:spcBef>
                <a:spcAft>
                  <a:spcPts val="0"/>
                </a:spcAft>
              </a:pPr>
              <a:r>
                <a:rPr lang="zh-CN" altLang="en-US" dirty="0">
                  <a:latin typeface="Microsoft YaHei" pitchFamily="34" charset="-122"/>
                  <a:ea typeface="Microsoft YaHei" pitchFamily="34" charset="-122"/>
                </a:rPr>
                <a:t>              </a:t>
              </a:r>
              <a:r>
                <a:rPr lang="en-US"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新用户</a:t>
              </a:r>
              <a:r>
                <a:rPr lang="en-US" altLang="zh-CN" dirty="0" err="1">
                  <a:latin typeface="Microsoft YaHei" pitchFamily="34" charset="-122"/>
                  <a:ea typeface="Microsoft YaHei" pitchFamily="34" charset="-122"/>
                </a:rPr>
                <a:t>uv</a:t>
              </a:r>
              <a:r>
                <a:rPr lang="en-GB" altLang="zh-CN" dirty="0">
                  <a:latin typeface="Microsoft YaHei" pitchFamily="34" charset="-122"/>
                  <a:ea typeface="Microsoft YaHei" pitchFamily="34" charset="-122"/>
                </a:rPr>
                <a:t>×</a:t>
              </a:r>
              <a:r>
                <a:rPr lang="zh-CN" altLang="en-GB" dirty="0">
                  <a:latin typeface="Microsoft YaHei" pitchFamily="34" charset="-122"/>
                  <a:ea typeface="Microsoft YaHei" pitchFamily="34" charset="-122"/>
                </a:rPr>
                <a:t>老用户</a:t>
              </a:r>
              <a:r>
                <a:rPr lang="en-US" altLang="zh-CN" dirty="0" err="1">
                  <a:latin typeface="Microsoft YaHei" pitchFamily="34" charset="-122"/>
                  <a:ea typeface="Microsoft YaHei" pitchFamily="34" charset="-122"/>
                </a:rPr>
                <a:t>uv</a:t>
              </a:r>
              <a:r>
                <a:rPr lang="en-US" altLang="zh-CN" dirty="0">
                  <a:latin typeface="Microsoft YaHei" pitchFamily="34" charset="-122"/>
                  <a:ea typeface="Microsoft YaHei" pitchFamily="34" charset="-122"/>
                </a:rPr>
                <a:t>)</a:t>
              </a:r>
              <a:r>
                <a:rPr lang="en-GB" altLang="zh-CN" dirty="0">
                  <a:latin typeface="Microsoft YaHei" pitchFamily="34" charset="-122"/>
                  <a:ea typeface="Microsoft YaHei" pitchFamily="34" charset="-122"/>
                </a:rPr>
                <a:t>× (</a:t>
              </a:r>
              <a:r>
                <a:rPr lang="zh-CN" altLang="en-US" dirty="0">
                  <a:latin typeface="Microsoft YaHei" pitchFamily="34" charset="-122"/>
                  <a:ea typeface="Microsoft YaHei" pitchFamily="34" charset="-122"/>
                </a:rPr>
                <a:t>分配效率 </a:t>
              </a:r>
              <a:r>
                <a:rPr lang="en-US" altLang="zh-CN" dirty="0">
                  <a:latin typeface="Microsoft YaHei" pitchFamily="34" charset="-122"/>
                  <a:ea typeface="Microsoft YaHei" pitchFamily="34" charset="-122"/>
                </a:rPr>
                <a:t>× </a:t>
              </a:r>
              <a:r>
                <a:rPr lang="en-GB" altLang="zh-CN" dirty="0">
                  <a:latin typeface="Microsoft YaHei" pitchFamily="34" charset="-122"/>
                  <a:ea typeface="Microsoft YaHei" pitchFamily="34" charset="-122"/>
                </a:rPr>
                <a:t>CTCVR × </a:t>
              </a:r>
              <a:r>
                <a:rPr lang="zh-CN" altLang="en-US" dirty="0">
                  <a:latin typeface="Microsoft YaHei" pitchFamily="34" charset="-122"/>
                  <a:ea typeface="Microsoft YaHei" pitchFamily="34" charset="-122"/>
                </a:rPr>
                <a:t>首单转化</a:t>
              </a:r>
              <a:r>
                <a:rPr lang="en-US" altLang="zh-CN" dirty="0">
                  <a:latin typeface="Microsoft YaHei" pitchFamily="34" charset="-122"/>
                  <a:ea typeface="Microsoft YaHei" pitchFamily="34" charset="-122"/>
                </a:rPr>
                <a:t>)</a:t>
              </a:r>
              <a:endParaRPr lang="zh-CN" altLang="en-US" sz="1800" dirty="0">
                <a:solidFill>
                  <a:srgbClr val="820506"/>
                </a:solidFill>
                <a:latin typeface="Microsoft YaHei" pitchFamily="34" charset="-122"/>
                <a:ea typeface="Microsoft YaHei" pitchFamily="34" charset="-122"/>
              </a:endParaRPr>
            </a:p>
          </p:txBody>
        </p:sp>
      </p:grpSp>
    </p:spTree>
    <p:custDataLst>
      <p:tags r:id="rId7"/>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0863" y="386600"/>
            <a:ext cx="10969200" cy="705600"/>
          </a:xfrm>
          <a:prstGeom prst="rect">
            <a:avLst/>
          </a:prstGeom>
        </p:spPr>
        <p:txBody>
          <a:bodyPr vert="horz" lIns="90000" tIns="46800" rIns="90000" bIns="46800" rtlCol="0" anchor="ctr" anchorCtr="0">
            <a:norm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pPr>
              <a:lnSpc>
                <a:spcPct val="100000"/>
              </a:lnSpc>
              <a:spcBef>
                <a:spcPct val="0"/>
              </a:spcBef>
              <a:spcAft>
                <a:spcPts val="600"/>
              </a:spcAft>
            </a:pPr>
            <a:r>
              <a:rPr lang="zh-CN" altLang="en-US" sz="3200" u="none" strike="noStrike" kern="1200" cap="none" spc="300" normalizeH="0" baseline="0" dirty="0">
                <a:solidFill>
                  <a:schemeClr val="tx1"/>
                </a:solidFill>
                <a:uFillTx/>
                <a:latin typeface="Microsoft YaHei" pitchFamily="34" charset="-122"/>
                <a:ea typeface="Microsoft YaHei" pitchFamily="34" charset="-122"/>
                <a:cs typeface="+mj-cs"/>
              </a:rPr>
              <a:t>团队：用</a:t>
            </a:r>
            <a:r>
              <a:rPr lang="en-US" altLang="zh-CN" sz="3200" u="none" strike="noStrike" kern="1200" cap="none" spc="300" normalizeH="0" baseline="0" dirty="0">
                <a:solidFill>
                  <a:schemeClr val="tx1"/>
                </a:solidFill>
                <a:uFillTx/>
                <a:latin typeface="Microsoft YaHei" pitchFamily="34" charset="-122"/>
                <a:ea typeface="Microsoft YaHei" pitchFamily="34" charset="-122"/>
                <a:cs typeface="+mj-cs"/>
              </a:rPr>
              <a:t>AI</a:t>
            </a:r>
            <a:r>
              <a:rPr lang="zh-CN" altLang="en-US" sz="3200" u="none" strike="noStrike" kern="1200" cap="none" spc="300" normalizeH="0" baseline="0" dirty="0">
                <a:solidFill>
                  <a:schemeClr val="tx1"/>
                </a:solidFill>
                <a:uFillTx/>
                <a:latin typeface="Microsoft YaHei" pitchFamily="34" charset="-122"/>
                <a:ea typeface="Microsoft YaHei" pitchFamily="34" charset="-122"/>
                <a:cs typeface="+mj-cs"/>
              </a:rPr>
              <a:t>与协作放大整体产出</a:t>
            </a:r>
            <a:endParaRPr lang="zh-CN" altLang="en-US" sz="3200" u="none" strike="noStrike" kern="1200" cap="none" spc="300" normalizeH="0" baseline="0" dirty="0">
              <a:solidFill>
                <a:schemeClr val="tx1"/>
              </a:solidFill>
              <a:uFillTx/>
              <a:latin typeface="Microsoft YaHei" pitchFamily="34" charset="-122"/>
              <a:ea typeface="Microsoft YaHei" pitchFamily="34" charset="-122"/>
              <a:cs typeface="+mj-cs"/>
            </a:endParaRPr>
          </a:p>
        </p:txBody>
      </p:sp>
      <p:pic>
        <p:nvPicPr>
          <p:cNvPr id="17" name="图片 16"/>
          <p:cNvPicPr>
            <a:picLocks noChangeAspect="1"/>
          </p:cNvPicPr>
          <p:nvPr/>
        </p:nvPicPr>
        <p:blipFill>
          <a:blip r:embed="rId1"/>
          <a:srcRect l="31333" t="23294" r="30359" b="20219"/>
          <a:stretch>
            <a:fillRect/>
          </a:stretch>
        </p:blipFill>
        <p:spPr>
          <a:xfrm>
            <a:off x="3891279" y="1808480"/>
            <a:ext cx="4518249" cy="3718560"/>
          </a:xfrm>
          <a:prstGeom prst="rect">
            <a:avLst/>
          </a:prstGeom>
        </p:spPr>
      </p:pic>
      <p:sp>
        <p:nvSpPr>
          <p:cNvPr id="22" name="圆角矩形 21"/>
          <p:cNvSpPr/>
          <p:nvPr/>
        </p:nvSpPr>
        <p:spPr>
          <a:xfrm>
            <a:off x="723208" y="1330960"/>
            <a:ext cx="3168072" cy="1838726"/>
          </a:xfrm>
          <a:prstGeom prst="roundRect">
            <a:avLst>
              <a:gd name="adj" fmla="val 7331"/>
            </a:avLst>
          </a:prstGeom>
          <a:solidFill>
            <a:schemeClr val="bg1">
              <a:lumMod val="95000"/>
            </a:schemeClr>
          </a:solidFill>
          <a:ln>
            <a:noFill/>
          </a:ln>
          <a:effectLst>
            <a:outerShdw blurRad="35372" dist="56526" dir="4140000" sx="99000" sy="99000" algn="tl" rotWithShape="0">
              <a:prstClr val="black">
                <a:alpha val="1583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5" name="圆角矩形 24"/>
          <p:cNvSpPr/>
          <p:nvPr/>
        </p:nvSpPr>
        <p:spPr>
          <a:xfrm>
            <a:off x="8409528" y="1313999"/>
            <a:ext cx="3168072" cy="2049765"/>
          </a:xfrm>
          <a:prstGeom prst="roundRect">
            <a:avLst>
              <a:gd name="adj" fmla="val 7331"/>
            </a:avLst>
          </a:prstGeom>
          <a:solidFill>
            <a:schemeClr val="bg1">
              <a:lumMod val="95000"/>
            </a:schemeClr>
          </a:solidFill>
          <a:ln>
            <a:noFill/>
          </a:ln>
          <a:effectLst>
            <a:outerShdw blurRad="35372" dist="56526" dir="4140000" sx="99000" sy="99000" algn="tl" rotWithShape="0">
              <a:prstClr val="black">
                <a:alpha val="1583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8" name="圆角矩形 27"/>
          <p:cNvSpPr/>
          <p:nvPr/>
        </p:nvSpPr>
        <p:spPr>
          <a:xfrm>
            <a:off x="723208" y="4013909"/>
            <a:ext cx="3168072" cy="1709952"/>
          </a:xfrm>
          <a:prstGeom prst="roundRect">
            <a:avLst>
              <a:gd name="adj" fmla="val 7331"/>
            </a:avLst>
          </a:prstGeom>
          <a:solidFill>
            <a:schemeClr val="bg1">
              <a:lumMod val="95000"/>
            </a:schemeClr>
          </a:solidFill>
          <a:ln>
            <a:noFill/>
          </a:ln>
          <a:effectLst>
            <a:outerShdw blurRad="35372" dist="56526" dir="4140000" sx="99000" sy="99000" algn="tl" rotWithShape="0">
              <a:prstClr val="black">
                <a:alpha val="1583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9" name="圆角矩形 28"/>
          <p:cNvSpPr/>
          <p:nvPr/>
        </p:nvSpPr>
        <p:spPr>
          <a:xfrm>
            <a:off x="8409528" y="3996949"/>
            <a:ext cx="3168072" cy="1726912"/>
          </a:xfrm>
          <a:prstGeom prst="roundRect">
            <a:avLst>
              <a:gd name="adj" fmla="val 7331"/>
            </a:avLst>
          </a:prstGeom>
          <a:solidFill>
            <a:schemeClr val="bg1">
              <a:lumMod val="95000"/>
            </a:schemeClr>
          </a:solidFill>
          <a:ln>
            <a:noFill/>
          </a:ln>
          <a:effectLst>
            <a:outerShdw blurRad="35372" dist="56526" dir="4140000" sx="99000" sy="99000" algn="tl" rotWithShape="0">
              <a:prstClr val="black">
                <a:alpha val="15834"/>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30" name="文本框 29"/>
          <p:cNvSpPr txBox="1"/>
          <p:nvPr/>
        </p:nvSpPr>
        <p:spPr>
          <a:xfrm>
            <a:off x="5577526" y="2920667"/>
            <a:ext cx="1145754" cy="584775"/>
          </a:xfrm>
          <a:prstGeom prst="rect">
            <a:avLst/>
          </a:prstGeom>
          <a:noFill/>
        </p:spPr>
        <p:txBody>
          <a:bodyPr wrap="square" rtlCol="0">
            <a:spAutoFit/>
          </a:bodyPr>
          <a:lstStyle/>
          <a:p>
            <a:r>
              <a:rPr kumimoji="1" lang="zh-CN" altLang="en-US" sz="3200" dirty="0">
                <a:latin typeface="Microsoft YaHei" pitchFamily="34" charset="-122"/>
                <a:ea typeface="Microsoft YaHei" pitchFamily="34" charset="-122"/>
              </a:rPr>
              <a:t>统筹</a:t>
            </a:r>
            <a:endParaRPr kumimoji="1" lang="en-US" altLang="zh-CN" sz="3200" dirty="0">
              <a:latin typeface="Microsoft YaHei" pitchFamily="34" charset="-122"/>
              <a:ea typeface="Microsoft YaHei" pitchFamily="34" charset="-122"/>
            </a:endParaRPr>
          </a:p>
        </p:txBody>
      </p:sp>
      <p:sp>
        <p:nvSpPr>
          <p:cNvPr id="38" name="文本框 37"/>
          <p:cNvSpPr txBox="1"/>
          <p:nvPr/>
        </p:nvSpPr>
        <p:spPr>
          <a:xfrm>
            <a:off x="5658806" y="3429000"/>
            <a:ext cx="1145754" cy="923330"/>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定策略</a:t>
            </a:r>
            <a:endParaRPr kumimoji="1" lang="en-US" altLang="zh-CN" dirty="0">
              <a:latin typeface="Microsoft YaHei" pitchFamily="34" charset="-122"/>
              <a:ea typeface="Microsoft YaHei" pitchFamily="34" charset="-122"/>
            </a:endParaRPr>
          </a:p>
          <a:p>
            <a:r>
              <a:rPr kumimoji="1" lang="zh-CN" altLang="en-US" dirty="0">
                <a:latin typeface="Microsoft YaHei" pitchFamily="34" charset="-122"/>
                <a:ea typeface="Microsoft YaHei" pitchFamily="34" charset="-122"/>
              </a:rPr>
              <a:t>定节奏</a:t>
            </a:r>
            <a:endParaRPr kumimoji="1" lang="en-US" altLang="zh-CN" dirty="0">
              <a:latin typeface="Microsoft YaHei" pitchFamily="34" charset="-122"/>
              <a:ea typeface="Microsoft YaHei" pitchFamily="34" charset="-122"/>
            </a:endParaRPr>
          </a:p>
          <a:p>
            <a:r>
              <a:rPr kumimoji="1" lang="zh-CN" altLang="en-US" dirty="0">
                <a:latin typeface="Microsoft YaHei" pitchFamily="34" charset="-122"/>
                <a:ea typeface="Microsoft YaHei" pitchFamily="34" charset="-122"/>
              </a:rPr>
              <a:t>拿结果</a:t>
            </a:r>
            <a:endParaRPr kumimoji="1" lang="zh-CN" altLang="en-US" dirty="0">
              <a:latin typeface="Microsoft YaHei" pitchFamily="34" charset="-122"/>
              <a:ea typeface="Microsoft YaHei" pitchFamily="34" charset="-122"/>
            </a:endParaRPr>
          </a:p>
        </p:txBody>
      </p:sp>
      <p:sp>
        <p:nvSpPr>
          <p:cNvPr id="39" name="圆角矩形 38"/>
          <p:cNvSpPr/>
          <p:nvPr/>
        </p:nvSpPr>
        <p:spPr>
          <a:xfrm>
            <a:off x="822960" y="1442720"/>
            <a:ext cx="1456944" cy="32799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crosoft YaHei" pitchFamily="34" charset="-122"/>
                <a:ea typeface="Microsoft YaHei" pitchFamily="34" charset="-122"/>
              </a:rPr>
              <a:t>直播运营协作</a:t>
            </a:r>
            <a:endParaRPr kumimoji="1" lang="zh-CN" altLang="en-US" sz="1600" b="1" dirty="0">
              <a:latin typeface="Microsoft YaHei" pitchFamily="34" charset="-122"/>
              <a:ea typeface="Microsoft YaHei" pitchFamily="34" charset="-122"/>
            </a:endParaRPr>
          </a:p>
        </p:txBody>
      </p:sp>
      <p:sp>
        <p:nvSpPr>
          <p:cNvPr id="40" name="圆角矩形 39"/>
          <p:cNvSpPr/>
          <p:nvPr/>
        </p:nvSpPr>
        <p:spPr>
          <a:xfrm>
            <a:off x="4328160" y="1314000"/>
            <a:ext cx="3383280" cy="584775"/>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600" dirty="0">
                <a:latin typeface="Microsoft YaHei" pitchFamily="34" charset="-122"/>
                <a:ea typeface="Microsoft YaHei" pitchFamily="34" charset="-122"/>
              </a:rPr>
              <a:t>每周同步：目标进度、策略测试、推进节奏卡点</a:t>
            </a:r>
            <a:endParaRPr kumimoji="1" lang="zh-CN" altLang="en-US" sz="1600" dirty="0">
              <a:latin typeface="Microsoft YaHei" pitchFamily="34" charset="-122"/>
              <a:ea typeface="Microsoft YaHei" pitchFamily="34" charset="-122"/>
            </a:endParaRPr>
          </a:p>
        </p:txBody>
      </p:sp>
      <p:sp>
        <p:nvSpPr>
          <p:cNvPr id="41" name="圆角矩形 40"/>
          <p:cNvSpPr/>
          <p:nvPr/>
        </p:nvSpPr>
        <p:spPr>
          <a:xfrm>
            <a:off x="4413042" y="5324089"/>
            <a:ext cx="3298397" cy="60272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600" dirty="0">
                <a:latin typeface="Microsoft YaHei" pitchFamily="34" charset="-122"/>
                <a:ea typeface="Microsoft YaHei" pitchFamily="34" charset="-122"/>
              </a:rPr>
              <a:t>。</a:t>
            </a:r>
            <a:endParaRPr lang="zh-CN" altLang="en-US" sz="1600" dirty="0">
              <a:latin typeface="Microsoft YaHei" pitchFamily="34" charset="-122"/>
              <a:ea typeface="Microsoft YaHei" pitchFamily="34" charset="-122"/>
            </a:endParaRPr>
          </a:p>
          <a:p>
            <a:r>
              <a:rPr lang="zh-CN" altLang="en-US" sz="1600" dirty="0">
                <a:latin typeface="Microsoft YaHei" pitchFamily="34" charset="-122"/>
                <a:ea typeface="Microsoft YaHei" pitchFamily="34" charset="-122"/>
              </a:rPr>
              <a:t>双周复盘：阶段成果、策略归因、可复用经验同步</a:t>
            </a:r>
            <a:endParaRPr lang="zh-CN" altLang="en-US" sz="1600" dirty="0">
              <a:latin typeface="Microsoft YaHei" pitchFamily="34" charset="-122"/>
              <a:ea typeface="Microsoft YaHei" pitchFamily="34" charset="-122"/>
            </a:endParaRPr>
          </a:p>
          <a:p>
            <a:pPr algn="ctr"/>
            <a:endParaRPr kumimoji="1" lang="zh-CN" altLang="en-US" sz="1600" dirty="0">
              <a:latin typeface="Microsoft YaHei" pitchFamily="34" charset="-122"/>
              <a:ea typeface="Microsoft YaHei" pitchFamily="34" charset="-122"/>
            </a:endParaRPr>
          </a:p>
        </p:txBody>
      </p:sp>
      <p:sp>
        <p:nvSpPr>
          <p:cNvPr id="43" name="文本框 42"/>
          <p:cNvSpPr txBox="1"/>
          <p:nvPr/>
        </p:nvSpPr>
        <p:spPr>
          <a:xfrm>
            <a:off x="791465" y="1808480"/>
            <a:ext cx="2976878" cy="1323439"/>
          </a:xfrm>
          <a:prstGeom prst="rect">
            <a:avLst/>
          </a:prstGeom>
          <a:noFill/>
        </p:spPr>
        <p:txBody>
          <a:bodyPr wrap="square" rtlCol="0">
            <a:spAutoFit/>
          </a:bodyPr>
          <a:lstStyle/>
          <a:p>
            <a:r>
              <a:rPr lang="zh-CN" altLang="en-US" sz="1600" b="1" dirty="0">
                <a:latin typeface="Microsoft YaHei" pitchFamily="34" charset="-122"/>
                <a:ea typeface="Microsoft YaHei" pitchFamily="34" charset="-122"/>
              </a:rPr>
              <a:t>效率：</a:t>
            </a:r>
            <a:r>
              <a:rPr kumimoji="1" lang="zh-CN" altLang="en-US" sz="1600" dirty="0">
                <a:latin typeface="Microsoft YaHei" pitchFamily="34" charset="-122"/>
                <a:ea typeface="Microsoft YaHei" pitchFamily="34" charset="-122"/>
              </a:rPr>
              <a:t>打通</a:t>
            </a:r>
            <a:r>
              <a:rPr kumimoji="1" lang="en-US" altLang="zh-CN" sz="1600" dirty="0">
                <a:latin typeface="Microsoft YaHei" pitchFamily="34" charset="-122"/>
                <a:ea typeface="Microsoft YaHei" pitchFamily="34" charset="-122"/>
              </a:rPr>
              <a:t>MA</a:t>
            </a:r>
            <a:r>
              <a:rPr kumimoji="1" lang="zh-CN" altLang="en-US" sz="1600" dirty="0">
                <a:latin typeface="Microsoft YaHei" pitchFamily="34" charset="-122"/>
                <a:ea typeface="Microsoft YaHei" pitchFamily="34" charset="-122"/>
              </a:rPr>
              <a:t>分层触达，提升转化</a:t>
            </a:r>
            <a:r>
              <a:rPr lang="zh-CN" altLang="en-US" sz="1600" dirty="0">
                <a:latin typeface="Microsoft YaHei" pitchFamily="34" charset="-122"/>
                <a:ea typeface="Microsoft YaHei" pitchFamily="34" charset="-122"/>
              </a:rPr>
              <a:t>；</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质量：</a:t>
            </a:r>
            <a:r>
              <a:rPr lang="zh-CN" altLang="en-US" sz="1600" dirty="0">
                <a:latin typeface="Microsoft YaHei" pitchFamily="34" charset="-122"/>
                <a:ea typeface="Microsoft YaHei" pitchFamily="34" charset="-122"/>
              </a:rPr>
              <a:t>触达人群和时机更准</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释放精力：</a:t>
            </a:r>
            <a:r>
              <a:rPr lang="zh-CN" altLang="en-US" sz="1600" dirty="0">
                <a:latin typeface="Microsoft YaHei" pitchFamily="34" charset="-122"/>
                <a:ea typeface="Microsoft YaHei" pitchFamily="34" charset="-122"/>
              </a:rPr>
              <a:t>聚焦高转化直播内容创新与中价课</a:t>
            </a:r>
            <a:r>
              <a:rPr lang="en-GB" altLang="zh-CN" sz="1600" dirty="0">
                <a:latin typeface="Microsoft YaHei" pitchFamily="34" charset="-122"/>
                <a:ea typeface="Microsoft YaHei" pitchFamily="34" charset="-122"/>
              </a:rPr>
              <a:t>MVP</a:t>
            </a:r>
            <a:r>
              <a:rPr lang="zh-CN" altLang="en-US" sz="1600" dirty="0">
                <a:latin typeface="Microsoft YaHei" pitchFamily="34" charset="-122"/>
                <a:ea typeface="Microsoft YaHei" pitchFamily="34" charset="-122"/>
              </a:rPr>
              <a:t>测试</a:t>
            </a:r>
            <a:endParaRPr kumimoji="1" lang="zh-CN" altLang="en-US" sz="1600" dirty="0">
              <a:latin typeface="Microsoft YaHei" pitchFamily="34" charset="-122"/>
              <a:ea typeface="Microsoft YaHei" pitchFamily="34" charset="-122"/>
            </a:endParaRPr>
          </a:p>
        </p:txBody>
      </p:sp>
      <p:sp>
        <p:nvSpPr>
          <p:cNvPr id="44" name="圆角矩形 43"/>
          <p:cNvSpPr/>
          <p:nvPr/>
        </p:nvSpPr>
        <p:spPr>
          <a:xfrm>
            <a:off x="8536620" y="1442720"/>
            <a:ext cx="2085660" cy="35138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600" b="1" dirty="0">
                <a:latin typeface="Microsoft YaHei" pitchFamily="34" charset="-122"/>
                <a:ea typeface="Microsoft YaHei" pitchFamily="34" charset="-122"/>
              </a:rPr>
              <a:t>APP</a:t>
            </a:r>
            <a:r>
              <a:rPr kumimoji="1" lang="zh-CN" altLang="en-US" sz="1600" b="1" dirty="0">
                <a:latin typeface="Microsoft YaHei" pitchFamily="34" charset="-122"/>
                <a:ea typeface="Microsoft YaHei" pitchFamily="34" charset="-122"/>
              </a:rPr>
              <a:t>商业化运营协作</a:t>
            </a:r>
            <a:endParaRPr kumimoji="1" lang="zh-CN" altLang="en-US" sz="1600" b="1" dirty="0">
              <a:latin typeface="Microsoft YaHei" pitchFamily="34" charset="-122"/>
              <a:ea typeface="Microsoft YaHei" pitchFamily="34" charset="-122"/>
            </a:endParaRPr>
          </a:p>
        </p:txBody>
      </p:sp>
      <p:sp>
        <p:nvSpPr>
          <p:cNvPr id="50" name="文本框 49"/>
          <p:cNvSpPr txBox="1"/>
          <p:nvPr/>
        </p:nvSpPr>
        <p:spPr>
          <a:xfrm>
            <a:off x="8491913" y="1794105"/>
            <a:ext cx="2976879" cy="1631216"/>
          </a:xfrm>
          <a:prstGeom prst="rect">
            <a:avLst/>
          </a:prstGeom>
          <a:noFill/>
        </p:spPr>
        <p:txBody>
          <a:bodyPr wrap="square" rtlCol="0">
            <a:spAutoFit/>
          </a:bodyPr>
          <a:lstStyle/>
          <a:p>
            <a:r>
              <a:rPr lang="zh-CN" altLang="en-US" sz="1600" b="1" dirty="0">
                <a:latin typeface="Microsoft YaHei" pitchFamily="34" charset="-122"/>
                <a:ea typeface="Microsoft YaHei" pitchFamily="34" charset="-122"/>
              </a:rPr>
              <a:t>效率：</a:t>
            </a:r>
            <a:r>
              <a:rPr lang="zh-CN" altLang="en-US" sz="1600" dirty="0">
                <a:latin typeface="Microsoft YaHei" pitchFamily="34" charset="-122"/>
                <a:ea typeface="Microsoft YaHei" pitchFamily="34" charset="-122"/>
              </a:rPr>
              <a:t>资源位调配从人工统计变系统实时；</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质量：</a:t>
            </a:r>
            <a:r>
              <a:rPr lang="zh-CN" altLang="en-US" sz="1600" dirty="0">
                <a:latin typeface="Microsoft YaHei" pitchFamily="34" charset="-122"/>
                <a:ea typeface="Microsoft YaHei" pitchFamily="34" charset="-122"/>
              </a:rPr>
              <a:t>决策从经验驱动变数据驱动；</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释放精力：</a:t>
            </a:r>
            <a:r>
              <a:rPr lang="zh-CN" altLang="en-US" sz="1600" dirty="0">
                <a:latin typeface="Microsoft YaHei" pitchFamily="34" charset="-122"/>
                <a:ea typeface="Microsoft YaHei" pitchFamily="34" charset="-122"/>
              </a:rPr>
              <a:t>聚焦主题串联策略与全品类扩品</a:t>
            </a:r>
            <a:endParaRPr kumimoji="1" lang="zh-CN" altLang="en-US" sz="1600" dirty="0">
              <a:latin typeface="Microsoft YaHei" pitchFamily="34" charset="-122"/>
              <a:ea typeface="Microsoft YaHei" pitchFamily="34" charset="-122"/>
            </a:endParaRPr>
          </a:p>
        </p:txBody>
      </p:sp>
      <p:sp>
        <p:nvSpPr>
          <p:cNvPr id="51" name="圆角矩形 50"/>
          <p:cNvSpPr/>
          <p:nvPr/>
        </p:nvSpPr>
        <p:spPr>
          <a:xfrm>
            <a:off x="854455" y="4168954"/>
            <a:ext cx="1456944" cy="32799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crosoft YaHei" pitchFamily="34" charset="-122"/>
                <a:ea typeface="Microsoft YaHei" pitchFamily="34" charset="-122"/>
              </a:rPr>
              <a:t>内容运营协作</a:t>
            </a:r>
            <a:endParaRPr kumimoji="1" lang="zh-CN" altLang="en-US" sz="1600" b="1" dirty="0">
              <a:latin typeface="Microsoft YaHei" pitchFamily="34" charset="-122"/>
              <a:ea typeface="Microsoft YaHei" pitchFamily="34" charset="-122"/>
            </a:endParaRPr>
          </a:p>
        </p:txBody>
      </p:sp>
      <p:sp>
        <p:nvSpPr>
          <p:cNvPr id="52" name="文本框 51"/>
          <p:cNvSpPr txBox="1"/>
          <p:nvPr/>
        </p:nvSpPr>
        <p:spPr>
          <a:xfrm>
            <a:off x="822960" y="4534714"/>
            <a:ext cx="2976878" cy="1077218"/>
          </a:xfrm>
          <a:prstGeom prst="rect">
            <a:avLst/>
          </a:prstGeom>
          <a:noFill/>
        </p:spPr>
        <p:txBody>
          <a:bodyPr wrap="square" rtlCol="0">
            <a:spAutoFit/>
          </a:bodyPr>
          <a:lstStyle/>
          <a:p>
            <a:r>
              <a:rPr lang="zh-CN" altLang="en-US" sz="1600" b="1" dirty="0">
                <a:latin typeface="Microsoft YaHei" pitchFamily="34" charset="-122"/>
                <a:ea typeface="Microsoft YaHei" pitchFamily="34" charset="-122"/>
              </a:rPr>
              <a:t>效率：</a:t>
            </a:r>
            <a:r>
              <a:rPr lang="zh-CN" altLang="en-US" sz="1600" dirty="0">
                <a:latin typeface="Microsoft YaHei" pitchFamily="34" charset="-122"/>
                <a:ea typeface="Microsoft YaHei" pitchFamily="34" charset="-122"/>
              </a:rPr>
              <a:t>内容产能翻倍；</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质量：</a:t>
            </a:r>
            <a:r>
              <a:rPr lang="zh-CN" altLang="en-US" sz="1600" dirty="0">
                <a:latin typeface="Microsoft YaHei" pitchFamily="34" charset="-122"/>
                <a:ea typeface="Microsoft YaHei" pitchFamily="34" charset="-122"/>
              </a:rPr>
              <a:t>输出一致性更可控；</a:t>
            </a:r>
            <a:endParaRPr lang="en-US" altLang="zh-CN" sz="1600" dirty="0">
              <a:latin typeface="Microsoft YaHei" pitchFamily="34" charset="-122"/>
              <a:ea typeface="Microsoft YaHei" pitchFamily="34" charset="-122"/>
            </a:endParaRPr>
          </a:p>
          <a:p>
            <a:r>
              <a:rPr lang="zh-CN" altLang="en-US" sz="1600" b="1" dirty="0">
                <a:latin typeface="Microsoft YaHei" pitchFamily="34" charset="-122"/>
                <a:ea typeface="Microsoft YaHei" pitchFamily="34" charset="-122"/>
              </a:rPr>
              <a:t>释放精力：</a:t>
            </a:r>
            <a:r>
              <a:rPr lang="zh-CN" altLang="en-US" sz="1600" dirty="0">
                <a:latin typeface="Microsoft YaHei" pitchFamily="34" charset="-122"/>
                <a:ea typeface="Microsoft YaHei" pitchFamily="34" charset="-122"/>
              </a:rPr>
              <a:t>聚焦基于人设调性，跑通</a:t>
            </a:r>
            <a:r>
              <a:rPr lang="en-US" altLang="zh-CN" sz="1600" dirty="0">
                <a:latin typeface="Microsoft YaHei" pitchFamily="34" charset="-122"/>
                <a:ea typeface="Microsoft YaHei" pitchFamily="34" charset="-122"/>
              </a:rPr>
              <a:t>D30</a:t>
            </a:r>
            <a:r>
              <a:rPr lang="zh-CN" altLang="en-US" sz="1600" dirty="0">
                <a:latin typeface="Microsoft YaHei" pitchFamily="34" charset="-122"/>
                <a:ea typeface="Microsoft YaHei" pitchFamily="34" charset="-122"/>
              </a:rPr>
              <a:t>新用户旅程设计</a:t>
            </a:r>
            <a:endParaRPr lang="en-US" altLang="zh-CN" sz="1600" dirty="0">
              <a:latin typeface="Microsoft YaHei" pitchFamily="34" charset="-122"/>
              <a:ea typeface="Microsoft YaHei" pitchFamily="34" charset="-122"/>
            </a:endParaRPr>
          </a:p>
        </p:txBody>
      </p:sp>
      <p:sp>
        <p:nvSpPr>
          <p:cNvPr id="53" name="圆角矩形 52"/>
          <p:cNvSpPr/>
          <p:nvPr/>
        </p:nvSpPr>
        <p:spPr>
          <a:xfrm>
            <a:off x="8557552" y="4168954"/>
            <a:ext cx="1456944" cy="327993"/>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crosoft YaHei" pitchFamily="34" charset="-122"/>
                <a:ea typeface="Microsoft YaHei" pitchFamily="34" charset="-122"/>
              </a:rPr>
              <a:t>其他运营伙伴</a:t>
            </a:r>
            <a:endParaRPr kumimoji="1" lang="zh-CN" altLang="en-US" sz="1600" b="1" dirty="0">
              <a:latin typeface="Microsoft YaHei" pitchFamily="34" charset="-122"/>
              <a:ea typeface="Microsoft YaHei" pitchFamily="34" charset="-122"/>
            </a:endParaRPr>
          </a:p>
        </p:txBody>
      </p:sp>
      <p:sp>
        <p:nvSpPr>
          <p:cNvPr id="54" name="文本框 53"/>
          <p:cNvSpPr txBox="1"/>
          <p:nvPr/>
        </p:nvSpPr>
        <p:spPr>
          <a:xfrm>
            <a:off x="8526057" y="4534714"/>
            <a:ext cx="2976878" cy="1077218"/>
          </a:xfrm>
          <a:prstGeom prst="rect">
            <a:avLst/>
          </a:prstGeom>
          <a:noFill/>
        </p:spPr>
        <p:txBody>
          <a:bodyPr wrap="square" rtlCol="0">
            <a:spAutoFit/>
          </a:bodyPr>
          <a:lstStyle/>
          <a:p>
            <a:r>
              <a:rPr lang="en-US" altLang="zh-CN" sz="1600" dirty="0">
                <a:latin typeface="Microsoft YaHei" pitchFamily="34" charset="-122"/>
                <a:ea typeface="Microsoft YaHei" pitchFamily="34" charset="-122"/>
              </a:rPr>
              <a:t>agent</a:t>
            </a:r>
            <a:r>
              <a:rPr lang="zh-CN" altLang="en-US" sz="1600" dirty="0">
                <a:latin typeface="Microsoft YaHei" pitchFamily="34" charset="-122"/>
                <a:ea typeface="Microsoft YaHei" pitchFamily="34" charset="-122"/>
              </a:rPr>
              <a:t>全面覆盖，拓展提效场景</a:t>
            </a:r>
            <a:endParaRPr lang="en-US" altLang="zh-CN" sz="1600" dirty="0">
              <a:latin typeface="Microsoft YaHei" pitchFamily="34" charset="-122"/>
              <a:ea typeface="Microsoft YaHei" pitchFamily="34" charset="-122"/>
            </a:endParaRPr>
          </a:p>
          <a:p>
            <a:r>
              <a:rPr lang="zh-CN" altLang="en-US" sz="1600" dirty="0">
                <a:latin typeface="Microsoft YaHei" pitchFamily="34" charset="-122"/>
                <a:ea typeface="Microsoft YaHei" pitchFamily="34" charset="-122"/>
              </a:rPr>
              <a:t>从重复执行动作转为创新策略设计</a:t>
            </a:r>
            <a:endParaRPr lang="en-US" altLang="zh-CN" sz="1600" dirty="0">
              <a:latin typeface="Microsoft YaHei" pitchFamily="34" charset="-122"/>
              <a:ea typeface="Microsoft YaHei" pitchFamily="34" charset="-122"/>
            </a:endParaRPr>
          </a:p>
        </p:txBody>
      </p:sp>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97517" y="2259220"/>
            <a:ext cx="8101330" cy="1783715"/>
            <a:chOff x="2210" y="4957"/>
            <a:chExt cx="12758" cy="2809"/>
          </a:xfrm>
        </p:grpSpPr>
        <p:sp>
          <p:nvSpPr>
            <p:cNvPr id="2" name="文本框 1"/>
            <p:cNvSpPr txBox="1"/>
            <p:nvPr>
              <p:custDataLst>
                <p:tags r:id="rId1"/>
              </p:custDataLst>
            </p:nvPr>
          </p:nvSpPr>
          <p:spPr>
            <a:xfrm>
              <a:off x="2210" y="4957"/>
              <a:ext cx="3623" cy="2809"/>
            </a:xfrm>
            <a:prstGeom prst="rect">
              <a:avLst/>
            </a:prstGeom>
            <a:noFill/>
          </p:spPr>
          <p:txBody>
            <a:bodyPr wrap="square" rtlCol="0">
              <a:spAutoFit/>
            </a:bodyPr>
            <a:lstStyle/>
            <a:p>
              <a:pPr algn="just"/>
              <a:r>
                <a:rPr lang="en-US" altLang="zh-CN" sz="11000" b="1" dirty="0">
                  <a:solidFill>
                    <a:srgbClr val="F63643"/>
                  </a:solidFill>
                  <a:latin typeface="微软雅黑" charset="-122"/>
                  <a:ea typeface="微软雅黑" charset="-122"/>
                  <a:cs typeface="DIN Alternate" panose="020B0500000000000000" charset="0"/>
                </a:rPr>
                <a:t>06</a:t>
              </a:r>
              <a:endParaRPr lang="en-US" altLang="zh-CN" sz="11000" b="1" dirty="0">
                <a:solidFill>
                  <a:srgbClr val="F63643"/>
                </a:solidFill>
                <a:latin typeface="微软雅黑" charset="-122"/>
                <a:ea typeface="微软雅黑" charset="-122"/>
                <a:cs typeface="DIN Alternate" panose="020B0500000000000000" charset="0"/>
              </a:endParaRPr>
            </a:p>
          </p:txBody>
        </p:sp>
        <p:sp>
          <p:nvSpPr>
            <p:cNvPr id="3" name="椭圆 2"/>
            <p:cNvSpPr/>
            <p:nvPr>
              <p:custDataLst>
                <p:tags r:id="rId2"/>
              </p:custDataLst>
            </p:nvPr>
          </p:nvSpPr>
          <p:spPr>
            <a:xfrm>
              <a:off x="2318" y="6730"/>
              <a:ext cx="430" cy="430"/>
            </a:xfrm>
            <a:prstGeom prst="ellipse">
              <a:avLst/>
            </a:prstGeom>
            <a:solidFill>
              <a:srgbClr val="FF85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charset="-122"/>
                <a:ea typeface="微软雅黑" charset="-122"/>
              </a:endParaRPr>
            </a:p>
          </p:txBody>
        </p:sp>
        <p:sp>
          <p:nvSpPr>
            <p:cNvPr id="4" name="文本框 3"/>
            <p:cNvSpPr txBox="1"/>
            <p:nvPr>
              <p:custDataLst>
                <p:tags r:id="rId3"/>
              </p:custDataLst>
            </p:nvPr>
          </p:nvSpPr>
          <p:spPr>
            <a:xfrm>
              <a:off x="5616" y="5246"/>
              <a:ext cx="9352" cy="1452"/>
            </a:xfrm>
            <a:prstGeom prst="rect">
              <a:avLst/>
            </a:prstGeom>
            <a:noFill/>
          </p:spPr>
          <p:txBody>
            <a:bodyPr wrap="square" rtlCol="0">
              <a:spAutoFit/>
            </a:bodyPr>
            <a:lstStyle/>
            <a:p>
              <a:pPr indent="0" fontAlgn="auto"/>
              <a:r>
                <a:rPr lang="zh-CN" altLang="en-US" sz="5400" b="1" dirty="0">
                  <a:latin typeface="微软雅黑" charset="-122"/>
                  <a:ea typeface="微软雅黑" charset="-122"/>
                  <a:sym typeface="+mn-ea"/>
                </a:rPr>
                <a:t>对组织的建议</a:t>
              </a:r>
              <a:endParaRPr lang="zh-CN" altLang="en-US" sz="5400" b="1" dirty="0">
                <a:latin typeface="微软雅黑" charset="-122"/>
                <a:ea typeface="微软雅黑" charset="-122"/>
              </a:endParaRPr>
            </a:p>
          </p:txBody>
        </p:sp>
      </p:grpSp>
    </p:spTree>
    <p:custDataLst>
      <p:tags r:id="rId4"/>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19821" y="372062"/>
            <a:ext cx="9121624" cy="1119505"/>
          </a:xfrm>
          <a:prstGeom prst="rect">
            <a:avLst/>
          </a:prstGeom>
          <a:noFill/>
          <a:ln w="3175">
            <a:miter lim="400000"/>
          </a:ln>
        </p:spPr>
        <p:txBody>
          <a:bodyPr wrap="square" lIns="43564" tIns="43564" rIns="43564" bIns="43564">
            <a:spAutoFit/>
          </a:bodyPr>
          <a:lstStyle>
            <a:defPPr>
              <a:defRPr lang="zh-CN"/>
            </a:defPPr>
            <a:lvl1pPr>
              <a:lnSpc>
                <a:spcPct val="120000"/>
              </a:lnSpc>
              <a:defRPr sz="2800" b="1">
                <a:solidFill>
                  <a:schemeClr val="tx2"/>
                </a:solidFill>
                <a:latin typeface="微软雅黑" charset="-122"/>
                <a:ea typeface="微软雅黑" charset="-122"/>
                <a:cs typeface="微软雅黑" charset="-122"/>
              </a:defRPr>
            </a:lvl1pPr>
          </a:lstStyle>
          <a:p>
            <a:pPr indent="0" fontAlgn="auto"/>
            <a:r>
              <a:rPr lang="zh-CN" altLang="en-US" dirty="0">
                <a:latin typeface="Microsoft YaHei" pitchFamily="34" charset="-122"/>
                <a:ea typeface="Microsoft YaHei" pitchFamily="34" charset="-122"/>
                <a:sym typeface="+mn-ea"/>
              </a:rPr>
              <a:t>对组织的建议：</a:t>
            </a:r>
            <a:endParaRPr lang="zh-CN" altLang="en-US" dirty="0">
              <a:latin typeface="Microsoft YaHei" pitchFamily="34" charset="-122"/>
              <a:ea typeface="Microsoft YaHei" pitchFamily="34" charset="-122"/>
              <a:sym typeface="+mn-ea"/>
            </a:endParaRPr>
          </a:p>
          <a:p>
            <a:pPr indent="0" fontAlgn="auto"/>
            <a:r>
              <a:rPr lang="zh-CN" altLang="en-US" dirty="0">
                <a:latin typeface="Microsoft YaHei" pitchFamily="34" charset="-122"/>
                <a:ea typeface="Microsoft YaHei" pitchFamily="34" charset="-122"/>
                <a:sym typeface="+mn-ea"/>
              </a:rPr>
              <a:t>什么样的团队/组织 能称得上有爱和好玩？</a:t>
            </a:r>
            <a:endParaRPr lang="zh-CN" altLang="en-US" dirty="0">
              <a:latin typeface="Microsoft YaHei" pitchFamily="34" charset="-122"/>
              <a:ea typeface="Microsoft YaHei" pitchFamily="34" charset="-122"/>
            </a:endParaRPr>
          </a:p>
        </p:txBody>
      </p:sp>
      <p:sp>
        <p:nvSpPr>
          <p:cNvPr id="9" name="圆角矩形 8"/>
          <p:cNvSpPr/>
          <p:nvPr/>
        </p:nvSpPr>
        <p:spPr>
          <a:xfrm>
            <a:off x="341349" y="2258425"/>
            <a:ext cx="5494644" cy="2075592"/>
          </a:xfrm>
          <a:prstGeom prst="roundRect">
            <a:avLst>
              <a:gd name="adj" fmla="val 9683"/>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0" name="圆角矩形 9"/>
          <p:cNvSpPr/>
          <p:nvPr/>
        </p:nvSpPr>
        <p:spPr>
          <a:xfrm>
            <a:off x="6367219" y="1491567"/>
            <a:ext cx="5494644" cy="2842450"/>
          </a:xfrm>
          <a:prstGeom prst="roundRect">
            <a:avLst>
              <a:gd name="adj" fmla="val 9683"/>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2" name="圆角矩形 11"/>
          <p:cNvSpPr/>
          <p:nvPr/>
        </p:nvSpPr>
        <p:spPr>
          <a:xfrm>
            <a:off x="4238004" y="4548235"/>
            <a:ext cx="3730371" cy="1314640"/>
          </a:xfrm>
          <a:prstGeom prst="roundRect">
            <a:avLst>
              <a:gd name="adj" fmla="val 14564"/>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3" name="椭圆 12"/>
          <p:cNvSpPr/>
          <p:nvPr/>
        </p:nvSpPr>
        <p:spPr>
          <a:xfrm>
            <a:off x="7613381" y="4674941"/>
            <a:ext cx="187974" cy="187974"/>
          </a:xfrm>
          <a:prstGeom prst="ellipse">
            <a:avLst/>
          </a:prstGeom>
          <a:solidFill>
            <a:srgbClr val="FF0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4" name="圆角矩形 13"/>
          <p:cNvSpPr/>
          <p:nvPr/>
        </p:nvSpPr>
        <p:spPr>
          <a:xfrm>
            <a:off x="330136" y="4548235"/>
            <a:ext cx="3730371" cy="1314640"/>
          </a:xfrm>
          <a:prstGeom prst="roundRect">
            <a:avLst>
              <a:gd name="adj" fmla="val 14564"/>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5" name="椭圆 14"/>
          <p:cNvSpPr/>
          <p:nvPr/>
        </p:nvSpPr>
        <p:spPr>
          <a:xfrm>
            <a:off x="3705513" y="4674941"/>
            <a:ext cx="187974" cy="187974"/>
          </a:xfrm>
          <a:prstGeom prst="ellipse">
            <a:avLst/>
          </a:prstGeom>
          <a:solidFill>
            <a:srgbClr val="FF0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6" name="圆角矩形 15"/>
          <p:cNvSpPr/>
          <p:nvPr/>
        </p:nvSpPr>
        <p:spPr>
          <a:xfrm>
            <a:off x="8131492" y="4548235"/>
            <a:ext cx="3730371" cy="1314640"/>
          </a:xfrm>
          <a:prstGeom prst="roundRect">
            <a:avLst>
              <a:gd name="adj" fmla="val 14564"/>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7" name="椭圆 16"/>
          <p:cNvSpPr/>
          <p:nvPr/>
        </p:nvSpPr>
        <p:spPr>
          <a:xfrm>
            <a:off x="11506869" y="4674941"/>
            <a:ext cx="187974" cy="187974"/>
          </a:xfrm>
          <a:prstGeom prst="ellipse">
            <a:avLst/>
          </a:prstGeom>
          <a:solidFill>
            <a:srgbClr val="FF0000"/>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19" name="文本框 18"/>
          <p:cNvSpPr txBox="1"/>
          <p:nvPr/>
        </p:nvSpPr>
        <p:spPr>
          <a:xfrm>
            <a:off x="667656" y="2510971"/>
            <a:ext cx="4209143" cy="461665"/>
          </a:xfrm>
          <a:prstGeom prst="rect">
            <a:avLst/>
          </a:prstGeom>
          <a:noFill/>
        </p:spPr>
        <p:txBody>
          <a:bodyPr wrap="square" rtlCol="0">
            <a:spAutoFit/>
          </a:bodyPr>
          <a:lstStyle/>
          <a:p>
            <a:r>
              <a:rPr kumimoji="1" lang="zh-CN" altLang="en-US" sz="2400" b="1" dirty="0">
                <a:latin typeface="Microsoft YaHei" pitchFamily="34" charset="-122"/>
                <a:ea typeface="Microsoft YaHei" pitchFamily="34" charset="-122"/>
              </a:rPr>
              <a:t>有爱</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低权力距离</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高信任度</a:t>
            </a:r>
            <a:endParaRPr kumimoji="1" lang="zh-CN" altLang="en-US" sz="2400" b="1" dirty="0">
              <a:latin typeface="Microsoft YaHei" pitchFamily="34" charset="-122"/>
              <a:ea typeface="Microsoft YaHei" pitchFamily="34" charset="-122"/>
            </a:endParaRPr>
          </a:p>
        </p:txBody>
      </p:sp>
      <p:sp>
        <p:nvSpPr>
          <p:cNvPr id="21" name="椭圆 20"/>
          <p:cNvSpPr/>
          <p:nvPr/>
        </p:nvSpPr>
        <p:spPr>
          <a:xfrm>
            <a:off x="734292" y="3175735"/>
            <a:ext cx="123464" cy="12346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4" name="文本框 23"/>
          <p:cNvSpPr txBox="1"/>
          <p:nvPr/>
        </p:nvSpPr>
        <p:spPr>
          <a:xfrm>
            <a:off x="925935" y="3052801"/>
            <a:ext cx="3392850" cy="369332"/>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允许试错，从失败中学习</a:t>
            </a:r>
            <a:endParaRPr kumimoji="1" lang="zh-CN" altLang="en-US" dirty="0">
              <a:latin typeface="Microsoft YaHei" pitchFamily="34" charset="-122"/>
              <a:ea typeface="Microsoft YaHei" pitchFamily="34" charset="-122"/>
            </a:endParaRPr>
          </a:p>
        </p:txBody>
      </p:sp>
      <p:sp>
        <p:nvSpPr>
          <p:cNvPr id="25" name="文本框 24"/>
          <p:cNvSpPr txBox="1"/>
          <p:nvPr/>
        </p:nvSpPr>
        <p:spPr>
          <a:xfrm>
            <a:off x="667656" y="3593554"/>
            <a:ext cx="4477367" cy="369332"/>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&gt;  </a:t>
            </a:r>
            <a:r>
              <a:rPr kumimoji="1" lang="zh-CN" altLang="en-US" dirty="0">
                <a:latin typeface="Microsoft YaHei" pitchFamily="34" charset="-122"/>
                <a:ea typeface="Microsoft YaHei" pitchFamily="34" charset="-122"/>
              </a:rPr>
              <a:t>目标对齐，流程对齐，提升时间与效率</a:t>
            </a:r>
            <a:endParaRPr kumimoji="1" lang="zh-CN" altLang="en-US" dirty="0">
              <a:latin typeface="Microsoft YaHei" pitchFamily="34" charset="-122"/>
              <a:ea typeface="Microsoft YaHei" pitchFamily="34" charset="-122"/>
            </a:endParaRPr>
          </a:p>
        </p:txBody>
      </p:sp>
      <p:sp>
        <p:nvSpPr>
          <p:cNvPr id="26" name="文本框 25"/>
          <p:cNvSpPr txBox="1"/>
          <p:nvPr/>
        </p:nvSpPr>
        <p:spPr>
          <a:xfrm>
            <a:off x="6730999" y="1796760"/>
            <a:ext cx="4775870" cy="461665"/>
          </a:xfrm>
          <a:prstGeom prst="rect">
            <a:avLst/>
          </a:prstGeom>
          <a:noFill/>
        </p:spPr>
        <p:txBody>
          <a:bodyPr wrap="square" rtlCol="0">
            <a:spAutoFit/>
          </a:bodyPr>
          <a:lstStyle/>
          <a:p>
            <a:r>
              <a:rPr kumimoji="1" lang="zh-CN" altLang="en-US" sz="2400" b="1" dirty="0">
                <a:latin typeface="Microsoft YaHei" pitchFamily="34" charset="-122"/>
                <a:ea typeface="Microsoft YaHei" pitchFamily="34" charset="-122"/>
              </a:rPr>
              <a:t>好玩</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有创造空间</a:t>
            </a:r>
            <a:r>
              <a:rPr kumimoji="1" lang="en-US" altLang="zh-CN" sz="2400" b="1" dirty="0">
                <a:latin typeface="Microsoft YaHei" pitchFamily="34" charset="-122"/>
                <a:ea typeface="Microsoft YaHei" pitchFamily="34" charset="-122"/>
              </a:rPr>
              <a:t>+</a:t>
            </a:r>
            <a:r>
              <a:rPr kumimoji="1" lang="zh-CN" altLang="en-US" sz="2400" b="1" dirty="0">
                <a:latin typeface="Microsoft YaHei" pitchFamily="34" charset="-122"/>
                <a:ea typeface="Microsoft YaHei" pitchFamily="34" charset="-122"/>
              </a:rPr>
              <a:t>有成就感反馈</a:t>
            </a:r>
            <a:endParaRPr kumimoji="1" lang="zh-CN" altLang="en-US" sz="2400" b="1" dirty="0">
              <a:latin typeface="Microsoft YaHei" pitchFamily="34" charset="-122"/>
              <a:ea typeface="Microsoft YaHei" pitchFamily="34" charset="-122"/>
            </a:endParaRPr>
          </a:p>
        </p:txBody>
      </p:sp>
      <p:sp>
        <p:nvSpPr>
          <p:cNvPr id="27" name="椭圆 26"/>
          <p:cNvSpPr/>
          <p:nvPr/>
        </p:nvSpPr>
        <p:spPr>
          <a:xfrm>
            <a:off x="6784712" y="2629230"/>
            <a:ext cx="123464" cy="12346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icrosoft YaHei" pitchFamily="34" charset="-122"/>
              <a:ea typeface="Microsoft YaHei" pitchFamily="34" charset="-122"/>
            </a:endParaRPr>
          </a:p>
        </p:txBody>
      </p:sp>
      <p:sp>
        <p:nvSpPr>
          <p:cNvPr id="28" name="文本框 27"/>
          <p:cNvSpPr txBox="1"/>
          <p:nvPr/>
        </p:nvSpPr>
        <p:spPr>
          <a:xfrm>
            <a:off x="6976355" y="2506296"/>
            <a:ext cx="4289710" cy="646331"/>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不只是执行，大胆发散，有兜底</a:t>
            </a:r>
            <a:endParaRPr kumimoji="1" lang="en-US" altLang="zh-CN" dirty="0">
              <a:latin typeface="Microsoft YaHei" pitchFamily="34" charset="-122"/>
              <a:ea typeface="Microsoft YaHei" pitchFamily="34" charset="-122"/>
            </a:endParaRPr>
          </a:p>
          <a:p>
            <a:r>
              <a:rPr kumimoji="1" lang="zh-CN" altLang="en-US" dirty="0">
                <a:latin typeface="Microsoft YaHei" pitchFamily="34" charset="-122"/>
                <a:ea typeface="Microsoft YaHei" pitchFamily="34" charset="-122"/>
              </a:rPr>
              <a:t>有空间定义“我们想解决什么问题”</a:t>
            </a:r>
            <a:endParaRPr kumimoji="1" lang="zh-CN" altLang="en-US" dirty="0">
              <a:latin typeface="Microsoft YaHei" pitchFamily="34" charset="-122"/>
              <a:ea typeface="Microsoft YaHei" pitchFamily="34" charset="-122"/>
            </a:endParaRPr>
          </a:p>
        </p:txBody>
      </p:sp>
      <p:sp>
        <p:nvSpPr>
          <p:cNvPr id="29" name="文本框 28"/>
          <p:cNvSpPr txBox="1"/>
          <p:nvPr/>
        </p:nvSpPr>
        <p:spPr>
          <a:xfrm>
            <a:off x="6718076" y="3531305"/>
            <a:ext cx="4477367" cy="369332"/>
          </a:xfrm>
          <a:prstGeom prst="rect">
            <a:avLst/>
          </a:prstGeom>
          <a:noFill/>
        </p:spPr>
        <p:txBody>
          <a:bodyPr wrap="square" rtlCol="0">
            <a:spAutoFit/>
          </a:bodyPr>
          <a:lstStyle/>
          <a:p>
            <a:r>
              <a:rPr kumimoji="1" lang="en-US" altLang="zh-CN" dirty="0">
                <a:latin typeface="Microsoft YaHei" pitchFamily="34" charset="-122"/>
                <a:ea typeface="Microsoft YaHei" pitchFamily="34" charset="-122"/>
              </a:rPr>
              <a:t>&gt;  </a:t>
            </a:r>
            <a:r>
              <a:rPr kumimoji="1" lang="zh-CN" altLang="en-US" dirty="0">
                <a:latin typeface="Microsoft YaHei" pitchFamily="34" charset="-122"/>
                <a:ea typeface="Microsoft YaHei" pitchFamily="34" charset="-122"/>
              </a:rPr>
              <a:t>成果可以被看见、被认可</a:t>
            </a:r>
            <a:endParaRPr kumimoji="1" lang="zh-CN" altLang="en-US" dirty="0">
              <a:latin typeface="Microsoft YaHei" pitchFamily="34" charset="-122"/>
              <a:ea typeface="Microsoft YaHei" pitchFamily="34" charset="-122"/>
            </a:endParaRPr>
          </a:p>
        </p:txBody>
      </p:sp>
      <p:sp>
        <p:nvSpPr>
          <p:cNvPr id="30" name="文本框 29"/>
          <p:cNvSpPr txBox="1"/>
          <p:nvPr/>
        </p:nvSpPr>
        <p:spPr>
          <a:xfrm>
            <a:off x="605764" y="4709692"/>
            <a:ext cx="4209143" cy="461665"/>
          </a:xfrm>
          <a:prstGeom prst="rect">
            <a:avLst/>
          </a:prstGeom>
          <a:noFill/>
        </p:spPr>
        <p:txBody>
          <a:bodyPr wrap="square" rtlCol="0">
            <a:spAutoFit/>
          </a:bodyPr>
          <a:lstStyle/>
          <a:p>
            <a:r>
              <a:rPr kumimoji="1" lang="zh-CN" altLang="en-US" sz="2400" b="1" dirty="0">
                <a:latin typeface="Microsoft YaHei" pitchFamily="34" charset="-122"/>
                <a:ea typeface="Microsoft YaHei" pitchFamily="34" charset="-122"/>
              </a:rPr>
              <a:t>设立“月度创新奖”</a:t>
            </a:r>
            <a:endParaRPr kumimoji="1" lang="zh-CN" altLang="en-US" sz="2400" b="1" dirty="0">
              <a:latin typeface="Microsoft YaHei" pitchFamily="34" charset="-122"/>
              <a:ea typeface="Microsoft YaHei" pitchFamily="34" charset="-122"/>
            </a:endParaRPr>
          </a:p>
        </p:txBody>
      </p:sp>
      <p:sp>
        <p:nvSpPr>
          <p:cNvPr id="31" name="文本框 30"/>
          <p:cNvSpPr txBox="1"/>
          <p:nvPr/>
        </p:nvSpPr>
        <p:spPr>
          <a:xfrm>
            <a:off x="605766" y="5267540"/>
            <a:ext cx="3392850" cy="369332"/>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鼓励用</a:t>
            </a:r>
            <a:r>
              <a:rPr kumimoji="1" lang="en-US" altLang="zh-CN" dirty="0">
                <a:latin typeface="Microsoft YaHei" pitchFamily="34" charset="-122"/>
                <a:ea typeface="Microsoft YaHei" pitchFamily="34" charset="-122"/>
              </a:rPr>
              <a:t>AI/</a:t>
            </a:r>
            <a:r>
              <a:rPr kumimoji="1" lang="zh-CN" altLang="en-US" dirty="0">
                <a:latin typeface="Microsoft YaHei" pitchFamily="34" charset="-122"/>
                <a:ea typeface="Microsoft YaHei" pitchFamily="34" charset="-122"/>
              </a:rPr>
              <a:t>新方法提效的案例</a:t>
            </a:r>
            <a:endParaRPr kumimoji="1" lang="zh-CN" altLang="en-US" dirty="0">
              <a:latin typeface="Microsoft YaHei" pitchFamily="34" charset="-122"/>
              <a:ea typeface="Microsoft YaHei" pitchFamily="34" charset="-122"/>
            </a:endParaRPr>
          </a:p>
        </p:txBody>
      </p:sp>
      <p:sp>
        <p:nvSpPr>
          <p:cNvPr id="32" name="文本框 31"/>
          <p:cNvSpPr txBox="1"/>
          <p:nvPr/>
        </p:nvSpPr>
        <p:spPr>
          <a:xfrm>
            <a:off x="4391814" y="4704822"/>
            <a:ext cx="4209143" cy="461665"/>
          </a:xfrm>
          <a:prstGeom prst="rect">
            <a:avLst/>
          </a:prstGeom>
          <a:noFill/>
        </p:spPr>
        <p:txBody>
          <a:bodyPr wrap="square" rtlCol="0">
            <a:spAutoFit/>
          </a:bodyPr>
          <a:lstStyle/>
          <a:p>
            <a:r>
              <a:rPr kumimoji="1" lang="zh-CN" altLang="en-US" sz="2400" b="1" dirty="0">
                <a:latin typeface="Microsoft YaHei" pitchFamily="34" charset="-122"/>
                <a:ea typeface="Microsoft YaHei" pitchFamily="34" charset="-122"/>
              </a:rPr>
              <a:t>设立“吐槽大会”</a:t>
            </a:r>
            <a:endParaRPr kumimoji="1" lang="zh-CN" altLang="en-US" sz="2400" b="1" dirty="0">
              <a:latin typeface="Microsoft YaHei" pitchFamily="34" charset="-122"/>
              <a:ea typeface="Microsoft YaHei" pitchFamily="34" charset="-122"/>
            </a:endParaRPr>
          </a:p>
        </p:txBody>
      </p:sp>
      <p:sp>
        <p:nvSpPr>
          <p:cNvPr id="33" name="文本框 32"/>
          <p:cNvSpPr txBox="1"/>
          <p:nvPr/>
        </p:nvSpPr>
        <p:spPr>
          <a:xfrm>
            <a:off x="4391816" y="5262670"/>
            <a:ext cx="3392850" cy="369332"/>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跨部门协作吐槽复盘</a:t>
            </a:r>
            <a:endParaRPr kumimoji="1" lang="zh-CN" altLang="en-US" dirty="0">
              <a:latin typeface="Microsoft YaHei" pitchFamily="34" charset="-122"/>
              <a:ea typeface="Microsoft YaHei" pitchFamily="34" charset="-122"/>
            </a:endParaRPr>
          </a:p>
        </p:txBody>
      </p:sp>
      <p:sp>
        <p:nvSpPr>
          <p:cNvPr id="34" name="文本框 33"/>
          <p:cNvSpPr txBox="1"/>
          <p:nvPr/>
        </p:nvSpPr>
        <p:spPr>
          <a:xfrm>
            <a:off x="8301991" y="4704863"/>
            <a:ext cx="4209143" cy="461665"/>
          </a:xfrm>
          <a:prstGeom prst="rect">
            <a:avLst/>
          </a:prstGeom>
          <a:noFill/>
        </p:spPr>
        <p:txBody>
          <a:bodyPr wrap="square" rtlCol="0">
            <a:spAutoFit/>
          </a:bodyPr>
          <a:lstStyle/>
          <a:p>
            <a:r>
              <a:rPr kumimoji="1" lang="zh-CN" altLang="en-US" sz="2400" b="1" dirty="0">
                <a:latin typeface="Microsoft YaHei" pitchFamily="34" charset="-122"/>
                <a:ea typeface="Microsoft YaHei" pitchFamily="34" charset="-122"/>
              </a:rPr>
              <a:t>工具赋能</a:t>
            </a:r>
            <a:endParaRPr kumimoji="1" lang="zh-CN" altLang="en-US" sz="2400" b="1" dirty="0">
              <a:latin typeface="Microsoft YaHei" pitchFamily="34" charset="-122"/>
              <a:ea typeface="Microsoft YaHei" pitchFamily="34" charset="-122"/>
            </a:endParaRPr>
          </a:p>
        </p:txBody>
      </p:sp>
      <p:sp>
        <p:nvSpPr>
          <p:cNvPr id="35" name="文本框 34"/>
          <p:cNvSpPr txBox="1"/>
          <p:nvPr/>
        </p:nvSpPr>
        <p:spPr>
          <a:xfrm>
            <a:off x="8301993" y="5199475"/>
            <a:ext cx="3392850" cy="646331"/>
          </a:xfrm>
          <a:prstGeom prst="rect">
            <a:avLst/>
          </a:prstGeom>
          <a:noFill/>
        </p:spPr>
        <p:txBody>
          <a:bodyPr wrap="square" rtlCol="0">
            <a:spAutoFit/>
          </a:bodyPr>
          <a:lstStyle/>
          <a:p>
            <a:r>
              <a:rPr kumimoji="1" lang="zh-CN" altLang="en-US" dirty="0">
                <a:latin typeface="Microsoft YaHei" pitchFamily="34" charset="-122"/>
                <a:ea typeface="Microsoft YaHei" pitchFamily="34" charset="-122"/>
              </a:rPr>
              <a:t>运营</a:t>
            </a:r>
            <a:r>
              <a:rPr kumimoji="1" lang="en-US" altLang="zh-CN" dirty="0">
                <a:latin typeface="Microsoft YaHei" pitchFamily="34" charset="-122"/>
                <a:ea typeface="Microsoft YaHei" pitchFamily="34" charset="-122"/>
              </a:rPr>
              <a:t>AI</a:t>
            </a:r>
            <a:r>
              <a:rPr kumimoji="1" lang="zh-CN" altLang="en-US" dirty="0">
                <a:latin typeface="Microsoft YaHei" pitchFamily="34" charset="-122"/>
                <a:ea typeface="Microsoft YaHei" pitchFamily="34" charset="-122"/>
              </a:rPr>
              <a:t>培训，每个人都能打造提效系统</a:t>
            </a:r>
            <a:endParaRPr kumimoji="1" lang="zh-CN" altLang="en-US" dirty="0">
              <a:latin typeface="Microsoft YaHei" pitchFamily="34" charset="-122"/>
              <a:ea typeface="Microsoft YaHei" pitchFamily="34" charset="-122"/>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688546" y="1572777"/>
            <a:ext cx="5145206" cy="707886"/>
          </a:xfrm>
          <a:prstGeom prst="rect">
            <a:avLst/>
          </a:prstGeom>
          <a:noFill/>
        </p:spPr>
        <p:txBody>
          <a:bodyPr wrap="square" rtlCol="0">
            <a:spAutoFit/>
          </a:bodyPr>
          <a:lstStyle/>
          <a:p>
            <a:r>
              <a:rPr kumimoji="1" lang="zh-CN" altLang="en-US" sz="4000" dirty="0"/>
              <a:t>坚持做难而正确的事</a:t>
            </a:r>
            <a:endParaRPr kumimoji="1" lang="zh-CN" altLang="en-US" sz="4000" dirty="0"/>
          </a:p>
        </p:txBody>
      </p:sp>
      <p:sp>
        <p:nvSpPr>
          <p:cNvPr id="4" name="文本框 3"/>
          <p:cNvSpPr txBox="1"/>
          <p:nvPr>
            <p:custDataLst>
              <p:tags r:id="rId1"/>
            </p:custDataLst>
          </p:nvPr>
        </p:nvSpPr>
        <p:spPr>
          <a:xfrm>
            <a:off x="3857879" y="3357563"/>
            <a:ext cx="8334121" cy="1445260"/>
          </a:xfrm>
          <a:prstGeom prst="rect">
            <a:avLst/>
          </a:prstGeom>
          <a:noFill/>
        </p:spPr>
        <p:txBody>
          <a:bodyPr wrap="square" rtlCol="0">
            <a:spAutoFit/>
          </a:bodyPr>
          <a:lstStyle/>
          <a:p>
            <a:r>
              <a:rPr lang="zh-CN" altLang="en-US" sz="8800" dirty="0">
                <a:latin typeface="微软雅黑" charset="-122"/>
                <a:ea typeface="微软雅黑" charset="-122"/>
              </a:rPr>
              <a:t>感谢聆听</a:t>
            </a:r>
            <a:endParaRPr lang="zh-CN" altLang="en-US" sz="8800" dirty="0">
              <a:latin typeface="微软雅黑" charset="-122"/>
              <a:ea typeface="微软雅黑"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99.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p="http://schemas.openxmlformats.org/presentationml/2006/main">
  <p:tag name="ADJUSTMENTS" val="10.13232"/>
</p:tagLst>
</file>

<file path=ppt/tags/tag101.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6.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09.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1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19.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1.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2.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PP_MARK_KEY" val="ff49571c-845d-4a4a-8fd0-549224250735"/>
  <p:tag name="COMMONDATA" val="eyJoZGlkIjoiNzk4MThhYzlmNDA0OWE3YjQxYzNkMzcxNjMzOWRlNGIifQ=="/>
</p:tagLst>
</file>

<file path=ppt/theme/theme1.xml><?xml version="1.0" encoding="utf-8"?>
<a:theme xmlns:a="http://schemas.openxmlformats.org/drawingml/2006/main" name="主题2">
  <a:themeElements>
    <a:clrScheme name="自定义 6">
      <a:dk1>
        <a:srgbClr val="511D12"/>
      </a:dk1>
      <a:lt1>
        <a:srgbClr val="FFFFFF"/>
      </a:lt1>
      <a:dk2>
        <a:srgbClr val="0F1423"/>
      </a:dk2>
      <a:lt2>
        <a:srgbClr val="FFFFFF"/>
      </a:lt2>
      <a:accent1>
        <a:srgbClr val="EC542B"/>
      </a:accent1>
      <a:accent2>
        <a:srgbClr val="EC4335"/>
      </a:accent2>
      <a:accent3>
        <a:srgbClr val="EC6157"/>
      </a:accent3>
      <a:accent4>
        <a:srgbClr val="F47848"/>
      </a:accent4>
      <a:accent5>
        <a:srgbClr val="F98B53"/>
      </a:accent5>
      <a:accent6>
        <a:srgbClr val="F96717"/>
      </a:accent6>
      <a:hlink>
        <a:srgbClr val="0563C1"/>
      </a:hlink>
      <a:folHlink>
        <a:srgbClr val="954D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主题2</Template>
  <TotalTime>0</TotalTime>
  <Words>5944</Words>
  <Application>WPS 演示</Application>
  <PresentationFormat>宽屏</PresentationFormat>
  <Paragraphs>993</Paragraphs>
  <Slides>32</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32</vt:i4>
      </vt:variant>
    </vt:vector>
  </HeadingPairs>
  <TitlesOfParts>
    <vt:vector size="57" baseType="lpstr">
      <vt:lpstr>Arial</vt:lpstr>
      <vt:lpstr>宋体</vt:lpstr>
      <vt:lpstr>Wingdings</vt:lpstr>
      <vt:lpstr>Wingdings</vt:lpstr>
      <vt:lpstr>微软雅黑</vt:lpstr>
      <vt:lpstr>DIN Alternate</vt:lpstr>
      <vt:lpstr>Microsoft YaHei</vt:lpstr>
      <vt:lpstr>黑体</vt:lpstr>
      <vt:lpstr>汉仪中黑KW</vt:lpstr>
      <vt:lpstr>Arial</vt:lpstr>
      <vt:lpstr>宋体</vt:lpstr>
      <vt:lpstr>Times New Roman</vt:lpstr>
      <vt:lpstr>SimHei</vt:lpstr>
      <vt:lpstr>宋体</vt:lpstr>
      <vt:lpstr>汉仪书宋二KW</vt:lpstr>
      <vt:lpstr>Arial Unicode MS</vt:lpstr>
      <vt:lpstr>Arial Black</vt:lpstr>
      <vt:lpstr>Calibri</vt:lpstr>
      <vt:lpstr>Helvetica Neue</vt:lpstr>
      <vt:lpstr>Microsoft YaHei</vt:lpstr>
      <vt:lpstr>SimHei</vt:lpstr>
      <vt:lpstr>Times New Roman</vt:lpstr>
      <vt:lpstr>微软雅黑</vt:lpstr>
      <vt:lpstr>黑体</vt:lpstr>
      <vt:lpstr>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WPS_1775905712</cp:lastModifiedBy>
  <cp:revision>310</cp:revision>
  <dcterms:created xsi:type="dcterms:W3CDTF">2026-05-13T05:19:32Z</dcterms:created>
  <dcterms:modified xsi:type="dcterms:W3CDTF">2026-05-13T05:19:32Z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67527E7757A75702E409046AAE1BF49D_43</vt:lpwstr>
  </property>
</Properties>
</file>